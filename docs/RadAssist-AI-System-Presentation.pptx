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title. One-line pitch: RadAssist AI takes a research chest X-ray model (CURV) out of the lab and wraps it in a complete, role-based hospital web system — the AI writes the first draft, and a radiologist always reviews and signs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structure: problem, solution, workflow, AI, clinical modules, admin/data/security, testing, then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statement names three bottlenecks. Emphasise that this is an information-systems project: we do not retrain CURV — we make it usable, safe and auditable in a real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1–4 come from the project statement and supervisor briefing. Objective 5 (clinical context) was added during development so the imaging workflow sits inside a realistic inpatient CMS.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role in one sentence. Stress the control principle — it drives every design decision: role checks on the server, locking after endorse, clean reports for doctors.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a request: the browser calls the Express API through the Vite proxy. Express owns authentication, roles, persistence and the audit log. Images live in GridFS inside Cosmos DB. When a film is saved, Express calls the FastAPI middleware, which talks to the CURV model served by mlx_vlm on the Mac. Azure OpenAI is optional and only assists.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statement suggested React or Vue as examples; a lightweight vanilla SPA met the same interaction goals with less overhead. CURV runs locally on Apple Silicon via mlx_vlm, which avoids GPU cloud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happy path you will demonstrate live. Point out the automatic draft, the mandatory human sign-off, and that Azure has two touch points: boxes after the draft and chart findings after endorsement.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that permissions are enforced by the API: for example a technician calling the case endpoint gets the film and report stripped. The UI hiding is only convenience.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radiologist's home screen. Mention the queue counts, urgency sorting, and that the list polls while a draft is generating.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 calls POST /api/cases/request and creates a case with status requested and no film. The technician only sees requested rows — patient, who asked, when. Saving the film attaches it to the request and queues CURV.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clinical screen and matches the supervisor's briefing slide: film on the left, grounded findings and report on the right. Demonstrate moving a box and editing a sentence, then show the draft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split crystal clear: the clinical text is CURV's alone, as trained, with no extra prompt engineering. Azure is an optional helper for localisation and summarisation, and its output is validated before it is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key examiner question: how do you make sure AI does not silently become the decision-maker? Provenance, merge rules, honest confidence, locking, clean output and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in as the doctor during the demo to show the same case without any draft provenance. Download the PDF to show the signature and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imaging workflow sits inside a CMS-style inpatient chart. Point out the urgent tag, the health-metrics banner and the header buttons for Sepsis monitor and Care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feature closes the loop back to the ward: once the radiologist signs, ward staff see concise structured findings on the patient chart. A database-level atomic claim means two people opening the chart at the same moment trigger only one Azure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Sepsis Monitor gives the imaging workflow inpatient context. Be explicit that it is a teaching screen: the two-criterion proxy omits mental status and is not full qSOFA or NEWS2.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requested by clinical-style usage: users want to read the Patient Master and the monitor at the same time without being redirected. Demonstrate recording a vital in the window and the chart updating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users page and the audit trail. The audit log is the traceability evidence for the human-in-the-loop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main collections: patients and cases. Note the difference between findings (boxes on the film) and chartFindings (Azure's structured findings for the chart, written only after endorsement and never part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gaps — examiners appreciate it. All of them are listed in the README as engineering recommendations for Semester 2 hardening.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npm test runs the whole frontend suite in about 10 seconds. Acknowledge that Express/Mongo do not yet have a full automated backend test suite — that is listed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limitations as deliberate scope decisions for an FYP rather than oversights.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or three items to emphasise depending on time — evaluation with clinicians is the strongest research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accounts: doctor/doctor123, tech/tech123, priya/priya123, admin/admin123. Keep an already-endorsed case open in another tab in case CURV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Likely questions: why not retrain CURV; how is safety enforced; what does Azure cost; how would you deploy it; how accurate are the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66"/>
          </a:solidFill>
          <a:ln w="12700">
            <a:solidFill>
              <a:srgbClr val="003366"/>
            </a:solidFill>
            <a:prstDash val="solid"/>
          </a:ln>
        </p:spPr>
      </p:sp>
      <p:sp>
        <p:nvSpPr>
          <p:cNvPr id="3" name="Shape 1"/>
          <p:cNvSpPr/>
          <p:nvPr/>
        </p:nvSpPr>
        <p:spPr>
          <a:xfrm>
            <a:off x="0" y="4800600"/>
            <a:ext cx="12191695" cy="2057400"/>
          </a:xfrm>
          <a:prstGeom prst="rect">
            <a:avLst/>
          </a:prstGeom>
          <a:solidFill>
            <a:srgbClr val="ECE9DA"/>
          </a:solidFill>
          <a:ln w="12700">
            <a:solidFill>
              <a:srgbClr val="ECE9DA"/>
            </a:solidFill>
            <a:prstDash val="solid"/>
          </a:ln>
        </p:spPr>
      </p:sp>
      <p:sp>
        <p:nvSpPr>
          <p:cNvPr id="4" name="Shape 2"/>
          <p:cNvSpPr/>
          <p:nvPr/>
        </p:nvSpPr>
        <p:spPr>
          <a:xfrm>
            <a:off x="0" y="4764024"/>
            <a:ext cx="12191695" cy="54864"/>
          </a:xfrm>
          <a:prstGeom prst="rect">
            <a:avLst/>
          </a:prstGeom>
          <a:solidFill>
            <a:srgbClr val="008080"/>
          </a:solidFill>
          <a:ln w="12700">
            <a:solidFill>
              <a:srgbClr val="008080"/>
            </a:solidFill>
            <a:prstDash val="solid"/>
          </a:ln>
        </p:spPr>
      </p:sp>
      <p:sp>
        <p:nvSpPr>
          <p:cNvPr id="5" name="Text 3"/>
          <p:cNvSpPr/>
          <p:nvPr/>
        </p:nvSpPr>
        <p:spPr>
          <a:xfrm>
            <a:off x="731520" y="822960"/>
            <a:ext cx="10058400" cy="320040"/>
          </a:xfrm>
          <a:prstGeom prst="rect">
            <a:avLst/>
          </a:prstGeom>
          <a:noFill/>
          <a:ln/>
        </p:spPr>
        <p:txBody>
          <a:bodyPr wrap="square" lIns="0" tIns="0" rIns="0" bIns="0" rtlCol="0" anchor="ctr"/>
          <a:lstStyle/>
          <a:p>
            <a:pPr indent="0" marL="0">
              <a:buNone/>
            </a:pPr>
            <a:r>
              <a:rPr lang="en-US" sz="1300" b="1" spc="300" kern="0" dirty="0">
                <a:solidFill>
                  <a:srgbClr val="9CC9C9"/>
                </a:solidFill>
                <a:latin typeface="Calibri" pitchFamily="34" charset="0"/>
                <a:ea typeface="Calibri" pitchFamily="34" charset="-122"/>
                <a:cs typeface="Calibri" pitchFamily="34" charset="-120"/>
              </a:rPr>
              <a:t>FINAL YEAR PROJECT · HKBU COMPUTER SCIENCE</a:t>
            </a:r>
            <a:endParaRPr lang="en-US" sz="1300" dirty="0"/>
          </a:p>
        </p:txBody>
      </p:sp>
      <p:sp>
        <p:nvSpPr>
          <p:cNvPr id="6" name="Text 4"/>
          <p:cNvSpPr/>
          <p:nvPr/>
        </p:nvSpPr>
        <p:spPr>
          <a:xfrm>
            <a:off x="731520" y="1325880"/>
            <a:ext cx="1005840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RadAssist AI</a:t>
            </a:r>
            <a:endParaRPr lang="en-US" sz="5400" dirty="0"/>
          </a:p>
        </p:txBody>
      </p:sp>
      <p:sp>
        <p:nvSpPr>
          <p:cNvPr id="7" name="Text 5"/>
          <p:cNvSpPr/>
          <p:nvPr/>
        </p:nvSpPr>
        <p:spPr>
          <a:xfrm>
            <a:off x="731520" y="2286000"/>
            <a:ext cx="10515600" cy="548640"/>
          </a:xfrm>
          <a:prstGeom prst="rect">
            <a:avLst/>
          </a:prstGeom>
          <a:noFill/>
          <a:ln/>
        </p:spPr>
        <p:txBody>
          <a:bodyPr wrap="square" lIns="0" tIns="0" rIns="0" bIns="0" rtlCol="0" anchor="ctr"/>
          <a:lstStyle/>
          <a:p>
            <a:pPr indent="0" marL="0">
              <a:buNone/>
            </a:pPr>
            <a:r>
              <a:rPr lang="en-US" sz="2600" dirty="0">
                <a:solidFill>
                  <a:srgbClr val="DCE6F0"/>
                </a:solidFill>
                <a:latin typeface="Calibri" pitchFamily="34" charset="0"/>
                <a:ea typeface="Calibri" pitchFamily="34" charset="-122"/>
                <a:cs typeface="Calibri" pitchFamily="34" charset="-120"/>
              </a:rPr>
              <a:t>An AI-assisted Online System for X-Ray Report Generation</a:t>
            </a:r>
            <a:endParaRPr lang="en-US" sz="2600" dirty="0"/>
          </a:p>
        </p:txBody>
      </p:sp>
      <p:sp>
        <p:nvSpPr>
          <p:cNvPr id="8" name="Text 6"/>
          <p:cNvSpPr/>
          <p:nvPr/>
        </p:nvSpPr>
        <p:spPr>
          <a:xfrm>
            <a:off x="731520" y="3063240"/>
            <a:ext cx="10241280" cy="731520"/>
          </a:xfrm>
          <a:prstGeom prst="rect">
            <a:avLst/>
          </a:prstGeom>
          <a:noFill/>
          <a:ln/>
        </p:spPr>
        <p:txBody>
          <a:bodyPr wrap="square" lIns="0" tIns="0" rIns="0" bIns="0" rtlCol="0" anchor="ctr"/>
          <a:lstStyle/>
          <a:p>
            <a:pPr indent="0" marL="0">
              <a:buNone/>
            </a:pPr>
            <a:r>
              <a:rPr lang="en-US" sz="1700" dirty="0">
                <a:solidFill>
                  <a:srgbClr val="B8C7D9"/>
                </a:solidFill>
                <a:latin typeface="Calibri" pitchFamily="34" charset="0"/>
                <a:ea typeface="Calibri" pitchFamily="34" charset="-122"/>
                <a:cs typeface="Calibri" pitchFamily="34" charset="-120"/>
              </a:rPr>
              <a:t>Clinician-in-the-loop chest X-ray reporting inside a hospital CMS-style workspace — AI drafts, the radiologist decides.</a:t>
            </a:r>
            <a:endParaRPr lang="en-US" sz="1700" dirty="0"/>
          </a:p>
        </p:txBody>
      </p:sp>
      <p:sp>
        <p:nvSpPr>
          <p:cNvPr id="9" name="Text 7"/>
          <p:cNvSpPr/>
          <p:nvPr/>
        </p:nvSpPr>
        <p:spPr>
          <a:xfrm>
            <a:off x="731520" y="5120640"/>
            <a:ext cx="5486400" cy="822960"/>
          </a:xfrm>
          <a:prstGeom prst="rect">
            <a:avLst/>
          </a:prstGeom>
          <a:noFill/>
          <a:ln/>
        </p:spPr>
        <p:txBody>
          <a:bodyPr wrap="square" lIns="0" tIns="0" rIns="0" bIns="0" rtlCol="0" anchor="ctr"/>
          <a:lstStyle/>
          <a:p>
            <a:pPr indent="0" marL="0">
              <a:buNone/>
            </a:pPr>
            <a:r>
              <a:rPr lang="en-US" sz="2000" b="1" dirty="0">
                <a:solidFill>
                  <a:srgbClr val="003366"/>
                </a:solidFill>
                <a:latin typeface="Calibri" pitchFamily="34" charset="0"/>
                <a:ea typeface="Calibri" pitchFamily="34" charset="-122"/>
                <a:cs typeface="Calibri" pitchFamily="34" charset="-120"/>
              </a:rPr>
              <a:t>PANG Ho Yiu</a:t>
            </a:r>
            <a:endParaRPr lang="en-US" sz="2000" dirty="0"/>
          </a:p>
          <a:p>
            <a:pPr indent="0" marL="0">
              <a:buNone/>
            </a:pPr>
            <a:r>
              <a:rPr lang="en-US" sz="1400" dirty="0">
                <a:solidFill>
                  <a:srgbClr val="5B6472"/>
                </a:solidFill>
                <a:latin typeface="Calibri" pitchFamily="34" charset="0"/>
                <a:ea typeface="Calibri" pitchFamily="34" charset="-122"/>
                <a:cs typeface="Calibri" pitchFamily="34" charset="-120"/>
              </a:rPr>
              <a:t>Student ID 23226609</a:t>
            </a:r>
            <a:endParaRPr lang="en-US" sz="2000" dirty="0"/>
          </a:p>
        </p:txBody>
      </p:sp>
      <p:sp>
        <p:nvSpPr>
          <p:cNvPr id="10" name="Text 8"/>
          <p:cNvSpPr/>
          <p:nvPr/>
        </p:nvSpPr>
        <p:spPr>
          <a:xfrm>
            <a:off x="6400800" y="5257800"/>
            <a:ext cx="5029200" cy="365760"/>
          </a:xfrm>
          <a:prstGeom prst="rect">
            <a:avLst/>
          </a:prstGeom>
          <a:noFill/>
          <a:ln/>
        </p:spPr>
        <p:txBody>
          <a:bodyPr wrap="square" lIns="0" tIns="0" rIns="0" bIns="0" rtlCol="0" anchor="ctr"/>
          <a:lstStyle/>
          <a:p>
            <a:pPr algn="r" indent="0" marL="0">
              <a:buNone/>
            </a:pPr>
            <a:r>
              <a:rPr lang="en-US" sz="1300" i="1" dirty="0">
                <a:solidFill>
                  <a:srgbClr val="5B6472"/>
                </a:solidFill>
                <a:latin typeface="Calibri" pitchFamily="34" charset="0"/>
                <a:ea typeface="Calibri" pitchFamily="34" charset="-122"/>
                <a:cs typeface="Calibri" pitchFamily="34" charset="-120"/>
              </a:rPr>
              <a:t>Demonstration system · not a clinical product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201168"/>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Agenda</a:t>
            </a:r>
            <a:endParaRPr lang="en-US" sz="2600" dirty="0"/>
          </a:p>
        </p:txBody>
      </p:sp>
      <p:sp>
        <p:nvSpPr>
          <p:cNvPr id="5" name="Text 3"/>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6" name="Text 4"/>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548640" y="1325880"/>
            <a:ext cx="566928" cy="566928"/>
          </a:xfrm>
          <a:prstGeom prst="ellipse">
            <a:avLst/>
          </a:prstGeom>
          <a:solidFill>
            <a:srgbClr val="003366"/>
          </a:solidFill>
          <a:ln w="12700">
            <a:solidFill>
              <a:srgbClr val="003366"/>
            </a:solidFill>
            <a:prstDash val="solid"/>
          </a:ln>
        </p:spPr>
      </p:sp>
      <p:sp>
        <p:nvSpPr>
          <p:cNvPr id="8" name="Text 6"/>
          <p:cNvSpPr/>
          <p:nvPr/>
        </p:nvSpPr>
        <p:spPr>
          <a:xfrm>
            <a:off x="548640" y="132588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298448" y="1271016"/>
            <a:ext cx="4663440" cy="731520"/>
          </a:xfrm>
          <a:prstGeom prst="rect">
            <a:avLst/>
          </a:prstGeom>
          <a:noFill/>
          <a:ln/>
        </p:spPr>
        <p:txBody>
          <a:bodyPr wrap="square" lIns="0" tIns="0" rIns="0" bIns="0" rtlCol="0" anchor="ctr"/>
          <a:lstStyle/>
          <a:p>
            <a:pPr indent="0" marL="0">
              <a:buNone/>
            </a:pPr>
            <a:r>
              <a:rPr lang="en-US" sz="1800" b="1" dirty="0">
                <a:solidFill>
                  <a:srgbClr val="003366"/>
                </a:solidFill>
                <a:latin typeface="Calibri" pitchFamily="34" charset="0"/>
                <a:ea typeface="Calibri" pitchFamily="34" charset="-122"/>
                <a:cs typeface="Calibri" pitchFamily="34" charset="-120"/>
              </a:rPr>
              <a:t>Problem &amp; objectives</a:t>
            </a:r>
            <a:endParaRPr lang="en-US" sz="1800" dirty="0"/>
          </a:p>
          <a:p>
            <a:pPr indent="0" marL="0">
              <a:buNone/>
            </a:pPr>
            <a:r>
              <a:rPr lang="en-US" sz="1300" dirty="0">
                <a:solidFill>
                  <a:srgbClr val="5B6472"/>
                </a:solidFill>
                <a:latin typeface="Calibri" pitchFamily="34" charset="0"/>
                <a:ea typeface="Calibri" pitchFamily="34" charset="-122"/>
                <a:cs typeface="Calibri" pitchFamily="34" charset="-120"/>
              </a:rPr>
              <a:t>Why a research model is not yet a usable tool</a:t>
            </a:r>
            <a:endParaRPr lang="en-US" sz="1800" dirty="0"/>
          </a:p>
        </p:txBody>
      </p:sp>
      <p:sp>
        <p:nvSpPr>
          <p:cNvPr id="10" name="Shape 8"/>
          <p:cNvSpPr/>
          <p:nvPr/>
        </p:nvSpPr>
        <p:spPr>
          <a:xfrm>
            <a:off x="548640" y="2532888"/>
            <a:ext cx="566928" cy="566928"/>
          </a:xfrm>
          <a:prstGeom prst="ellipse">
            <a:avLst/>
          </a:prstGeom>
          <a:solidFill>
            <a:srgbClr val="003366"/>
          </a:solidFill>
          <a:ln w="12700">
            <a:solidFill>
              <a:srgbClr val="003366"/>
            </a:solidFill>
            <a:prstDash val="solid"/>
          </a:ln>
        </p:spPr>
      </p:sp>
      <p:sp>
        <p:nvSpPr>
          <p:cNvPr id="11" name="Text 9"/>
          <p:cNvSpPr/>
          <p:nvPr/>
        </p:nvSpPr>
        <p:spPr>
          <a:xfrm>
            <a:off x="548640" y="253288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298448" y="2478024"/>
            <a:ext cx="4663440" cy="731520"/>
          </a:xfrm>
          <a:prstGeom prst="rect">
            <a:avLst/>
          </a:prstGeom>
          <a:noFill/>
          <a:ln/>
        </p:spPr>
        <p:txBody>
          <a:bodyPr wrap="square" lIns="0" tIns="0" rIns="0" bIns="0" rtlCol="0" anchor="ctr"/>
          <a:lstStyle/>
          <a:p>
            <a:pPr indent="0" marL="0">
              <a:buNone/>
            </a:pPr>
            <a:r>
              <a:rPr lang="en-US" sz="1800" b="1" dirty="0">
                <a:solidFill>
                  <a:srgbClr val="003366"/>
                </a:solidFill>
                <a:latin typeface="Calibri" pitchFamily="34" charset="0"/>
                <a:ea typeface="Calibri" pitchFamily="34" charset="-122"/>
                <a:cs typeface="Calibri" pitchFamily="34" charset="-120"/>
              </a:rPr>
              <a:t>Solution &amp; architecture</a:t>
            </a:r>
            <a:endParaRPr lang="en-US" sz="1800" dirty="0"/>
          </a:p>
          <a:p>
            <a:pPr indent="0" marL="0">
              <a:buNone/>
            </a:pPr>
            <a:r>
              <a:rPr lang="en-US" sz="1300" dirty="0">
                <a:solidFill>
                  <a:srgbClr val="5B6472"/>
                </a:solidFill>
                <a:latin typeface="Calibri" pitchFamily="34" charset="0"/>
                <a:ea typeface="Calibri" pitchFamily="34" charset="-122"/>
                <a:cs typeface="Calibri" pitchFamily="34" charset="-120"/>
              </a:rPr>
              <a:t>Roles, components, technology stack</a:t>
            </a:r>
            <a:endParaRPr lang="en-US" sz="1800" dirty="0"/>
          </a:p>
        </p:txBody>
      </p:sp>
      <p:sp>
        <p:nvSpPr>
          <p:cNvPr id="13" name="Shape 11"/>
          <p:cNvSpPr/>
          <p:nvPr/>
        </p:nvSpPr>
        <p:spPr>
          <a:xfrm>
            <a:off x="548640" y="3739896"/>
            <a:ext cx="566928" cy="566928"/>
          </a:xfrm>
          <a:prstGeom prst="ellipse">
            <a:avLst/>
          </a:prstGeom>
          <a:solidFill>
            <a:srgbClr val="003366"/>
          </a:solidFill>
          <a:ln w="12700">
            <a:solidFill>
              <a:srgbClr val="003366"/>
            </a:solidFill>
            <a:prstDash val="solid"/>
          </a:ln>
        </p:spPr>
      </p:sp>
      <p:sp>
        <p:nvSpPr>
          <p:cNvPr id="14" name="Text 12"/>
          <p:cNvSpPr/>
          <p:nvPr/>
        </p:nvSpPr>
        <p:spPr>
          <a:xfrm>
            <a:off x="548640" y="373989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298448" y="3685032"/>
            <a:ext cx="4663440" cy="731520"/>
          </a:xfrm>
          <a:prstGeom prst="rect">
            <a:avLst/>
          </a:prstGeom>
          <a:noFill/>
          <a:ln/>
        </p:spPr>
        <p:txBody>
          <a:bodyPr wrap="square" lIns="0" tIns="0" rIns="0" bIns="0" rtlCol="0" anchor="ctr"/>
          <a:lstStyle/>
          <a:p>
            <a:pPr indent="0" marL="0">
              <a:buNone/>
            </a:pPr>
            <a:r>
              <a:rPr lang="en-US" sz="1800" b="1" dirty="0">
                <a:solidFill>
                  <a:srgbClr val="003366"/>
                </a:solidFill>
                <a:latin typeface="Calibri" pitchFamily="34" charset="0"/>
                <a:ea typeface="Calibri" pitchFamily="34" charset="-122"/>
                <a:cs typeface="Calibri" pitchFamily="34" charset="-120"/>
              </a:rPr>
              <a:t>End-to-end workflow</a:t>
            </a:r>
            <a:endParaRPr lang="en-US" sz="1800" dirty="0"/>
          </a:p>
          <a:p>
            <a:pPr indent="0" marL="0">
              <a:buNone/>
            </a:pPr>
            <a:r>
              <a:rPr lang="en-US" sz="1300" dirty="0">
                <a:solidFill>
                  <a:srgbClr val="5B6472"/>
                </a:solidFill>
                <a:latin typeface="Calibri" pitchFamily="34" charset="0"/>
                <a:ea typeface="Calibri" pitchFamily="34" charset="-122"/>
                <a:cs typeface="Calibri" pitchFamily="34" charset="-120"/>
              </a:rPr>
              <a:t>Booking → film → AI draft → review → endorse</a:t>
            </a:r>
            <a:endParaRPr lang="en-US" sz="1800" dirty="0"/>
          </a:p>
        </p:txBody>
      </p:sp>
      <p:sp>
        <p:nvSpPr>
          <p:cNvPr id="16" name="Shape 14"/>
          <p:cNvSpPr/>
          <p:nvPr/>
        </p:nvSpPr>
        <p:spPr>
          <a:xfrm>
            <a:off x="548640" y="4946904"/>
            <a:ext cx="566928" cy="566928"/>
          </a:xfrm>
          <a:prstGeom prst="ellipse">
            <a:avLst/>
          </a:prstGeom>
          <a:solidFill>
            <a:srgbClr val="003366"/>
          </a:solidFill>
          <a:ln w="12700">
            <a:solidFill>
              <a:srgbClr val="003366"/>
            </a:solidFill>
            <a:prstDash val="solid"/>
          </a:ln>
        </p:spPr>
      </p:sp>
      <p:sp>
        <p:nvSpPr>
          <p:cNvPr id="17" name="Text 15"/>
          <p:cNvSpPr/>
          <p:nvPr/>
        </p:nvSpPr>
        <p:spPr>
          <a:xfrm>
            <a:off x="548640" y="4946904"/>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298448" y="4892040"/>
            <a:ext cx="4663440" cy="731520"/>
          </a:xfrm>
          <a:prstGeom prst="rect">
            <a:avLst/>
          </a:prstGeom>
          <a:noFill/>
          <a:ln/>
        </p:spPr>
        <p:txBody>
          <a:bodyPr wrap="square" lIns="0" tIns="0" rIns="0" bIns="0" rtlCol="0" anchor="ctr"/>
          <a:lstStyle/>
          <a:p>
            <a:pPr indent="0" marL="0">
              <a:buNone/>
            </a:pPr>
            <a:r>
              <a:rPr lang="en-US" sz="1800" b="1" dirty="0">
                <a:solidFill>
                  <a:srgbClr val="003366"/>
                </a:solidFill>
                <a:latin typeface="Calibri" pitchFamily="34" charset="0"/>
                <a:ea typeface="Calibri" pitchFamily="34" charset="-122"/>
                <a:cs typeface="Calibri" pitchFamily="34" charset="-120"/>
              </a:rPr>
              <a:t>AI pipeline</a:t>
            </a:r>
            <a:endParaRPr lang="en-US" sz="1800" dirty="0"/>
          </a:p>
          <a:p>
            <a:pPr indent="0" marL="0">
              <a:buNone/>
            </a:pPr>
            <a:r>
              <a:rPr lang="en-US" sz="1300" dirty="0">
                <a:solidFill>
                  <a:srgbClr val="5B6472"/>
                </a:solidFill>
                <a:latin typeface="Calibri" pitchFamily="34" charset="0"/>
                <a:ea typeface="Calibri" pitchFamily="34" charset="-122"/>
                <a:cs typeface="Calibri" pitchFamily="34" charset="-120"/>
              </a:rPr>
              <a:t>CURV report generation + Azure OpenAI assistance</a:t>
            </a:r>
            <a:endParaRPr lang="en-US" sz="1800" dirty="0"/>
          </a:p>
        </p:txBody>
      </p:sp>
      <p:sp>
        <p:nvSpPr>
          <p:cNvPr id="19" name="Shape 17"/>
          <p:cNvSpPr/>
          <p:nvPr/>
        </p:nvSpPr>
        <p:spPr>
          <a:xfrm>
            <a:off x="6217920" y="1325880"/>
            <a:ext cx="566928" cy="566928"/>
          </a:xfrm>
          <a:prstGeom prst="ellipse">
            <a:avLst/>
          </a:prstGeom>
          <a:solidFill>
            <a:srgbClr val="003366"/>
          </a:solidFill>
          <a:ln w="12700">
            <a:solidFill>
              <a:srgbClr val="003366"/>
            </a:solidFill>
            <a:prstDash val="solid"/>
          </a:ln>
        </p:spPr>
      </p:sp>
      <p:sp>
        <p:nvSpPr>
          <p:cNvPr id="20" name="Text 18"/>
          <p:cNvSpPr/>
          <p:nvPr/>
        </p:nvSpPr>
        <p:spPr>
          <a:xfrm>
            <a:off x="6217920" y="132588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1" name="Text 19"/>
          <p:cNvSpPr/>
          <p:nvPr/>
        </p:nvSpPr>
        <p:spPr>
          <a:xfrm>
            <a:off x="6967728" y="1271016"/>
            <a:ext cx="4663440" cy="731520"/>
          </a:xfrm>
          <a:prstGeom prst="rect">
            <a:avLst/>
          </a:prstGeom>
          <a:noFill/>
          <a:ln/>
        </p:spPr>
        <p:txBody>
          <a:bodyPr wrap="square" lIns="0" tIns="0" rIns="0" bIns="0" rtlCol="0" anchor="ctr"/>
          <a:lstStyle/>
          <a:p>
            <a:pPr indent="0" marL="0">
              <a:buNone/>
            </a:pPr>
            <a:r>
              <a:rPr lang="en-US" sz="1800" b="1" dirty="0">
                <a:solidFill>
                  <a:srgbClr val="003366"/>
                </a:solidFill>
                <a:latin typeface="Calibri" pitchFamily="34" charset="0"/>
                <a:ea typeface="Calibri" pitchFamily="34" charset="-122"/>
                <a:cs typeface="Calibri" pitchFamily="34" charset="-120"/>
              </a:rPr>
              <a:t>Clinical modules</a:t>
            </a:r>
            <a:endParaRPr lang="en-US" sz="1800" dirty="0"/>
          </a:p>
          <a:p>
            <a:pPr indent="0" marL="0">
              <a:buNone/>
            </a:pPr>
            <a:r>
              <a:rPr lang="en-US" sz="1300" dirty="0">
                <a:solidFill>
                  <a:srgbClr val="5B6472"/>
                </a:solidFill>
                <a:latin typeface="Calibri" pitchFamily="34" charset="0"/>
                <a:ea typeface="Calibri" pitchFamily="34" charset="-122"/>
                <a:cs typeface="Calibri" pitchFamily="34" charset="-120"/>
              </a:rPr>
              <a:t>Patient chart, Azure findings, Sepsis Monitor, Care Notes</a:t>
            </a:r>
            <a:endParaRPr lang="en-US" sz="1800" dirty="0"/>
          </a:p>
        </p:txBody>
      </p:sp>
      <p:sp>
        <p:nvSpPr>
          <p:cNvPr id="22" name="Shape 20"/>
          <p:cNvSpPr/>
          <p:nvPr/>
        </p:nvSpPr>
        <p:spPr>
          <a:xfrm>
            <a:off x="6217920" y="2532888"/>
            <a:ext cx="566928" cy="566928"/>
          </a:xfrm>
          <a:prstGeom prst="ellipse">
            <a:avLst/>
          </a:prstGeom>
          <a:solidFill>
            <a:srgbClr val="003366"/>
          </a:solidFill>
          <a:ln w="12700">
            <a:solidFill>
              <a:srgbClr val="003366"/>
            </a:solidFill>
            <a:prstDash val="solid"/>
          </a:ln>
        </p:spPr>
      </p:sp>
      <p:sp>
        <p:nvSpPr>
          <p:cNvPr id="23" name="Text 21"/>
          <p:cNvSpPr/>
          <p:nvPr/>
        </p:nvSpPr>
        <p:spPr>
          <a:xfrm>
            <a:off x="6217920" y="253288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4" name="Text 22"/>
          <p:cNvSpPr/>
          <p:nvPr/>
        </p:nvSpPr>
        <p:spPr>
          <a:xfrm>
            <a:off x="6967728" y="2478024"/>
            <a:ext cx="4663440" cy="731520"/>
          </a:xfrm>
          <a:prstGeom prst="rect">
            <a:avLst/>
          </a:prstGeom>
          <a:noFill/>
          <a:ln/>
        </p:spPr>
        <p:txBody>
          <a:bodyPr wrap="square" lIns="0" tIns="0" rIns="0" bIns="0" rtlCol="0" anchor="ctr"/>
          <a:lstStyle/>
          <a:p>
            <a:pPr indent="0" marL="0">
              <a:buNone/>
            </a:pPr>
            <a:r>
              <a:rPr lang="en-US" sz="1800" b="1" dirty="0">
                <a:solidFill>
                  <a:srgbClr val="003366"/>
                </a:solidFill>
                <a:latin typeface="Calibri" pitchFamily="34" charset="0"/>
                <a:ea typeface="Calibri" pitchFamily="34" charset="-122"/>
                <a:cs typeface="Calibri" pitchFamily="34" charset="-120"/>
              </a:rPr>
              <a:t>Admin, data &amp; security</a:t>
            </a:r>
            <a:endParaRPr lang="en-US" sz="1800" dirty="0"/>
          </a:p>
          <a:p>
            <a:pPr indent="0" marL="0">
              <a:buNone/>
            </a:pPr>
            <a:r>
              <a:rPr lang="en-US" sz="1300" dirty="0">
                <a:solidFill>
                  <a:srgbClr val="5B6472"/>
                </a:solidFill>
                <a:latin typeface="Calibri" pitchFamily="34" charset="0"/>
                <a:ea typeface="Calibri" pitchFamily="34" charset="-122"/>
                <a:cs typeface="Calibri" pitchFamily="34" charset="-120"/>
              </a:rPr>
              <a:t>Users, audit, data model, access control</a:t>
            </a:r>
            <a:endParaRPr lang="en-US" sz="1800" dirty="0"/>
          </a:p>
        </p:txBody>
      </p:sp>
      <p:sp>
        <p:nvSpPr>
          <p:cNvPr id="25" name="Shape 23"/>
          <p:cNvSpPr/>
          <p:nvPr/>
        </p:nvSpPr>
        <p:spPr>
          <a:xfrm>
            <a:off x="6217920" y="3739896"/>
            <a:ext cx="566928" cy="566928"/>
          </a:xfrm>
          <a:prstGeom prst="ellipse">
            <a:avLst/>
          </a:prstGeom>
          <a:solidFill>
            <a:srgbClr val="003366"/>
          </a:solidFill>
          <a:ln w="12700">
            <a:solidFill>
              <a:srgbClr val="003366"/>
            </a:solidFill>
            <a:prstDash val="solid"/>
          </a:ln>
        </p:spPr>
      </p:sp>
      <p:sp>
        <p:nvSpPr>
          <p:cNvPr id="26" name="Text 24"/>
          <p:cNvSpPr/>
          <p:nvPr/>
        </p:nvSpPr>
        <p:spPr>
          <a:xfrm>
            <a:off x="6217920" y="373989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27" name="Text 25"/>
          <p:cNvSpPr/>
          <p:nvPr/>
        </p:nvSpPr>
        <p:spPr>
          <a:xfrm>
            <a:off x="6967728" y="3685032"/>
            <a:ext cx="4663440" cy="731520"/>
          </a:xfrm>
          <a:prstGeom prst="rect">
            <a:avLst/>
          </a:prstGeom>
          <a:noFill/>
          <a:ln/>
        </p:spPr>
        <p:txBody>
          <a:bodyPr wrap="square" lIns="0" tIns="0" rIns="0" bIns="0" rtlCol="0" anchor="ctr"/>
          <a:lstStyle/>
          <a:p>
            <a:pPr indent="0" marL="0">
              <a:buNone/>
            </a:pPr>
            <a:r>
              <a:rPr lang="en-US" sz="1800" b="1" dirty="0">
                <a:solidFill>
                  <a:srgbClr val="003366"/>
                </a:solidFill>
                <a:latin typeface="Calibri" pitchFamily="34" charset="0"/>
                <a:ea typeface="Calibri" pitchFamily="34" charset="-122"/>
                <a:cs typeface="Calibri" pitchFamily="34" charset="-120"/>
              </a:rPr>
              <a:t>Testing, limitations, future work</a:t>
            </a:r>
            <a:endParaRPr lang="en-US" sz="1800" dirty="0"/>
          </a:p>
          <a:p>
            <a:pPr indent="0" marL="0">
              <a:buNone/>
            </a:pPr>
            <a:r>
              <a:rPr lang="en-US" sz="1300" dirty="0">
                <a:solidFill>
                  <a:srgbClr val="5B6472"/>
                </a:solidFill>
                <a:latin typeface="Calibri" pitchFamily="34" charset="0"/>
                <a:ea typeface="Calibri" pitchFamily="34" charset="-122"/>
                <a:cs typeface="Calibri" pitchFamily="34" charset="-120"/>
              </a:rPr>
              <a:t>How it was verified and what comes next</a:t>
            </a:r>
            <a:endParaRPr lang="en-US" sz="1800" dirty="0"/>
          </a:p>
        </p:txBody>
      </p:sp>
      <p:sp>
        <p:nvSpPr>
          <p:cNvPr id="28" name="Shape 26"/>
          <p:cNvSpPr/>
          <p:nvPr/>
        </p:nvSpPr>
        <p:spPr>
          <a:xfrm>
            <a:off x="6217920" y="4946904"/>
            <a:ext cx="566928" cy="566928"/>
          </a:xfrm>
          <a:prstGeom prst="ellipse">
            <a:avLst/>
          </a:prstGeom>
          <a:solidFill>
            <a:srgbClr val="003366"/>
          </a:solidFill>
          <a:ln w="12700">
            <a:solidFill>
              <a:srgbClr val="003366"/>
            </a:solidFill>
            <a:prstDash val="solid"/>
          </a:ln>
        </p:spPr>
      </p:sp>
      <p:sp>
        <p:nvSpPr>
          <p:cNvPr id="29" name="Text 27"/>
          <p:cNvSpPr/>
          <p:nvPr/>
        </p:nvSpPr>
        <p:spPr>
          <a:xfrm>
            <a:off x="6217920" y="4946904"/>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30" name="Text 28"/>
          <p:cNvSpPr/>
          <p:nvPr/>
        </p:nvSpPr>
        <p:spPr>
          <a:xfrm>
            <a:off x="6967728" y="4892040"/>
            <a:ext cx="4663440" cy="731520"/>
          </a:xfrm>
          <a:prstGeom prst="rect">
            <a:avLst/>
          </a:prstGeom>
          <a:noFill/>
          <a:ln/>
        </p:spPr>
        <p:txBody>
          <a:bodyPr wrap="square" lIns="0" tIns="0" rIns="0" bIns="0" rtlCol="0" anchor="ctr"/>
          <a:lstStyle/>
          <a:p>
            <a:pPr indent="0" marL="0">
              <a:buNone/>
            </a:pPr>
            <a:r>
              <a:rPr lang="en-US" sz="1800" b="1" dirty="0">
                <a:solidFill>
                  <a:srgbClr val="003366"/>
                </a:solidFill>
                <a:latin typeface="Calibri" pitchFamily="34" charset="0"/>
                <a:ea typeface="Calibri" pitchFamily="34" charset="-122"/>
                <a:cs typeface="Calibri" pitchFamily="34" charset="-120"/>
              </a:rPr>
              <a:t>Live demo &amp; Q&amp;A</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PROBLEM</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Background: the deployment gap</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8" name="Text 6"/>
          <p:cNvSpPr/>
          <p:nvPr/>
        </p:nvSpPr>
        <p:spPr>
          <a:xfrm>
            <a:off x="548640" y="1143000"/>
            <a:ext cx="11064240" cy="68580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Vision-language models such as CURV can now write chest X-ray reports — but they stay in scripts and notebooks, out of reach of the clinicians who need them.</a:t>
            </a:r>
            <a:endParaRPr lang="en-US" sz="1700" dirty="0"/>
          </a:p>
        </p:txBody>
      </p:sp>
      <p:sp>
        <p:nvSpPr>
          <p:cNvPr id="9" name="Shape 7"/>
          <p:cNvSpPr/>
          <p:nvPr/>
        </p:nvSpPr>
        <p:spPr>
          <a:xfrm>
            <a:off x="548640" y="2011680"/>
            <a:ext cx="3566160" cy="4023360"/>
          </a:xfrm>
          <a:prstGeom prst="rect">
            <a:avLst/>
          </a:prstGeom>
          <a:solidFill>
            <a:srgbClr val="F6F5EF"/>
          </a:solidFill>
          <a:ln w="9525">
            <a:solidFill>
              <a:srgbClr val="D6D3C4"/>
            </a:solidFill>
            <a:prstDash val="solid"/>
          </a:ln>
        </p:spPr>
      </p:sp>
      <p:sp>
        <p:nvSpPr>
          <p:cNvPr id="10" name="Shape 8"/>
          <p:cNvSpPr/>
          <p:nvPr/>
        </p:nvSpPr>
        <p:spPr>
          <a:xfrm>
            <a:off x="548640" y="2011680"/>
            <a:ext cx="3566160" cy="73152"/>
          </a:xfrm>
          <a:prstGeom prst="rect">
            <a:avLst/>
          </a:prstGeom>
          <a:solidFill>
            <a:srgbClr val="B42318"/>
          </a:solidFill>
          <a:ln w="12700">
            <a:solidFill>
              <a:srgbClr val="B42318"/>
            </a:solidFill>
            <a:prstDash val="solid"/>
          </a:ln>
        </p:spPr>
      </p:sp>
      <p:sp>
        <p:nvSpPr>
          <p:cNvPr id="11" name="Text 9"/>
          <p:cNvSpPr/>
          <p:nvPr/>
        </p:nvSpPr>
        <p:spPr>
          <a:xfrm>
            <a:off x="731520" y="2212848"/>
            <a:ext cx="3200400" cy="411480"/>
          </a:xfrm>
          <a:prstGeom prst="rect">
            <a:avLst/>
          </a:prstGeom>
          <a:noFill/>
          <a:ln/>
        </p:spPr>
        <p:txBody>
          <a:bodyPr wrap="square" lIns="0" tIns="0" rIns="0" bIns="0" rtlCol="0" anchor="ctr"/>
          <a:lstStyle/>
          <a:p>
            <a:pPr indent="0" marL="0">
              <a:buNone/>
            </a:pPr>
            <a:r>
              <a:rPr lang="en-US" sz="1700" b="1" dirty="0">
                <a:solidFill>
                  <a:srgbClr val="003366"/>
                </a:solidFill>
                <a:latin typeface="Calibri" pitchFamily="34" charset="0"/>
                <a:ea typeface="Calibri" pitchFamily="34" charset="-122"/>
                <a:cs typeface="Calibri" pitchFamily="34" charset="-120"/>
              </a:rPr>
              <a:t>1  Time-consuming reporting</a:t>
            </a:r>
            <a:endParaRPr lang="en-US" sz="1700" dirty="0"/>
          </a:p>
        </p:txBody>
      </p:sp>
      <p:sp>
        <p:nvSpPr>
          <p:cNvPr id="12" name="Text 10"/>
          <p:cNvSpPr/>
          <p:nvPr/>
        </p:nvSpPr>
        <p:spPr>
          <a:xfrm>
            <a:off x="731520" y="2697480"/>
            <a:ext cx="3200400" cy="14630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Radiology reports are professional work product. Writing similar reports from a blank page occupies valuable radiologist hours.</a:t>
            </a:r>
            <a:endParaRPr lang="en-US" sz="1350" dirty="0"/>
          </a:p>
        </p:txBody>
      </p:sp>
      <p:sp>
        <p:nvSpPr>
          <p:cNvPr id="13" name="Shape 11"/>
          <p:cNvSpPr/>
          <p:nvPr/>
        </p:nvSpPr>
        <p:spPr>
          <a:xfrm>
            <a:off x="731520" y="4251960"/>
            <a:ext cx="3200400" cy="1600200"/>
          </a:xfrm>
          <a:prstGeom prst="rect">
            <a:avLst/>
          </a:prstGeom>
          <a:solidFill>
            <a:srgbClr val="E8F5EE"/>
          </a:solidFill>
          <a:ln w="12700">
            <a:solidFill>
              <a:srgbClr val="E8F5EE"/>
            </a:solidFill>
            <a:prstDash val="solid"/>
          </a:ln>
        </p:spPr>
      </p:sp>
      <p:sp>
        <p:nvSpPr>
          <p:cNvPr id="14" name="Text 12"/>
          <p:cNvSpPr/>
          <p:nvPr/>
        </p:nvSpPr>
        <p:spPr>
          <a:xfrm>
            <a:off x="841248" y="4315968"/>
            <a:ext cx="2999232" cy="1463040"/>
          </a:xfrm>
          <a:prstGeom prst="rect">
            <a:avLst/>
          </a:prstGeom>
          <a:noFill/>
          <a:ln/>
        </p:spPr>
        <p:txBody>
          <a:bodyPr wrap="square" lIns="0" tIns="0" rIns="0" bIns="0" rtlCol="0" anchor="t"/>
          <a:lstStyle/>
          <a:p>
            <a:pPr indent="0" marL="0">
              <a:buNone/>
            </a:pPr>
            <a:r>
              <a:rPr lang="en-US" sz="1250" dirty="0">
                <a:solidFill>
                  <a:srgbClr val="067647"/>
                </a:solidFill>
                <a:latin typeface="Calibri" pitchFamily="34" charset="0"/>
                <a:ea typeface="Calibri" pitchFamily="34" charset="-122"/>
                <a:cs typeface="Calibri" pitchFamily="34" charset="-120"/>
              </a:rPr>
              <a:t>Goal: AI drafts automatically when the film is saved; the radiologist reviews instead of typing from scratch.</a:t>
            </a:r>
            <a:endParaRPr lang="en-US" sz="1250" dirty="0"/>
          </a:p>
        </p:txBody>
      </p:sp>
      <p:sp>
        <p:nvSpPr>
          <p:cNvPr id="15" name="Shape 13"/>
          <p:cNvSpPr/>
          <p:nvPr/>
        </p:nvSpPr>
        <p:spPr>
          <a:xfrm>
            <a:off x="4315968" y="2011680"/>
            <a:ext cx="3566160" cy="4023360"/>
          </a:xfrm>
          <a:prstGeom prst="rect">
            <a:avLst/>
          </a:prstGeom>
          <a:solidFill>
            <a:srgbClr val="F6F5EF"/>
          </a:solidFill>
          <a:ln w="9525">
            <a:solidFill>
              <a:srgbClr val="D6D3C4"/>
            </a:solidFill>
            <a:prstDash val="solid"/>
          </a:ln>
        </p:spPr>
      </p:sp>
      <p:sp>
        <p:nvSpPr>
          <p:cNvPr id="16" name="Shape 14"/>
          <p:cNvSpPr/>
          <p:nvPr/>
        </p:nvSpPr>
        <p:spPr>
          <a:xfrm>
            <a:off x="4315968" y="2011680"/>
            <a:ext cx="3566160" cy="73152"/>
          </a:xfrm>
          <a:prstGeom prst="rect">
            <a:avLst/>
          </a:prstGeom>
          <a:solidFill>
            <a:srgbClr val="B42318"/>
          </a:solidFill>
          <a:ln w="12700">
            <a:solidFill>
              <a:srgbClr val="B42318"/>
            </a:solidFill>
            <a:prstDash val="solid"/>
          </a:ln>
        </p:spPr>
      </p:sp>
      <p:sp>
        <p:nvSpPr>
          <p:cNvPr id="17" name="Text 15"/>
          <p:cNvSpPr/>
          <p:nvPr/>
        </p:nvSpPr>
        <p:spPr>
          <a:xfrm>
            <a:off x="4498848" y="2212848"/>
            <a:ext cx="3200400" cy="411480"/>
          </a:xfrm>
          <a:prstGeom prst="rect">
            <a:avLst/>
          </a:prstGeom>
          <a:noFill/>
          <a:ln/>
        </p:spPr>
        <p:txBody>
          <a:bodyPr wrap="square" lIns="0" tIns="0" rIns="0" bIns="0" rtlCol="0" anchor="ctr"/>
          <a:lstStyle/>
          <a:p>
            <a:pPr indent="0" marL="0">
              <a:buNone/>
            </a:pPr>
            <a:r>
              <a:rPr lang="en-US" sz="1700" b="1" dirty="0">
                <a:solidFill>
                  <a:srgbClr val="003366"/>
                </a:solidFill>
                <a:latin typeface="Calibri" pitchFamily="34" charset="0"/>
                <a:ea typeface="Calibri" pitchFamily="34" charset="-122"/>
                <a:cs typeface="Calibri" pitchFamily="34" charset="-120"/>
              </a:rPr>
              <a:t>2  AI is not accessible</a:t>
            </a:r>
            <a:endParaRPr lang="en-US" sz="1700" dirty="0"/>
          </a:p>
        </p:txBody>
      </p:sp>
      <p:sp>
        <p:nvSpPr>
          <p:cNvPr id="18" name="Text 16"/>
          <p:cNvSpPr/>
          <p:nvPr/>
        </p:nvSpPr>
        <p:spPr>
          <a:xfrm>
            <a:off x="4498848" y="2697480"/>
            <a:ext cx="3200400" cy="14630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Research models have no standard web interface. Running them needs Python, a GPU/Apple Silicon box and a command line.</a:t>
            </a:r>
            <a:endParaRPr lang="en-US" sz="1350" dirty="0"/>
          </a:p>
        </p:txBody>
      </p:sp>
      <p:sp>
        <p:nvSpPr>
          <p:cNvPr id="19" name="Shape 17"/>
          <p:cNvSpPr/>
          <p:nvPr/>
        </p:nvSpPr>
        <p:spPr>
          <a:xfrm>
            <a:off x="4498848" y="4251960"/>
            <a:ext cx="3200400" cy="1600200"/>
          </a:xfrm>
          <a:prstGeom prst="rect">
            <a:avLst/>
          </a:prstGeom>
          <a:solidFill>
            <a:srgbClr val="E8F5EE"/>
          </a:solidFill>
          <a:ln w="12700">
            <a:solidFill>
              <a:srgbClr val="E8F5EE"/>
            </a:solidFill>
            <a:prstDash val="solid"/>
          </a:ln>
        </p:spPr>
      </p:sp>
      <p:sp>
        <p:nvSpPr>
          <p:cNvPr id="20" name="Text 18"/>
          <p:cNvSpPr/>
          <p:nvPr/>
        </p:nvSpPr>
        <p:spPr>
          <a:xfrm>
            <a:off x="4608576" y="4315968"/>
            <a:ext cx="2999232" cy="1463040"/>
          </a:xfrm>
          <a:prstGeom prst="rect">
            <a:avLst/>
          </a:prstGeom>
          <a:noFill/>
          <a:ln/>
        </p:spPr>
        <p:txBody>
          <a:bodyPr wrap="square" lIns="0" tIns="0" rIns="0" bIns="0" rtlCol="0" anchor="t"/>
          <a:lstStyle/>
          <a:p>
            <a:pPr indent="0" marL="0">
              <a:buNone/>
            </a:pPr>
            <a:r>
              <a:rPr lang="en-US" sz="1250" dirty="0">
                <a:solidFill>
                  <a:srgbClr val="067647"/>
                </a:solidFill>
                <a:latin typeface="Calibri" pitchFamily="34" charset="0"/>
                <a:ea typeface="Calibri" pitchFamily="34" charset="-122"/>
                <a:cs typeface="Calibri" pitchFamily="34" charset="-120"/>
              </a:rPr>
              <a:t>Goal: browser login, worklist and one review screen — no notebook, no command line.</a:t>
            </a:r>
            <a:endParaRPr lang="en-US" sz="1250" dirty="0"/>
          </a:p>
        </p:txBody>
      </p:sp>
      <p:sp>
        <p:nvSpPr>
          <p:cNvPr id="21" name="Shape 19"/>
          <p:cNvSpPr/>
          <p:nvPr/>
        </p:nvSpPr>
        <p:spPr>
          <a:xfrm>
            <a:off x="8083296" y="2011680"/>
            <a:ext cx="3566160" cy="4023360"/>
          </a:xfrm>
          <a:prstGeom prst="rect">
            <a:avLst/>
          </a:prstGeom>
          <a:solidFill>
            <a:srgbClr val="F6F5EF"/>
          </a:solidFill>
          <a:ln w="9525">
            <a:solidFill>
              <a:srgbClr val="D6D3C4"/>
            </a:solidFill>
            <a:prstDash val="solid"/>
          </a:ln>
        </p:spPr>
      </p:sp>
      <p:sp>
        <p:nvSpPr>
          <p:cNvPr id="22" name="Shape 20"/>
          <p:cNvSpPr/>
          <p:nvPr/>
        </p:nvSpPr>
        <p:spPr>
          <a:xfrm>
            <a:off x="8083296" y="2011680"/>
            <a:ext cx="3566160" cy="73152"/>
          </a:xfrm>
          <a:prstGeom prst="rect">
            <a:avLst/>
          </a:prstGeom>
          <a:solidFill>
            <a:srgbClr val="B42318"/>
          </a:solidFill>
          <a:ln w="12700">
            <a:solidFill>
              <a:srgbClr val="B42318"/>
            </a:solidFill>
            <a:prstDash val="solid"/>
          </a:ln>
        </p:spPr>
      </p:sp>
      <p:sp>
        <p:nvSpPr>
          <p:cNvPr id="23" name="Text 21"/>
          <p:cNvSpPr/>
          <p:nvPr/>
        </p:nvSpPr>
        <p:spPr>
          <a:xfrm>
            <a:off x="8266176" y="2212848"/>
            <a:ext cx="3200400" cy="411480"/>
          </a:xfrm>
          <a:prstGeom prst="rect">
            <a:avLst/>
          </a:prstGeom>
          <a:noFill/>
          <a:ln/>
        </p:spPr>
        <p:txBody>
          <a:bodyPr wrap="square" lIns="0" tIns="0" rIns="0" bIns="0" rtlCol="0" anchor="ctr"/>
          <a:lstStyle/>
          <a:p>
            <a:pPr indent="0" marL="0">
              <a:buNone/>
            </a:pPr>
            <a:r>
              <a:rPr lang="en-US" sz="1700" b="1" dirty="0">
                <a:solidFill>
                  <a:srgbClr val="003366"/>
                </a:solidFill>
                <a:latin typeface="Calibri" pitchFamily="34" charset="0"/>
                <a:ea typeface="Calibri" pitchFamily="34" charset="-122"/>
                <a:cs typeface="Calibri" pitchFamily="34" charset="-120"/>
              </a:rPr>
              <a:t>3  Static, opaque output</a:t>
            </a:r>
            <a:endParaRPr lang="en-US" sz="1700" dirty="0"/>
          </a:p>
        </p:txBody>
      </p:sp>
      <p:sp>
        <p:nvSpPr>
          <p:cNvPr id="24" name="Text 22"/>
          <p:cNvSpPr/>
          <p:nvPr/>
        </p:nvSpPr>
        <p:spPr>
          <a:xfrm>
            <a:off x="8266176" y="2697480"/>
            <a:ext cx="3200400" cy="14630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Image-in, text-out tools are not interactive. Clinicians cannot see where a finding is, edit it, or tell AI text from human text.</a:t>
            </a:r>
            <a:endParaRPr lang="en-US" sz="1350" dirty="0"/>
          </a:p>
        </p:txBody>
      </p:sp>
      <p:sp>
        <p:nvSpPr>
          <p:cNvPr id="25" name="Shape 23"/>
          <p:cNvSpPr/>
          <p:nvPr/>
        </p:nvSpPr>
        <p:spPr>
          <a:xfrm>
            <a:off x="8266176" y="4251960"/>
            <a:ext cx="3200400" cy="1600200"/>
          </a:xfrm>
          <a:prstGeom prst="rect">
            <a:avLst/>
          </a:prstGeom>
          <a:solidFill>
            <a:srgbClr val="E8F5EE"/>
          </a:solidFill>
          <a:ln w="12700">
            <a:solidFill>
              <a:srgbClr val="E8F5EE"/>
            </a:solidFill>
            <a:prstDash val="solid"/>
          </a:ln>
        </p:spPr>
      </p:sp>
      <p:sp>
        <p:nvSpPr>
          <p:cNvPr id="26" name="Text 24"/>
          <p:cNvSpPr/>
          <p:nvPr/>
        </p:nvSpPr>
        <p:spPr>
          <a:xfrm>
            <a:off x="8375904" y="4315968"/>
            <a:ext cx="2999232" cy="1463040"/>
          </a:xfrm>
          <a:prstGeom prst="rect">
            <a:avLst/>
          </a:prstGeom>
          <a:noFill/>
          <a:ln/>
        </p:spPr>
        <p:txBody>
          <a:bodyPr wrap="square" lIns="0" tIns="0" rIns="0" bIns="0" rtlCol="0" anchor="t"/>
          <a:lstStyle/>
          <a:p>
            <a:pPr indent="0" marL="0">
              <a:buNone/>
            </a:pPr>
            <a:r>
              <a:rPr lang="en-US" sz="1250" dirty="0">
                <a:solidFill>
                  <a:srgbClr val="067647"/>
                </a:solidFill>
                <a:latin typeface="Calibri" pitchFamily="34" charset="0"/>
                <a:ea typeface="Calibri" pitchFamily="34" charset="-122"/>
                <a:cs typeface="Calibri" pitchFamily="34" charset="-120"/>
              </a:rPr>
              <a:t>Goal: film + boxes beside an editable report, an AI-vs-manual log while drafting, and a clean signed report.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PROBLEM</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Project objectives</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8" name="Shape 6"/>
          <p:cNvSpPr/>
          <p:nvPr/>
        </p:nvSpPr>
        <p:spPr>
          <a:xfrm>
            <a:off x="548640" y="1234440"/>
            <a:ext cx="5440680" cy="1508760"/>
          </a:xfrm>
          <a:prstGeom prst="rect">
            <a:avLst/>
          </a:prstGeom>
          <a:solidFill>
            <a:srgbClr val="F6F5EF"/>
          </a:solidFill>
          <a:ln w="9525">
            <a:solidFill>
              <a:srgbClr val="D6D3C4"/>
            </a:solidFill>
            <a:prstDash val="solid"/>
          </a:ln>
        </p:spPr>
      </p:sp>
      <p:sp>
        <p:nvSpPr>
          <p:cNvPr id="9" name="Shape 7"/>
          <p:cNvSpPr/>
          <p:nvPr/>
        </p:nvSpPr>
        <p:spPr>
          <a:xfrm>
            <a:off x="548640" y="1234440"/>
            <a:ext cx="64008" cy="1508760"/>
          </a:xfrm>
          <a:prstGeom prst="rect">
            <a:avLst/>
          </a:prstGeom>
          <a:solidFill>
            <a:srgbClr val="003366"/>
          </a:solidFill>
          <a:ln w="12700">
            <a:solidFill>
              <a:srgbClr val="003366"/>
            </a:solidFill>
            <a:prstDash val="solid"/>
          </a:ln>
        </p:spPr>
      </p:sp>
      <p:sp>
        <p:nvSpPr>
          <p:cNvPr id="10" name="Text 8"/>
          <p:cNvSpPr/>
          <p:nvPr/>
        </p:nvSpPr>
        <p:spPr>
          <a:xfrm>
            <a:off x="731520" y="1325880"/>
            <a:ext cx="5166360" cy="329184"/>
          </a:xfrm>
          <a:prstGeom prst="rect">
            <a:avLst/>
          </a:prstGeom>
          <a:noFill/>
          <a:ln/>
        </p:spPr>
        <p:txBody>
          <a:bodyPr wrap="square" lIns="0" tIns="0" rIns="0" bIns="0" rtlCol="0" anchor="t"/>
          <a:lstStyle/>
          <a:p>
            <a:pPr indent="0" marL="0">
              <a:buNone/>
            </a:pPr>
            <a:r>
              <a:rPr lang="en-US" sz="1600" b="1" dirty="0">
                <a:solidFill>
                  <a:srgbClr val="003366"/>
                </a:solidFill>
                <a:latin typeface="Calibri" pitchFamily="34" charset="0"/>
                <a:ea typeface="Calibri" pitchFamily="34" charset="-122"/>
                <a:cs typeface="Calibri" pitchFamily="34" charset="-120"/>
              </a:rPr>
              <a:t>1. Online prototype</a:t>
            </a:r>
            <a:endParaRPr lang="en-US" sz="1600" dirty="0"/>
          </a:p>
        </p:txBody>
      </p:sp>
      <p:sp>
        <p:nvSpPr>
          <p:cNvPr id="11" name="Text 9"/>
          <p:cNvSpPr/>
          <p:nvPr/>
        </p:nvSpPr>
        <p:spPr>
          <a:xfrm>
            <a:off x="731520" y="1691640"/>
            <a:ext cx="5166360" cy="978408"/>
          </a:xfrm>
          <a:prstGeom prst="rect">
            <a:avLst/>
          </a:prstGeom>
          <a:noFill/>
          <a:ln/>
        </p:spPr>
        <p:txBody>
          <a:bodyPr wrap="square" lIns="0" tIns="0" rIns="0" bIns="0" rtlCol="0" anchor="t"/>
          <a:lstStyle/>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Use the pretrained CURV model to assist radiologists by generating chest X-ray reports.</a:t>
            </a:r>
            <a:endParaRPr lang="en-US" sz="1400" dirty="0"/>
          </a:p>
        </p:txBody>
      </p:sp>
      <p:sp>
        <p:nvSpPr>
          <p:cNvPr id="12" name="Shape 10"/>
          <p:cNvSpPr/>
          <p:nvPr/>
        </p:nvSpPr>
        <p:spPr>
          <a:xfrm>
            <a:off x="6172200" y="1234440"/>
            <a:ext cx="5440680" cy="1508760"/>
          </a:xfrm>
          <a:prstGeom prst="rect">
            <a:avLst/>
          </a:prstGeom>
          <a:solidFill>
            <a:srgbClr val="F6F5EF"/>
          </a:solidFill>
          <a:ln w="9525">
            <a:solidFill>
              <a:srgbClr val="D6D3C4"/>
            </a:solidFill>
            <a:prstDash val="solid"/>
          </a:ln>
        </p:spPr>
      </p:sp>
      <p:sp>
        <p:nvSpPr>
          <p:cNvPr id="13" name="Shape 11"/>
          <p:cNvSpPr/>
          <p:nvPr/>
        </p:nvSpPr>
        <p:spPr>
          <a:xfrm>
            <a:off x="6172200" y="1234440"/>
            <a:ext cx="64008" cy="1508760"/>
          </a:xfrm>
          <a:prstGeom prst="rect">
            <a:avLst/>
          </a:prstGeom>
          <a:solidFill>
            <a:srgbClr val="003366"/>
          </a:solidFill>
          <a:ln w="12700">
            <a:solidFill>
              <a:srgbClr val="003366"/>
            </a:solidFill>
            <a:prstDash val="solid"/>
          </a:ln>
        </p:spPr>
      </p:sp>
      <p:sp>
        <p:nvSpPr>
          <p:cNvPr id="14" name="Text 12"/>
          <p:cNvSpPr/>
          <p:nvPr/>
        </p:nvSpPr>
        <p:spPr>
          <a:xfrm>
            <a:off x="6355080" y="1325880"/>
            <a:ext cx="5166360" cy="329184"/>
          </a:xfrm>
          <a:prstGeom prst="rect">
            <a:avLst/>
          </a:prstGeom>
          <a:noFill/>
          <a:ln/>
        </p:spPr>
        <p:txBody>
          <a:bodyPr wrap="square" lIns="0" tIns="0" rIns="0" bIns="0" rtlCol="0" anchor="t"/>
          <a:lstStyle/>
          <a:p>
            <a:pPr indent="0" marL="0">
              <a:buNone/>
            </a:pPr>
            <a:r>
              <a:rPr lang="en-US" sz="1600" b="1" dirty="0">
                <a:solidFill>
                  <a:srgbClr val="003366"/>
                </a:solidFill>
                <a:latin typeface="Calibri" pitchFamily="34" charset="0"/>
                <a:ea typeface="Calibri" pitchFamily="34" charset="-122"/>
                <a:cs typeface="Calibri" pitchFamily="34" charset="-120"/>
              </a:rPr>
              <a:t>2. Interactive interface</a:t>
            </a:r>
            <a:endParaRPr lang="en-US" sz="1600" dirty="0"/>
          </a:p>
        </p:txBody>
      </p:sp>
      <p:sp>
        <p:nvSpPr>
          <p:cNvPr id="15" name="Text 13"/>
          <p:cNvSpPr/>
          <p:nvPr/>
        </p:nvSpPr>
        <p:spPr>
          <a:xfrm>
            <a:off x="6355080" y="1691640"/>
            <a:ext cx="5166360" cy="978408"/>
          </a:xfrm>
          <a:prstGeom prst="rect">
            <a:avLst/>
          </a:prstGeom>
          <a:noFill/>
          <a:ln/>
        </p:spPr>
        <p:txBody>
          <a:bodyPr wrap="square" lIns="0" tIns="0" rIns="0" bIns="0" rtlCol="0" anchor="t"/>
          <a:lstStyle/>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Film with editable boxes and measurements beside an editable report; Word / PDF export.</a:t>
            </a:r>
            <a:endParaRPr lang="en-US" sz="1400" dirty="0"/>
          </a:p>
        </p:txBody>
      </p:sp>
      <p:sp>
        <p:nvSpPr>
          <p:cNvPr id="16" name="Shape 14"/>
          <p:cNvSpPr/>
          <p:nvPr/>
        </p:nvSpPr>
        <p:spPr>
          <a:xfrm>
            <a:off x="548640" y="2926080"/>
            <a:ext cx="5440680" cy="1508760"/>
          </a:xfrm>
          <a:prstGeom prst="rect">
            <a:avLst/>
          </a:prstGeom>
          <a:solidFill>
            <a:srgbClr val="F6F5EF"/>
          </a:solidFill>
          <a:ln w="9525">
            <a:solidFill>
              <a:srgbClr val="D6D3C4"/>
            </a:solidFill>
            <a:prstDash val="solid"/>
          </a:ln>
        </p:spPr>
      </p:sp>
      <p:sp>
        <p:nvSpPr>
          <p:cNvPr id="17" name="Shape 15"/>
          <p:cNvSpPr/>
          <p:nvPr/>
        </p:nvSpPr>
        <p:spPr>
          <a:xfrm>
            <a:off x="548640" y="2926080"/>
            <a:ext cx="64008" cy="1508760"/>
          </a:xfrm>
          <a:prstGeom prst="rect">
            <a:avLst/>
          </a:prstGeom>
          <a:solidFill>
            <a:srgbClr val="003366"/>
          </a:solidFill>
          <a:ln w="12700">
            <a:solidFill>
              <a:srgbClr val="003366"/>
            </a:solidFill>
            <a:prstDash val="solid"/>
          </a:ln>
        </p:spPr>
      </p:sp>
      <p:sp>
        <p:nvSpPr>
          <p:cNvPr id="18" name="Text 16"/>
          <p:cNvSpPr/>
          <p:nvPr/>
        </p:nvSpPr>
        <p:spPr>
          <a:xfrm>
            <a:off x="731520" y="3017520"/>
            <a:ext cx="5166360" cy="329184"/>
          </a:xfrm>
          <a:prstGeom prst="rect">
            <a:avLst/>
          </a:prstGeom>
          <a:noFill/>
          <a:ln/>
        </p:spPr>
        <p:txBody>
          <a:bodyPr wrap="square" lIns="0" tIns="0" rIns="0" bIns="0" rtlCol="0" anchor="t"/>
          <a:lstStyle/>
          <a:p>
            <a:pPr indent="0" marL="0">
              <a:buNone/>
            </a:pPr>
            <a:r>
              <a:rPr lang="en-US" sz="1600" b="1" dirty="0">
                <a:solidFill>
                  <a:srgbClr val="003366"/>
                </a:solidFill>
                <a:latin typeface="Calibri" pitchFamily="34" charset="0"/>
                <a:ea typeface="Calibri" pitchFamily="34" charset="-122"/>
                <a:cs typeface="Calibri" pitchFamily="34" charset="-120"/>
              </a:rPr>
              <a:t>3. Complete web information system</a:t>
            </a:r>
            <a:endParaRPr lang="en-US" sz="1600" dirty="0"/>
          </a:p>
        </p:txBody>
      </p:sp>
      <p:sp>
        <p:nvSpPr>
          <p:cNvPr id="19" name="Text 17"/>
          <p:cNvSpPr/>
          <p:nvPr/>
        </p:nvSpPr>
        <p:spPr>
          <a:xfrm>
            <a:off x="731520" y="3383280"/>
            <a:ext cx="5166360" cy="978408"/>
          </a:xfrm>
          <a:prstGeom prst="rect">
            <a:avLst/>
          </a:prstGeom>
          <a:noFill/>
          <a:ln/>
        </p:spPr>
        <p:txBody>
          <a:bodyPr wrap="square" lIns="0" tIns="0" rIns="0" bIns="0" rtlCol="0" anchor="t"/>
          <a:lstStyle/>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Sessions, roles, asynchronous inference, persistence, audit and document generation.</a:t>
            </a:r>
            <a:endParaRPr lang="en-US" sz="1400" dirty="0"/>
          </a:p>
        </p:txBody>
      </p:sp>
      <p:sp>
        <p:nvSpPr>
          <p:cNvPr id="20" name="Shape 18"/>
          <p:cNvSpPr/>
          <p:nvPr/>
        </p:nvSpPr>
        <p:spPr>
          <a:xfrm>
            <a:off x="6172200" y="2926080"/>
            <a:ext cx="5440680" cy="1508760"/>
          </a:xfrm>
          <a:prstGeom prst="rect">
            <a:avLst/>
          </a:prstGeom>
          <a:solidFill>
            <a:srgbClr val="F6F5EF"/>
          </a:solidFill>
          <a:ln w="9525">
            <a:solidFill>
              <a:srgbClr val="D6D3C4"/>
            </a:solidFill>
            <a:prstDash val="solid"/>
          </a:ln>
        </p:spPr>
      </p:sp>
      <p:sp>
        <p:nvSpPr>
          <p:cNvPr id="21" name="Shape 19"/>
          <p:cNvSpPr/>
          <p:nvPr/>
        </p:nvSpPr>
        <p:spPr>
          <a:xfrm>
            <a:off x="6172200" y="2926080"/>
            <a:ext cx="64008" cy="1508760"/>
          </a:xfrm>
          <a:prstGeom prst="rect">
            <a:avLst/>
          </a:prstGeom>
          <a:solidFill>
            <a:srgbClr val="003366"/>
          </a:solidFill>
          <a:ln w="12700">
            <a:solidFill>
              <a:srgbClr val="003366"/>
            </a:solidFill>
            <a:prstDash val="solid"/>
          </a:ln>
        </p:spPr>
      </p:sp>
      <p:sp>
        <p:nvSpPr>
          <p:cNvPr id="22" name="Text 20"/>
          <p:cNvSpPr/>
          <p:nvPr/>
        </p:nvSpPr>
        <p:spPr>
          <a:xfrm>
            <a:off x="6355080" y="3017520"/>
            <a:ext cx="5166360" cy="329184"/>
          </a:xfrm>
          <a:prstGeom prst="rect">
            <a:avLst/>
          </a:prstGeom>
          <a:noFill/>
          <a:ln/>
        </p:spPr>
        <p:txBody>
          <a:bodyPr wrap="square" lIns="0" tIns="0" rIns="0" bIns="0" rtlCol="0" anchor="t"/>
          <a:lstStyle/>
          <a:p>
            <a:pPr indent="0" marL="0">
              <a:buNone/>
            </a:pPr>
            <a:r>
              <a:rPr lang="en-US" sz="1600" b="1" dirty="0">
                <a:solidFill>
                  <a:srgbClr val="003366"/>
                </a:solidFill>
                <a:latin typeface="Calibri" pitchFamily="34" charset="0"/>
                <a:ea typeface="Calibri" pitchFamily="34" charset="-122"/>
                <a:cs typeface="Calibri" pitchFamily="34" charset="-120"/>
              </a:rPr>
              <a:t>4. Radiologist in the loop</a:t>
            </a:r>
            <a:endParaRPr lang="en-US" sz="1600" dirty="0"/>
          </a:p>
        </p:txBody>
      </p:sp>
      <p:sp>
        <p:nvSpPr>
          <p:cNvPr id="23" name="Text 21"/>
          <p:cNvSpPr/>
          <p:nvPr/>
        </p:nvSpPr>
        <p:spPr>
          <a:xfrm>
            <a:off x="6355080" y="3383280"/>
            <a:ext cx="5166360" cy="978408"/>
          </a:xfrm>
          <a:prstGeom prst="rect">
            <a:avLst/>
          </a:prstGeom>
          <a:noFill/>
          <a:ln/>
        </p:spPr>
        <p:txBody>
          <a:bodyPr wrap="square" lIns="0" tIns="0" rIns="0" bIns="0" rtlCol="0" anchor="t"/>
          <a:lstStyle/>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AI output is always a draft until a radiologist endorses it. Doctors read endorsed reports only.</a:t>
            </a:r>
            <a:endParaRPr lang="en-US" sz="1400" dirty="0"/>
          </a:p>
        </p:txBody>
      </p:sp>
      <p:sp>
        <p:nvSpPr>
          <p:cNvPr id="24" name="Shape 22"/>
          <p:cNvSpPr/>
          <p:nvPr/>
        </p:nvSpPr>
        <p:spPr>
          <a:xfrm>
            <a:off x="548640" y="4617720"/>
            <a:ext cx="5440680" cy="1508760"/>
          </a:xfrm>
          <a:prstGeom prst="rect">
            <a:avLst/>
          </a:prstGeom>
          <a:solidFill>
            <a:srgbClr val="F6F5EF"/>
          </a:solidFill>
          <a:ln w="9525">
            <a:solidFill>
              <a:srgbClr val="D6D3C4"/>
            </a:solidFill>
            <a:prstDash val="solid"/>
          </a:ln>
        </p:spPr>
      </p:sp>
      <p:sp>
        <p:nvSpPr>
          <p:cNvPr id="25" name="Shape 23"/>
          <p:cNvSpPr/>
          <p:nvPr/>
        </p:nvSpPr>
        <p:spPr>
          <a:xfrm>
            <a:off x="548640" y="4617720"/>
            <a:ext cx="64008" cy="1508760"/>
          </a:xfrm>
          <a:prstGeom prst="rect">
            <a:avLst/>
          </a:prstGeom>
          <a:solidFill>
            <a:srgbClr val="003366"/>
          </a:solidFill>
          <a:ln w="12700">
            <a:solidFill>
              <a:srgbClr val="003366"/>
            </a:solidFill>
            <a:prstDash val="solid"/>
          </a:ln>
        </p:spPr>
      </p:sp>
      <p:sp>
        <p:nvSpPr>
          <p:cNvPr id="26" name="Text 24"/>
          <p:cNvSpPr/>
          <p:nvPr/>
        </p:nvSpPr>
        <p:spPr>
          <a:xfrm>
            <a:off x="731520" y="4709160"/>
            <a:ext cx="5166360" cy="329184"/>
          </a:xfrm>
          <a:prstGeom prst="rect">
            <a:avLst/>
          </a:prstGeom>
          <a:noFill/>
          <a:ln/>
        </p:spPr>
        <p:txBody>
          <a:bodyPr wrap="square" lIns="0" tIns="0" rIns="0" bIns="0" rtlCol="0" anchor="t"/>
          <a:lstStyle/>
          <a:p>
            <a:pPr indent="0" marL="0">
              <a:buNone/>
            </a:pPr>
            <a:r>
              <a:rPr lang="en-US" sz="1600" b="1" dirty="0">
                <a:solidFill>
                  <a:srgbClr val="003366"/>
                </a:solidFill>
                <a:latin typeface="Calibri" pitchFamily="34" charset="0"/>
                <a:ea typeface="Calibri" pitchFamily="34" charset="-122"/>
                <a:cs typeface="Calibri" pitchFamily="34" charset="-120"/>
              </a:rPr>
              <a:t>5. Clinical context</a:t>
            </a:r>
            <a:endParaRPr lang="en-US" sz="1600" dirty="0"/>
          </a:p>
        </p:txBody>
      </p:sp>
      <p:sp>
        <p:nvSpPr>
          <p:cNvPr id="27" name="Text 25"/>
          <p:cNvSpPr/>
          <p:nvPr/>
        </p:nvSpPr>
        <p:spPr>
          <a:xfrm>
            <a:off x="731520" y="5074920"/>
            <a:ext cx="5166360" cy="978408"/>
          </a:xfrm>
          <a:prstGeom prst="rect">
            <a:avLst/>
          </a:prstGeom>
          <a:noFill/>
          <a:ln/>
        </p:spPr>
        <p:txBody>
          <a:bodyPr wrap="square" lIns="0" tIns="0" rIns="0" bIns="0" rtlCol="0" anchor="t"/>
          <a:lstStyle/>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Patient Master chart with vitals, labs, care notes and a teaching sepsis screen beside imaging.</a:t>
            </a:r>
            <a:endParaRPr lang="en-US" sz="1400" dirty="0"/>
          </a:p>
        </p:txBody>
      </p:sp>
      <p:sp>
        <p:nvSpPr>
          <p:cNvPr id="28" name="Shape 26"/>
          <p:cNvSpPr/>
          <p:nvPr/>
        </p:nvSpPr>
        <p:spPr>
          <a:xfrm>
            <a:off x="6172200" y="4617720"/>
            <a:ext cx="5440680" cy="1508760"/>
          </a:xfrm>
          <a:prstGeom prst="rect">
            <a:avLst/>
          </a:prstGeom>
          <a:solidFill>
            <a:srgbClr val="F6F5EF"/>
          </a:solidFill>
          <a:ln w="9525">
            <a:solidFill>
              <a:srgbClr val="D6D3C4"/>
            </a:solidFill>
            <a:prstDash val="solid"/>
          </a:ln>
        </p:spPr>
      </p:sp>
      <p:sp>
        <p:nvSpPr>
          <p:cNvPr id="29" name="Shape 27"/>
          <p:cNvSpPr/>
          <p:nvPr/>
        </p:nvSpPr>
        <p:spPr>
          <a:xfrm>
            <a:off x="6172200" y="4617720"/>
            <a:ext cx="64008" cy="1508760"/>
          </a:xfrm>
          <a:prstGeom prst="rect">
            <a:avLst/>
          </a:prstGeom>
          <a:solidFill>
            <a:srgbClr val="003366"/>
          </a:solidFill>
          <a:ln w="12700">
            <a:solidFill>
              <a:srgbClr val="003366"/>
            </a:solidFill>
            <a:prstDash val="solid"/>
          </a:ln>
        </p:spPr>
      </p:sp>
      <p:sp>
        <p:nvSpPr>
          <p:cNvPr id="30" name="Text 28"/>
          <p:cNvSpPr/>
          <p:nvPr/>
        </p:nvSpPr>
        <p:spPr>
          <a:xfrm>
            <a:off x="6355080" y="4709160"/>
            <a:ext cx="5166360" cy="329184"/>
          </a:xfrm>
          <a:prstGeom prst="rect">
            <a:avLst/>
          </a:prstGeom>
          <a:noFill/>
          <a:ln/>
        </p:spPr>
        <p:txBody>
          <a:bodyPr wrap="square" lIns="0" tIns="0" rIns="0" bIns="0" rtlCol="0" anchor="t"/>
          <a:lstStyle/>
          <a:p>
            <a:pPr indent="0" marL="0">
              <a:buNone/>
            </a:pPr>
            <a:r>
              <a:rPr lang="en-US" sz="1600" b="1" dirty="0">
                <a:solidFill>
                  <a:srgbClr val="003366"/>
                </a:solidFill>
                <a:latin typeface="Calibri" pitchFamily="34" charset="0"/>
                <a:ea typeface="Calibri" pitchFamily="34" charset="-122"/>
                <a:cs typeface="Calibri" pitchFamily="34" charset="-120"/>
              </a:rPr>
              <a:t>6. Run locally, deploy later</a:t>
            </a:r>
            <a:endParaRPr lang="en-US" sz="1600" dirty="0"/>
          </a:p>
        </p:txBody>
      </p:sp>
      <p:sp>
        <p:nvSpPr>
          <p:cNvPr id="31" name="Text 29"/>
          <p:cNvSpPr/>
          <p:nvPr/>
        </p:nvSpPr>
        <p:spPr>
          <a:xfrm>
            <a:off x="6355080" y="5074920"/>
            <a:ext cx="5166360" cy="978408"/>
          </a:xfrm>
          <a:prstGeom prst="rect">
            <a:avLst/>
          </a:prstGeom>
          <a:noFill/>
          <a:ln/>
        </p:spPr>
        <p:txBody>
          <a:bodyPr wrap="square" lIns="0" tIns="0" rIns="0" bIns="0" rtlCol="0" anchor="t"/>
          <a:lstStyle/>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Semester 1 on a local Mac (CURV on Apple Silicon); optional hosted deployment in Semester 2.</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SOLUTION</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Solution overview: four roles, one workflow</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8" name="Text 6"/>
          <p:cNvSpPr/>
          <p:nvPr/>
        </p:nvSpPr>
        <p:spPr>
          <a:xfrm>
            <a:off x="548640" y="1097280"/>
            <a:ext cx="11064240" cy="54864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Role-separated, clinician-in-the-loop web application presented in a hospital CMS-style shell (beige title bar, MODULES column, RIS-style worklist).</a:t>
            </a:r>
            <a:endParaRPr lang="en-US" sz="1600" dirty="0"/>
          </a:p>
        </p:txBody>
      </p:sp>
      <p:sp>
        <p:nvSpPr>
          <p:cNvPr id="9" name="Shape 7"/>
          <p:cNvSpPr/>
          <p:nvPr/>
        </p:nvSpPr>
        <p:spPr>
          <a:xfrm>
            <a:off x="548640" y="1828800"/>
            <a:ext cx="2651760" cy="3063240"/>
          </a:xfrm>
          <a:prstGeom prst="rect">
            <a:avLst/>
          </a:prstGeom>
          <a:solidFill>
            <a:srgbClr val="FFFFFF"/>
          </a:solidFill>
          <a:ln w="19050">
            <a:solidFill>
              <a:srgbClr val="00509E"/>
            </a:solidFill>
            <a:prstDash val="solid"/>
          </a:ln>
        </p:spPr>
      </p:sp>
      <p:sp>
        <p:nvSpPr>
          <p:cNvPr id="10" name="Shape 8"/>
          <p:cNvSpPr/>
          <p:nvPr/>
        </p:nvSpPr>
        <p:spPr>
          <a:xfrm>
            <a:off x="548640" y="1828800"/>
            <a:ext cx="2651760" cy="502920"/>
          </a:xfrm>
          <a:prstGeom prst="rect">
            <a:avLst/>
          </a:prstGeom>
          <a:solidFill>
            <a:srgbClr val="00509E"/>
          </a:solidFill>
          <a:ln w="12700">
            <a:solidFill>
              <a:srgbClr val="00509E"/>
            </a:solidFill>
            <a:prstDash val="solid"/>
          </a:ln>
        </p:spPr>
      </p:sp>
      <p:sp>
        <p:nvSpPr>
          <p:cNvPr id="11" name="Text 9"/>
          <p:cNvSpPr/>
          <p:nvPr/>
        </p:nvSpPr>
        <p:spPr>
          <a:xfrm>
            <a:off x="548640" y="1828800"/>
            <a:ext cx="265176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Referring doctor</a:t>
            </a:r>
            <a:endParaRPr lang="en-US" sz="1600" dirty="0"/>
          </a:p>
        </p:txBody>
      </p:sp>
      <p:sp>
        <p:nvSpPr>
          <p:cNvPr id="12" name="Text 10"/>
          <p:cNvSpPr/>
          <p:nvPr/>
        </p:nvSpPr>
        <p:spPr>
          <a:xfrm>
            <a:off x="685800" y="2468880"/>
            <a:ext cx="2423160" cy="2331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Books a chest X-ray on a calendar</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Reads endorsed reports only</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Orders labs on the chart</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Exports Word / PDF</a:t>
            </a:r>
            <a:endParaRPr lang="en-US" sz="1300" dirty="0"/>
          </a:p>
        </p:txBody>
      </p:sp>
      <p:sp>
        <p:nvSpPr>
          <p:cNvPr id="13" name="Shape 11"/>
          <p:cNvSpPr/>
          <p:nvPr/>
        </p:nvSpPr>
        <p:spPr>
          <a:xfrm>
            <a:off x="3383280" y="1828800"/>
            <a:ext cx="2651760" cy="3063240"/>
          </a:xfrm>
          <a:prstGeom prst="rect">
            <a:avLst/>
          </a:prstGeom>
          <a:solidFill>
            <a:srgbClr val="FFFFFF"/>
          </a:solidFill>
          <a:ln w="19050">
            <a:solidFill>
              <a:srgbClr val="008080"/>
            </a:solidFill>
            <a:prstDash val="solid"/>
          </a:ln>
        </p:spPr>
      </p:sp>
      <p:sp>
        <p:nvSpPr>
          <p:cNvPr id="14" name="Shape 12"/>
          <p:cNvSpPr/>
          <p:nvPr/>
        </p:nvSpPr>
        <p:spPr>
          <a:xfrm>
            <a:off x="3383280" y="1828800"/>
            <a:ext cx="2651760" cy="502920"/>
          </a:xfrm>
          <a:prstGeom prst="rect">
            <a:avLst/>
          </a:prstGeom>
          <a:solidFill>
            <a:srgbClr val="008080"/>
          </a:solidFill>
          <a:ln w="12700">
            <a:solidFill>
              <a:srgbClr val="008080"/>
            </a:solidFill>
            <a:prstDash val="solid"/>
          </a:ln>
        </p:spPr>
      </p:sp>
      <p:sp>
        <p:nvSpPr>
          <p:cNvPr id="15" name="Text 13"/>
          <p:cNvSpPr/>
          <p:nvPr/>
        </p:nvSpPr>
        <p:spPr>
          <a:xfrm>
            <a:off x="3383280" y="1828800"/>
            <a:ext cx="265176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Technician</a:t>
            </a:r>
            <a:endParaRPr lang="en-US" sz="1600" dirty="0"/>
          </a:p>
        </p:txBody>
      </p:sp>
      <p:sp>
        <p:nvSpPr>
          <p:cNvPr id="16" name="Text 14"/>
          <p:cNvSpPr/>
          <p:nvPr/>
        </p:nvSpPr>
        <p:spPr>
          <a:xfrm>
            <a:off x="3520440" y="2468880"/>
            <a:ext cx="2423160" cy="2331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Sees the requested-case queue</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Registers (uploads) the film</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CURV starts automatically</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Never sees the film or report afterwards</a:t>
            </a:r>
            <a:endParaRPr lang="en-US" sz="1300" dirty="0"/>
          </a:p>
        </p:txBody>
      </p:sp>
      <p:sp>
        <p:nvSpPr>
          <p:cNvPr id="17" name="Shape 15"/>
          <p:cNvSpPr/>
          <p:nvPr/>
        </p:nvSpPr>
        <p:spPr>
          <a:xfrm>
            <a:off x="6217920" y="1828800"/>
            <a:ext cx="2651760" cy="3063240"/>
          </a:xfrm>
          <a:prstGeom prst="rect">
            <a:avLst/>
          </a:prstGeom>
          <a:solidFill>
            <a:srgbClr val="FFFFFF"/>
          </a:solidFill>
          <a:ln w="19050">
            <a:solidFill>
              <a:srgbClr val="003366"/>
            </a:solidFill>
            <a:prstDash val="solid"/>
          </a:ln>
        </p:spPr>
      </p:sp>
      <p:sp>
        <p:nvSpPr>
          <p:cNvPr id="18" name="Shape 16"/>
          <p:cNvSpPr/>
          <p:nvPr/>
        </p:nvSpPr>
        <p:spPr>
          <a:xfrm>
            <a:off x="6217920" y="1828800"/>
            <a:ext cx="2651760" cy="502920"/>
          </a:xfrm>
          <a:prstGeom prst="rect">
            <a:avLst/>
          </a:prstGeom>
          <a:solidFill>
            <a:srgbClr val="003366"/>
          </a:solidFill>
          <a:ln w="12700">
            <a:solidFill>
              <a:srgbClr val="003366"/>
            </a:solidFill>
            <a:prstDash val="solid"/>
          </a:ln>
        </p:spPr>
      </p:sp>
      <p:sp>
        <p:nvSpPr>
          <p:cNvPr id="19" name="Text 17"/>
          <p:cNvSpPr/>
          <p:nvPr/>
        </p:nvSpPr>
        <p:spPr>
          <a:xfrm>
            <a:off x="6217920" y="1828800"/>
            <a:ext cx="265176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Radiologist</a:t>
            </a:r>
            <a:endParaRPr lang="en-US" sz="1600" dirty="0"/>
          </a:p>
        </p:txBody>
      </p:sp>
      <p:sp>
        <p:nvSpPr>
          <p:cNvPr id="20" name="Text 18"/>
          <p:cNvSpPr/>
          <p:nvPr/>
        </p:nvSpPr>
        <p:spPr>
          <a:xfrm>
            <a:off x="6355080" y="2468880"/>
            <a:ext cx="2423160" cy="2331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Works the X-ray worklist</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Edits report, boxes, measurements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Endorses (signs) the report</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Shares an endorsed report</a:t>
            </a:r>
            <a:endParaRPr lang="en-US" sz="1300" dirty="0"/>
          </a:p>
        </p:txBody>
      </p:sp>
      <p:sp>
        <p:nvSpPr>
          <p:cNvPr id="21" name="Shape 19"/>
          <p:cNvSpPr/>
          <p:nvPr/>
        </p:nvSpPr>
        <p:spPr>
          <a:xfrm>
            <a:off x="9052560" y="1828800"/>
            <a:ext cx="2651760" cy="3063240"/>
          </a:xfrm>
          <a:prstGeom prst="rect">
            <a:avLst/>
          </a:prstGeom>
          <a:solidFill>
            <a:srgbClr val="FFFFFF"/>
          </a:solidFill>
          <a:ln w="19050">
            <a:solidFill>
              <a:srgbClr val="B54708"/>
            </a:solidFill>
            <a:prstDash val="solid"/>
          </a:ln>
        </p:spPr>
      </p:sp>
      <p:sp>
        <p:nvSpPr>
          <p:cNvPr id="22" name="Shape 20"/>
          <p:cNvSpPr/>
          <p:nvPr/>
        </p:nvSpPr>
        <p:spPr>
          <a:xfrm>
            <a:off x="9052560" y="1828800"/>
            <a:ext cx="2651760" cy="502920"/>
          </a:xfrm>
          <a:prstGeom prst="rect">
            <a:avLst/>
          </a:prstGeom>
          <a:solidFill>
            <a:srgbClr val="B54708"/>
          </a:solidFill>
          <a:ln w="12700">
            <a:solidFill>
              <a:srgbClr val="B54708"/>
            </a:solidFill>
            <a:prstDash val="solid"/>
          </a:ln>
        </p:spPr>
      </p:sp>
      <p:sp>
        <p:nvSpPr>
          <p:cNvPr id="23" name="Text 21"/>
          <p:cNvSpPr/>
          <p:nvPr/>
        </p:nvSpPr>
        <p:spPr>
          <a:xfrm>
            <a:off x="9052560" y="1828800"/>
            <a:ext cx="265176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Administrator</a:t>
            </a:r>
            <a:endParaRPr lang="en-US" sz="1600" dirty="0"/>
          </a:p>
        </p:txBody>
      </p:sp>
      <p:sp>
        <p:nvSpPr>
          <p:cNvPr id="24" name="Text 22"/>
          <p:cNvSpPr/>
          <p:nvPr/>
        </p:nvSpPr>
        <p:spPr>
          <a:xfrm>
            <a:off x="9189720" y="2468880"/>
            <a:ext cx="2423160" cy="2331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Everything a radiologist can do</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Adds / disables users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Reads the audit log</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Bulk-deletes test data</a:t>
            </a:r>
            <a:endParaRPr lang="en-US" sz="1300" dirty="0"/>
          </a:p>
        </p:txBody>
      </p:sp>
      <p:sp>
        <p:nvSpPr>
          <p:cNvPr id="25" name="Shape 23"/>
          <p:cNvSpPr/>
          <p:nvPr/>
        </p:nvSpPr>
        <p:spPr>
          <a:xfrm>
            <a:off x="548640" y="5120640"/>
            <a:ext cx="11064240" cy="960120"/>
          </a:xfrm>
          <a:prstGeom prst="rect">
            <a:avLst/>
          </a:prstGeom>
          <a:solidFill>
            <a:srgbClr val="003366"/>
          </a:solidFill>
          <a:ln w="12700">
            <a:solidFill>
              <a:srgbClr val="003366"/>
            </a:solidFill>
            <a:prstDash val="solid"/>
          </a:ln>
        </p:spPr>
      </p:sp>
      <p:sp>
        <p:nvSpPr>
          <p:cNvPr id="26" name="Text 24"/>
          <p:cNvSpPr/>
          <p:nvPr/>
        </p:nvSpPr>
        <p:spPr>
          <a:xfrm>
            <a:off x="777240" y="5120640"/>
            <a:ext cx="10607040" cy="960120"/>
          </a:xfrm>
          <a:prstGeom prst="rect">
            <a:avLst/>
          </a:prstGeom>
          <a:noFill/>
          <a:ln/>
        </p:spPr>
        <p:txBody>
          <a:bodyPr wrap="square" lIns="0" tIns="0" rIns="0" bIns="0" rtlCol="0" anchor="ctr"/>
          <a:lstStyle/>
          <a:p>
            <a:pPr indent="0" marL="0">
              <a:buNone/>
            </a:pPr>
            <a:r>
              <a:rPr lang="en-US" sz="1500" b="1" dirty="0">
                <a:solidFill>
                  <a:srgbClr val="9CC9C9"/>
                </a:solidFill>
                <a:latin typeface="Calibri" pitchFamily="34" charset="0"/>
                <a:ea typeface="Calibri" pitchFamily="34" charset="-122"/>
                <a:cs typeface="Calibri" pitchFamily="34" charset="-120"/>
              </a:rPr>
              <a:t>Control principle:  </a:t>
            </a:r>
            <a:r>
              <a:rPr lang="en-US" sz="1500" dirty="0">
                <a:solidFill>
                  <a:srgbClr val="FFFFFF"/>
                </a:solidFill>
                <a:latin typeface="Calibri" pitchFamily="34" charset="0"/>
                <a:ea typeface="Calibri" pitchFamily="34" charset="-122"/>
                <a:cs typeface="Calibri" pitchFamily="34" charset="-120"/>
              </a:rPr>
              <a:t>AI drafts → the radiologist edits and endorses → only then does the referring doctor see the report. AI never signs, and the issued report carries no AI / manual markings.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SOLUTION</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System architecture</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8" name="Shape 6"/>
          <p:cNvSpPr/>
          <p:nvPr/>
        </p:nvSpPr>
        <p:spPr>
          <a:xfrm>
            <a:off x="548640" y="2514600"/>
            <a:ext cx="2194560" cy="1188720"/>
          </a:xfrm>
          <a:prstGeom prst="roundRect">
            <a:avLst>
              <a:gd name="adj" fmla="val 6154"/>
            </a:avLst>
          </a:prstGeom>
          <a:solidFill>
            <a:srgbClr val="EEF4FA"/>
          </a:solidFill>
          <a:ln w="19050">
            <a:solidFill>
              <a:srgbClr val="003366"/>
            </a:solidFill>
            <a:prstDash val="solid"/>
          </a:ln>
        </p:spPr>
      </p:sp>
      <p:sp>
        <p:nvSpPr>
          <p:cNvPr id="9" name="Text 7"/>
          <p:cNvSpPr/>
          <p:nvPr/>
        </p:nvSpPr>
        <p:spPr>
          <a:xfrm>
            <a:off x="548640" y="2514600"/>
            <a:ext cx="2194560" cy="1188720"/>
          </a:xfrm>
          <a:prstGeom prst="rect">
            <a:avLst/>
          </a:prstGeom>
          <a:noFill/>
          <a:ln/>
        </p:spPr>
        <p:txBody>
          <a:bodyPr wrap="square" lIns="50800" tIns="50800" rIns="50800" bIns="50800" rtlCol="0" anchor="ctr"/>
          <a:lstStyle/>
          <a:p>
            <a:pPr algn="ctr" indent="0" marL="0">
              <a:buNone/>
            </a:pPr>
            <a:r>
              <a:rPr lang="en-US" sz="1400" b="1" dirty="0">
                <a:solidFill>
                  <a:srgbClr val="003366"/>
                </a:solidFill>
                <a:latin typeface="Calibri" pitchFamily="34" charset="0"/>
                <a:ea typeface="Calibri" pitchFamily="34" charset="-122"/>
                <a:cs typeface="Calibri" pitchFamily="34" charset="-120"/>
              </a:rPr>
              <a:t>Browser SPA</a:t>
            </a:r>
            <a:endParaRPr lang="en-US" sz="1400" dirty="0"/>
          </a:p>
          <a:p>
            <a:pPr algn="ctr" indent="0" marL="0">
              <a:buNone/>
            </a:pPr>
            <a:r>
              <a:rPr lang="en-US" sz="1050" dirty="0">
                <a:solidFill>
                  <a:srgbClr val="5B6472"/>
                </a:solidFill>
                <a:latin typeface="Calibri" pitchFamily="34" charset="0"/>
                <a:ea typeface="Calibri" pitchFamily="34" charset="-122"/>
                <a:cs typeface="Calibri" pitchFamily="34" charset="-120"/>
              </a:rPr>
              <a:t>Vite :5173 · Vanilla JS</a:t>
            </a:r>
            <a:endParaRPr lang="en-US" sz="1400" dirty="0"/>
          </a:p>
          <a:p>
            <a:pPr algn="ctr" indent="0" marL="0">
              <a:buNone/>
            </a:pPr>
            <a:r>
              <a:rPr lang="en-US" sz="1050" dirty="0">
                <a:solidFill>
                  <a:srgbClr val="5B6472"/>
                </a:solidFill>
                <a:latin typeface="Calibri" pitchFamily="34" charset="0"/>
                <a:ea typeface="Calibri" pitchFamily="34" charset="-122"/>
                <a:cs typeface="Calibri" pitchFamily="34" charset="-120"/>
              </a:rPr>
              <a:t>Tailwind CSS</a:t>
            </a:r>
            <a:endParaRPr lang="en-US" sz="1400" dirty="0"/>
          </a:p>
        </p:txBody>
      </p:sp>
      <p:sp>
        <p:nvSpPr>
          <p:cNvPr id="10" name="Shape 8"/>
          <p:cNvSpPr/>
          <p:nvPr/>
        </p:nvSpPr>
        <p:spPr>
          <a:xfrm>
            <a:off x="3657600" y="2331720"/>
            <a:ext cx="2651760" cy="1554480"/>
          </a:xfrm>
          <a:prstGeom prst="roundRect">
            <a:avLst>
              <a:gd name="adj" fmla="val 4706"/>
            </a:avLst>
          </a:prstGeom>
          <a:solidFill>
            <a:srgbClr val="EEF4FA"/>
          </a:solidFill>
          <a:ln w="19050">
            <a:solidFill>
              <a:srgbClr val="003366"/>
            </a:solidFill>
            <a:prstDash val="solid"/>
          </a:ln>
        </p:spPr>
      </p:sp>
      <p:sp>
        <p:nvSpPr>
          <p:cNvPr id="11" name="Text 9"/>
          <p:cNvSpPr/>
          <p:nvPr/>
        </p:nvSpPr>
        <p:spPr>
          <a:xfrm>
            <a:off x="3657600" y="2331720"/>
            <a:ext cx="2651760" cy="1554480"/>
          </a:xfrm>
          <a:prstGeom prst="rect">
            <a:avLst/>
          </a:prstGeom>
          <a:noFill/>
          <a:ln/>
        </p:spPr>
        <p:txBody>
          <a:bodyPr wrap="square" lIns="50800" tIns="50800" rIns="50800" bIns="50800" rtlCol="0" anchor="ctr"/>
          <a:lstStyle/>
          <a:p>
            <a:pPr algn="ctr" indent="0" marL="0">
              <a:buNone/>
            </a:pPr>
            <a:r>
              <a:rPr lang="en-US" sz="1400" b="1" dirty="0">
                <a:solidFill>
                  <a:srgbClr val="003366"/>
                </a:solidFill>
                <a:latin typeface="Calibri" pitchFamily="34" charset="0"/>
                <a:ea typeface="Calibri" pitchFamily="34" charset="-122"/>
                <a:cs typeface="Calibri" pitchFamily="34" charset="-120"/>
              </a:rPr>
              <a:t>Express API</a:t>
            </a:r>
            <a:endParaRPr lang="en-US" sz="1400" dirty="0"/>
          </a:p>
          <a:p>
            <a:pPr algn="ctr" indent="0" marL="0">
              <a:buNone/>
            </a:pPr>
            <a:r>
              <a:rPr lang="en-US" sz="1050" dirty="0">
                <a:solidFill>
                  <a:srgbClr val="5B6472"/>
                </a:solidFill>
                <a:latin typeface="Calibri" pitchFamily="34" charset="0"/>
                <a:ea typeface="Calibri" pitchFamily="34" charset="-122"/>
                <a:cs typeface="Calibri" pitchFamily="34" charset="-120"/>
              </a:rPr>
              <a:t>Node :5002</a:t>
            </a:r>
            <a:endParaRPr lang="en-US" sz="1400" dirty="0"/>
          </a:p>
          <a:p>
            <a:pPr algn="ctr" indent="0" marL="0">
              <a:buNone/>
            </a:pPr>
            <a:r>
              <a:rPr lang="en-US" sz="1050" dirty="0">
                <a:solidFill>
                  <a:srgbClr val="5B6472"/>
                </a:solidFill>
                <a:latin typeface="Calibri" pitchFamily="34" charset="0"/>
                <a:ea typeface="Calibri" pitchFamily="34" charset="-122"/>
                <a:cs typeface="Calibri" pitchFamily="34" charset="-120"/>
              </a:rPr>
              <a:t>JWT · role checks · audit</a:t>
            </a:r>
            <a:endParaRPr lang="en-US" sz="1400" dirty="0"/>
          </a:p>
          <a:p>
            <a:pPr algn="ctr" indent="0" marL="0">
              <a:buNone/>
            </a:pPr>
            <a:r>
              <a:rPr lang="en-US" sz="1050" dirty="0">
                <a:solidFill>
                  <a:srgbClr val="5B6472"/>
                </a:solidFill>
                <a:latin typeface="Calibri" pitchFamily="34" charset="0"/>
                <a:ea typeface="Calibri" pitchFamily="34" charset="-122"/>
                <a:cs typeface="Calibri" pitchFamily="34" charset="-120"/>
              </a:rPr>
              <a:t>GridFS images</a:t>
            </a:r>
            <a:endParaRPr lang="en-US" sz="1400" dirty="0"/>
          </a:p>
        </p:txBody>
      </p:sp>
      <p:sp>
        <p:nvSpPr>
          <p:cNvPr id="12" name="Shape 10"/>
          <p:cNvSpPr/>
          <p:nvPr/>
        </p:nvSpPr>
        <p:spPr>
          <a:xfrm>
            <a:off x="7498080" y="1188720"/>
            <a:ext cx="2286000" cy="960120"/>
          </a:xfrm>
          <a:prstGeom prst="roundRect">
            <a:avLst>
              <a:gd name="adj" fmla="val 7619"/>
            </a:avLst>
          </a:prstGeom>
          <a:solidFill>
            <a:srgbClr val="F6F5EF"/>
          </a:solidFill>
          <a:ln w="19050">
            <a:solidFill>
              <a:srgbClr val="003366"/>
            </a:solidFill>
            <a:prstDash val="solid"/>
          </a:ln>
        </p:spPr>
      </p:sp>
      <p:sp>
        <p:nvSpPr>
          <p:cNvPr id="13" name="Text 11"/>
          <p:cNvSpPr/>
          <p:nvPr/>
        </p:nvSpPr>
        <p:spPr>
          <a:xfrm>
            <a:off x="7498080" y="1188720"/>
            <a:ext cx="2286000" cy="960120"/>
          </a:xfrm>
          <a:prstGeom prst="rect">
            <a:avLst/>
          </a:prstGeom>
          <a:noFill/>
          <a:ln/>
        </p:spPr>
        <p:txBody>
          <a:bodyPr wrap="square" lIns="50800" tIns="50800" rIns="50800" bIns="50800" rtlCol="0" anchor="ctr"/>
          <a:lstStyle/>
          <a:p>
            <a:pPr algn="ctr" indent="0" marL="0">
              <a:buNone/>
            </a:pPr>
            <a:r>
              <a:rPr lang="en-US" sz="1400" b="1" dirty="0">
                <a:solidFill>
                  <a:srgbClr val="003366"/>
                </a:solidFill>
                <a:latin typeface="Calibri" pitchFamily="34" charset="0"/>
                <a:ea typeface="Calibri" pitchFamily="34" charset="-122"/>
                <a:cs typeface="Calibri" pitchFamily="34" charset="-120"/>
              </a:rPr>
              <a:t>Cosmos DB</a:t>
            </a:r>
            <a:endParaRPr lang="en-US" sz="1400" dirty="0"/>
          </a:p>
          <a:p>
            <a:pPr algn="ctr" indent="0" marL="0">
              <a:buNone/>
            </a:pPr>
            <a:r>
              <a:rPr lang="en-US" sz="1050" dirty="0">
                <a:solidFill>
                  <a:srgbClr val="5B6472"/>
                </a:solidFill>
                <a:latin typeface="Calibri" pitchFamily="34" charset="0"/>
                <a:ea typeface="Calibri" pitchFamily="34" charset="-122"/>
                <a:cs typeface="Calibri" pitchFamily="34" charset="-120"/>
              </a:rPr>
              <a:t>MongoDB API + GridFS</a:t>
            </a:r>
            <a:endParaRPr lang="en-US" sz="1400" dirty="0"/>
          </a:p>
        </p:txBody>
      </p:sp>
      <p:sp>
        <p:nvSpPr>
          <p:cNvPr id="14" name="Shape 12"/>
          <p:cNvSpPr/>
          <p:nvPr/>
        </p:nvSpPr>
        <p:spPr>
          <a:xfrm>
            <a:off x="7498080" y="2606040"/>
            <a:ext cx="2286000" cy="960120"/>
          </a:xfrm>
          <a:prstGeom prst="roundRect">
            <a:avLst>
              <a:gd name="adj" fmla="val 7619"/>
            </a:avLst>
          </a:prstGeom>
          <a:solidFill>
            <a:srgbClr val="F6F5EF"/>
          </a:solidFill>
          <a:ln w="19050">
            <a:solidFill>
              <a:srgbClr val="003366"/>
            </a:solidFill>
            <a:prstDash val="solid"/>
          </a:ln>
        </p:spPr>
      </p:sp>
      <p:sp>
        <p:nvSpPr>
          <p:cNvPr id="15" name="Text 13"/>
          <p:cNvSpPr/>
          <p:nvPr/>
        </p:nvSpPr>
        <p:spPr>
          <a:xfrm>
            <a:off x="7498080" y="2606040"/>
            <a:ext cx="2286000" cy="960120"/>
          </a:xfrm>
          <a:prstGeom prst="rect">
            <a:avLst/>
          </a:prstGeom>
          <a:noFill/>
          <a:ln/>
        </p:spPr>
        <p:txBody>
          <a:bodyPr wrap="square" lIns="50800" tIns="50800" rIns="50800" bIns="50800" rtlCol="0" anchor="ctr"/>
          <a:lstStyle/>
          <a:p>
            <a:pPr algn="ctr" indent="0" marL="0">
              <a:buNone/>
            </a:pPr>
            <a:r>
              <a:rPr lang="en-US" sz="1400" b="1" dirty="0">
                <a:solidFill>
                  <a:srgbClr val="003366"/>
                </a:solidFill>
                <a:latin typeface="Calibri" pitchFamily="34" charset="0"/>
                <a:ea typeface="Calibri" pitchFamily="34" charset="-122"/>
                <a:cs typeface="Calibri" pitchFamily="34" charset="-120"/>
              </a:rPr>
              <a:t>FastAPI middleware</a:t>
            </a:r>
            <a:endParaRPr lang="en-US" sz="1400" dirty="0"/>
          </a:p>
          <a:p>
            <a:pPr algn="ctr" indent="0" marL="0">
              <a:buNone/>
            </a:pPr>
            <a:r>
              <a:rPr lang="en-US" sz="1050" dirty="0">
                <a:solidFill>
                  <a:srgbClr val="5B6472"/>
                </a:solidFill>
                <a:latin typeface="Calibri" pitchFamily="34" charset="0"/>
                <a:ea typeface="Calibri" pitchFamily="34" charset="-122"/>
                <a:cs typeface="Calibri" pitchFamily="34" charset="-120"/>
              </a:rPr>
              <a:t>Python :8001</a:t>
            </a:r>
            <a:endParaRPr lang="en-US" sz="1400" dirty="0"/>
          </a:p>
        </p:txBody>
      </p:sp>
      <p:sp>
        <p:nvSpPr>
          <p:cNvPr id="16" name="Shape 14"/>
          <p:cNvSpPr/>
          <p:nvPr/>
        </p:nvSpPr>
        <p:spPr>
          <a:xfrm>
            <a:off x="10104120" y="2606040"/>
            <a:ext cx="1737360" cy="960120"/>
          </a:xfrm>
          <a:prstGeom prst="roundRect">
            <a:avLst>
              <a:gd name="adj" fmla="val 7619"/>
            </a:avLst>
          </a:prstGeom>
          <a:solidFill>
            <a:srgbClr val="E8F5EE"/>
          </a:solidFill>
          <a:ln w="19050">
            <a:solidFill>
              <a:srgbClr val="067647"/>
            </a:solidFill>
            <a:prstDash val="solid"/>
          </a:ln>
        </p:spPr>
      </p:sp>
      <p:sp>
        <p:nvSpPr>
          <p:cNvPr id="17" name="Text 15"/>
          <p:cNvSpPr/>
          <p:nvPr/>
        </p:nvSpPr>
        <p:spPr>
          <a:xfrm>
            <a:off x="10104120" y="2606040"/>
            <a:ext cx="1737360" cy="960120"/>
          </a:xfrm>
          <a:prstGeom prst="rect">
            <a:avLst/>
          </a:prstGeom>
          <a:noFill/>
          <a:ln/>
        </p:spPr>
        <p:txBody>
          <a:bodyPr wrap="square" lIns="50800" tIns="50800" rIns="50800" bIns="50800" rtlCol="0" anchor="ctr"/>
          <a:lstStyle/>
          <a:p>
            <a:pPr algn="ctr" indent="0" marL="0">
              <a:buNone/>
            </a:pPr>
            <a:r>
              <a:rPr lang="en-US" sz="1400" b="1" dirty="0">
                <a:solidFill>
                  <a:srgbClr val="067647"/>
                </a:solidFill>
                <a:latin typeface="Calibri" pitchFamily="34" charset="0"/>
                <a:ea typeface="Calibri" pitchFamily="34" charset="-122"/>
                <a:cs typeface="Calibri" pitchFamily="34" charset="-120"/>
              </a:rPr>
              <a:t>CURV</a:t>
            </a:r>
            <a:endParaRPr lang="en-US" sz="1400" dirty="0"/>
          </a:p>
          <a:p>
            <a:pPr algn="ctr" indent="0" marL="0">
              <a:buNone/>
            </a:pPr>
            <a:r>
              <a:rPr lang="en-US" sz="1050" dirty="0">
                <a:solidFill>
                  <a:srgbClr val="5B6472"/>
                </a:solidFill>
                <a:latin typeface="Calibri" pitchFamily="34" charset="0"/>
                <a:ea typeface="Calibri" pitchFamily="34" charset="-122"/>
                <a:cs typeface="Calibri" pitchFamily="34" charset="-120"/>
              </a:rPr>
              <a:t>mlx_vlm :8080</a:t>
            </a:r>
            <a:endParaRPr lang="en-US" sz="1400" dirty="0"/>
          </a:p>
          <a:p>
            <a:pPr algn="ctr" indent="0" marL="0">
              <a:buNone/>
            </a:pPr>
            <a:r>
              <a:rPr lang="en-US" sz="1050" dirty="0">
                <a:solidFill>
                  <a:srgbClr val="5B6472"/>
                </a:solidFill>
                <a:latin typeface="Calibri" pitchFamily="34" charset="0"/>
                <a:ea typeface="Calibri" pitchFamily="34" charset="-122"/>
                <a:cs typeface="Calibri" pitchFamily="34" charset="-120"/>
              </a:rPr>
              <a:t>Apple Silicon</a:t>
            </a:r>
            <a:endParaRPr lang="en-US" sz="1400" dirty="0"/>
          </a:p>
        </p:txBody>
      </p:sp>
      <p:sp>
        <p:nvSpPr>
          <p:cNvPr id="18" name="Shape 16"/>
          <p:cNvSpPr/>
          <p:nvPr/>
        </p:nvSpPr>
        <p:spPr>
          <a:xfrm>
            <a:off x="7498080" y="4069080"/>
            <a:ext cx="4343400" cy="960120"/>
          </a:xfrm>
          <a:prstGeom prst="roundRect">
            <a:avLst>
              <a:gd name="adj" fmla="val 7619"/>
            </a:avLst>
          </a:prstGeom>
          <a:solidFill>
            <a:srgbClr val="FEF4E6"/>
          </a:solidFill>
          <a:ln w="19050">
            <a:solidFill>
              <a:srgbClr val="B54708"/>
            </a:solidFill>
            <a:prstDash val="solid"/>
          </a:ln>
        </p:spPr>
      </p:sp>
      <p:sp>
        <p:nvSpPr>
          <p:cNvPr id="19" name="Text 17"/>
          <p:cNvSpPr/>
          <p:nvPr/>
        </p:nvSpPr>
        <p:spPr>
          <a:xfrm>
            <a:off x="7498080" y="4069080"/>
            <a:ext cx="4343400" cy="960120"/>
          </a:xfrm>
          <a:prstGeom prst="rect">
            <a:avLst/>
          </a:prstGeom>
          <a:noFill/>
          <a:ln/>
        </p:spPr>
        <p:txBody>
          <a:bodyPr wrap="square" lIns="50800" tIns="50800" rIns="50800" bIns="50800" rtlCol="0" anchor="ctr"/>
          <a:lstStyle/>
          <a:p>
            <a:pPr algn="ctr" indent="0" marL="0">
              <a:buNone/>
            </a:pPr>
            <a:r>
              <a:rPr lang="en-US" sz="1400" b="1" dirty="0">
                <a:solidFill>
                  <a:srgbClr val="B54708"/>
                </a:solidFill>
                <a:latin typeface="Calibri" pitchFamily="34" charset="0"/>
                <a:ea typeface="Calibri" pitchFamily="34" charset="-122"/>
                <a:cs typeface="Calibri" pitchFamily="34" charset="-120"/>
              </a:rPr>
              <a:t>Azure OpenAI (optional)</a:t>
            </a:r>
            <a:endParaRPr lang="en-US" sz="1400" dirty="0"/>
          </a:p>
          <a:p>
            <a:pPr algn="ctr" indent="0" marL="0">
              <a:buNone/>
            </a:pPr>
            <a:r>
              <a:rPr lang="en-US" sz="1050" dirty="0">
                <a:solidFill>
                  <a:srgbClr val="5B6472"/>
                </a:solidFill>
                <a:latin typeface="Calibri" pitchFamily="34" charset="0"/>
                <a:ea typeface="Calibri" pitchFamily="34" charset="-122"/>
                <a:cs typeface="Calibri" pitchFamily="34" charset="-120"/>
              </a:rPr>
              <a:t>Film boxes · worklist label · patient-chart findings</a:t>
            </a:r>
            <a:endParaRPr lang="en-US" sz="1400" dirty="0"/>
          </a:p>
        </p:txBody>
      </p:sp>
      <p:sp>
        <p:nvSpPr>
          <p:cNvPr id="20" name="Shape 18"/>
          <p:cNvSpPr/>
          <p:nvPr/>
        </p:nvSpPr>
        <p:spPr>
          <a:xfrm>
            <a:off x="2743200" y="3108960"/>
            <a:ext cx="914400" cy="914"/>
          </a:xfrm>
          <a:prstGeom prst="line">
            <a:avLst/>
          </a:prstGeom>
          <a:noFill/>
          <a:ln w="19050">
            <a:solidFill>
              <a:srgbClr val="5B6472"/>
            </a:solidFill>
            <a:prstDash val="solid"/>
            <a:tailEnd type="triangle"/>
          </a:ln>
        </p:spPr>
      </p:sp>
      <p:sp>
        <p:nvSpPr>
          <p:cNvPr id="21" name="Text 19"/>
          <p:cNvSpPr/>
          <p:nvPr/>
        </p:nvSpPr>
        <p:spPr>
          <a:xfrm>
            <a:off x="2651760" y="2743200"/>
            <a:ext cx="1097280"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/api (proxied)</a:t>
            </a:r>
            <a:endParaRPr lang="en-US" sz="1000" dirty="0"/>
          </a:p>
        </p:txBody>
      </p:sp>
      <p:sp>
        <p:nvSpPr>
          <p:cNvPr id="22" name="Shape 20"/>
          <p:cNvSpPr/>
          <p:nvPr/>
        </p:nvSpPr>
        <p:spPr>
          <a:xfrm flipV="1">
            <a:off x="6309360" y="1691640"/>
            <a:ext cx="1188720" cy="960120"/>
          </a:xfrm>
          <a:prstGeom prst="line">
            <a:avLst/>
          </a:prstGeom>
          <a:noFill/>
          <a:ln w="19050">
            <a:solidFill>
              <a:srgbClr val="5B6472"/>
            </a:solidFill>
            <a:prstDash val="solid"/>
            <a:tailEnd type="triangle"/>
          </a:ln>
        </p:spPr>
      </p:sp>
      <p:sp>
        <p:nvSpPr>
          <p:cNvPr id="23" name="Text 21"/>
          <p:cNvSpPr/>
          <p:nvPr/>
        </p:nvSpPr>
        <p:spPr>
          <a:xfrm>
            <a:off x="5394960" y="1783080"/>
            <a:ext cx="1920240"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patients, cases, users, audit</a:t>
            </a:r>
            <a:endParaRPr lang="en-US" sz="1000" dirty="0"/>
          </a:p>
        </p:txBody>
      </p:sp>
      <p:sp>
        <p:nvSpPr>
          <p:cNvPr id="24" name="Shape 22"/>
          <p:cNvSpPr/>
          <p:nvPr/>
        </p:nvSpPr>
        <p:spPr>
          <a:xfrm>
            <a:off x="6309360" y="3090672"/>
            <a:ext cx="1188720" cy="914"/>
          </a:xfrm>
          <a:prstGeom prst="line">
            <a:avLst/>
          </a:prstGeom>
          <a:noFill/>
          <a:ln w="19050">
            <a:solidFill>
              <a:srgbClr val="5B6472"/>
            </a:solidFill>
            <a:prstDash val="solid"/>
            <a:tailEnd type="triangle"/>
          </a:ln>
        </p:spPr>
      </p:sp>
      <p:sp>
        <p:nvSpPr>
          <p:cNvPr id="25" name="Text 23"/>
          <p:cNvSpPr/>
          <p:nvPr/>
        </p:nvSpPr>
        <p:spPr>
          <a:xfrm>
            <a:off x="6355080" y="2743200"/>
            <a:ext cx="1097280"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film → report</a:t>
            </a:r>
            <a:endParaRPr lang="en-US" sz="1000" dirty="0"/>
          </a:p>
        </p:txBody>
      </p:sp>
      <p:sp>
        <p:nvSpPr>
          <p:cNvPr id="26" name="Shape 24"/>
          <p:cNvSpPr/>
          <p:nvPr/>
        </p:nvSpPr>
        <p:spPr>
          <a:xfrm>
            <a:off x="9784080" y="3090672"/>
            <a:ext cx="320040" cy="914"/>
          </a:xfrm>
          <a:prstGeom prst="line">
            <a:avLst/>
          </a:prstGeom>
          <a:noFill/>
          <a:ln w="19050">
            <a:solidFill>
              <a:srgbClr val="5B6472"/>
            </a:solidFill>
            <a:prstDash val="solid"/>
            <a:tailEnd type="triangle"/>
          </a:ln>
        </p:spPr>
      </p:sp>
      <p:sp>
        <p:nvSpPr>
          <p:cNvPr id="27" name="Shape 25"/>
          <p:cNvSpPr/>
          <p:nvPr/>
        </p:nvSpPr>
        <p:spPr>
          <a:xfrm>
            <a:off x="6309360" y="3566160"/>
            <a:ext cx="1188720" cy="960120"/>
          </a:xfrm>
          <a:prstGeom prst="line">
            <a:avLst/>
          </a:prstGeom>
          <a:noFill/>
          <a:ln w="19050">
            <a:solidFill>
              <a:srgbClr val="5B6472"/>
            </a:solidFill>
            <a:prstDash val="solid"/>
            <a:tailEnd type="triangle"/>
          </a:ln>
        </p:spPr>
      </p:sp>
      <p:sp>
        <p:nvSpPr>
          <p:cNvPr id="28" name="Text 26"/>
          <p:cNvSpPr/>
          <p:nvPr/>
        </p:nvSpPr>
        <p:spPr>
          <a:xfrm>
            <a:off x="5760720" y="4206240"/>
            <a:ext cx="1737360" cy="256032"/>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report text (+ film)</a:t>
            </a:r>
            <a:endParaRPr lang="en-US" sz="1000" dirty="0"/>
          </a:p>
        </p:txBody>
      </p:sp>
      <p:sp>
        <p:nvSpPr>
          <p:cNvPr id="29" name="Text 27"/>
          <p:cNvSpPr/>
          <p:nvPr/>
        </p:nvSpPr>
        <p:spPr>
          <a:xfrm>
            <a:off x="548640" y="5257800"/>
            <a:ext cx="11155680" cy="1234440"/>
          </a:xfrm>
          <a:prstGeom prst="rect">
            <a:avLst/>
          </a:prstGeom>
          <a:noFill/>
          <a:ln/>
        </p:spPr>
        <p:txBody>
          <a:bodyPr wrap="square" lIns="25400" tIns="25400" rIns="25400" bIns="25400" rtlCol="0" anchor="t"/>
          <a:lstStyle/>
          <a:p>
            <a:pPr marL="203200" indent="-203200">
              <a:spcAft>
                <a:spcPts val="300"/>
              </a:spcAft>
              <a:buSzPct val="100000"/>
              <a:buChar char="■"/>
            </a:pPr>
            <a:r>
              <a:rPr lang="en-US" sz="1300" b="1" dirty="0">
                <a:solidFill>
                  <a:srgbClr val="003366"/>
                </a:solidFill>
                <a:latin typeface="Calibri" pitchFamily="34" charset="0"/>
                <a:ea typeface="Calibri" pitchFamily="34" charset="-122"/>
                <a:cs typeface="Calibri" pitchFamily="34" charset="-120"/>
              </a:rPr>
              <a:t>Asynchronous AI</a:t>
            </a:r>
            <a:r>
              <a:rPr lang="en-US" sz="1300" dirty="0">
                <a:solidFill>
                  <a:srgbClr val="1F2937"/>
                </a:solidFill>
                <a:latin typeface="Calibri" pitchFamily="34" charset="0"/>
                <a:ea typeface="Calibri" pitchFamily="34" charset="-122"/>
                <a:cs typeface="Calibri" pitchFamily="34" charset="-120"/>
              </a:rPr>
              <a:t> — the API stores the film and returns immediately; CURV runs in the background and the worklist moves Generating → Pending approve.</a:t>
            </a:r>
            <a:endParaRPr lang="en-US" sz="1300" dirty="0"/>
          </a:p>
          <a:p>
            <a:pPr marL="203200" indent="-203200">
              <a:spcAft>
                <a:spcPts val="300"/>
              </a:spcAft>
              <a:buSzPct val="100000"/>
              <a:buChar char="■"/>
            </a:pPr>
            <a:r>
              <a:rPr lang="en-US" sz="1300" b="1" dirty="0">
                <a:solidFill>
                  <a:srgbClr val="003366"/>
                </a:solidFill>
                <a:latin typeface="Calibri" pitchFamily="34" charset="0"/>
                <a:ea typeface="Calibri" pitchFamily="34" charset="-122"/>
                <a:cs typeface="Calibri" pitchFamily="34" charset="-120"/>
              </a:rPr>
              <a:t>Graceful degradation</a:t>
            </a:r>
            <a:r>
              <a:rPr lang="en-US" sz="1300" dirty="0">
                <a:solidFill>
                  <a:srgbClr val="1F2937"/>
                </a:solidFill>
                <a:latin typeface="Calibri" pitchFamily="34" charset="0"/>
                <a:ea typeface="Calibri" pitchFamily="34" charset="-122"/>
                <a:cs typeface="Calibri" pitchFamily="34" charset="-120"/>
              </a:rPr>
              <a:t> — if CURV or Azure is down, the case is still saved and the radiologist can write the report by hand.</a:t>
            </a:r>
            <a:endParaRPr lang="en-US" sz="1300" dirty="0"/>
          </a:p>
          <a:p>
            <a:pPr marL="203200" indent="-203200">
              <a:spcAft>
                <a:spcPts val="300"/>
              </a:spcAft>
              <a:buSzPct val="100000"/>
              <a:buChar char="■"/>
            </a:pPr>
            <a:r>
              <a:rPr lang="en-US" sz="1300" b="1" dirty="0">
                <a:solidFill>
                  <a:srgbClr val="003366"/>
                </a:solidFill>
                <a:latin typeface="Calibri" pitchFamily="34" charset="0"/>
                <a:ea typeface="Calibri" pitchFamily="34" charset="-122"/>
                <a:cs typeface="Calibri" pitchFamily="34" charset="-120"/>
              </a:rPr>
              <a:t>Separation of concerns</a:t>
            </a:r>
            <a:r>
              <a:rPr lang="en-US" sz="1300" dirty="0">
                <a:solidFill>
                  <a:srgbClr val="1F2937"/>
                </a:solidFill>
                <a:latin typeface="Calibri" pitchFamily="34" charset="0"/>
                <a:ea typeface="Calibri" pitchFamily="34" charset="-122"/>
                <a:cs typeface="Calibri" pitchFamily="34" charset="-120"/>
              </a:rPr>
              <a:t> — CURV writes the report; Azure only assists (boxes, labels, chart findings) and never edits report text.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SOLUTION</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Technology stack</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828800"/>
                <a:gridCol w="4754880"/>
                <a:gridCol w="448056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Technology</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r>
              <a:tr h="47548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Frontend</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Vanilla JavaScript SPA, Vite 8, Tailwind CSS 3</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Lightweight; tiny DOM helper + pub/sub store; fast dev reload</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Backend API</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Node.js, Express 4, Mongoose 8, JWT, bcrypt, Helmet</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REST gateway, role middleware, audit writer, document streams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r>
              <a:tr h="47548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Database</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Azure Cosmos DB (MongoDB API) + GridFS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Managed, cloud-hosted persistence for charts, cases and films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Report model</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CURV (vision-language) served by mlx_vlm on Apple Silicon</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Pretrained chest X-ray report generator, runs locally</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r>
              <a:tr h="47548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Model gateway</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FastAPI middleware (Python 3.12, uvicorn)</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Official CURV prompt, image resizing, DICOM rendering</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AI assistance</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Azure OpenAI (gpt-4.1-mini, JSON mode)</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Film boxes, worklist labels, patient-chart findings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r>
              <a:tr h="47548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Documents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docx (Word) and browser PDF</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Clean endorsed report with film, measurements, signature</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Testing</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Node test scripts with linkedom (DOM), e2e API script</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193 automated UI tests across 19 suites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WORKFLOW</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End-to-end workflow</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8" name="Shape 6"/>
          <p:cNvSpPr/>
          <p:nvPr/>
        </p:nvSpPr>
        <p:spPr>
          <a:xfrm>
            <a:off x="411480" y="1463040"/>
            <a:ext cx="1371600" cy="685800"/>
          </a:xfrm>
          <a:prstGeom prst="chevron">
            <a:avLst/>
          </a:prstGeom>
          <a:solidFill>
            <a:srgbClr val="00509E"/>
          </a:solidFill>
          <a:ln w="12700">
            <a:solidFill>
              <a:srgbClr val="00509E"/>
            </a:solidFill>
            <a:prstDash val="solid"/>
          </a:ln>
        </p:spPr>
      </p:sp>
      <p:sp>
        <p:nvSpPr>
          <p:cNvPr id="9" name="Text 7"/>
          <p:cNvSpPr/>
          <p:nvPr/>
        </p:nvSpPr>
        <p:spPr>
          <a:xfrm>
            <a:off x="521208" y="1463040"/>
            <a:ext cx="118872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Doctor</a:t>
            </a:r>
            <a:endParaRPr lang="en-US" sz="1150" dirty="0"/>
          </a:p>
        </p:txBody>
      </p:sp>
      <p:sp>
        <p:nvSpPr>
          <p:cNvPr id="10" name="Text 8"/>
          <p:cNvSpPr/>
          <p:nvPr/>
        </p:nvSpPr>
        <p:spPr>
          <a:xfrm>
            <a:off x="411480" y="2286000"/>
            <a:ext cx="1371600" cy="86868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Books chest X-ray on a calendar</a:t>
            </a:r>
            <a:endParaRPr lang="en-US" sz="1200" dirty="0"/>
          </a:p>
        </p:txBody>
      </p:sp>
      <p:sp>
        <p:nvSpPr>
          <p:cNvPr id="11" name="Shape 9"/>
          <p:cNvSpPr/>
          <p:nvPr/>
        </p:nvSpPr>
        <p:spPr>
          <a:xfrm>
            <a:off x="457200" y="3200400"/>
            <a:ext cx="1280160" cy="292608"/>
          </a:xfrm>
          <a:prstGeom prst="roundRect">
            <a:avLst>
              <a:gd name="adj" fmla="val 18750"/>
            </a:avLst>
          </a:prstGeom>
          <a:solidFill>
            <a:srgbClr val="FFFFFF"/>
          </a:solidFill>
          <a:ln w="12700">
            <a:solidFill>
              <a:srgbClr val="00509E"/>
            </a:solidFill>
            <a:prstDash val="solid"/>
          </a:ln>
        </p:spPr>
      </p:sp>
      <p:sp>
        <p:nvSpPr>
          <p:cNvPr id="12" name="Text 10"/>
          <p:cNvSpPr/>
          <p:nvPr/>
        </p:nvSpPr>
        <p:spPr>
          <a:xfrm>
            <a:off x="457200" y="3200400"/>
            <a:ext cx="1280160" cy="292608"/>
          </a:xfrm>
          <a:prstGeom prst="rect">
            <a:avLst/>
          </a:prstGeom>
          <a:noFill/>
          <a:ln/>
        </p:spPr>
        <p:txBody>
          <a:bodyPr wrap="square" lIns="0" tIns="0" rIns="0" bIns="0" rtlCol="0" anchor="ctr"/>
          <a:lstStyle/>
          <a:p>
            <a:pPr algn="ctr" indent="0" marL="0">
              <a:buNone/>
            </a:pPr>
            <a:r>
              <a:rPr lang="en-US" sz="950" b="1" dirty="0">
                <a:solidFill>
                  <a:srgbClr val="00509E"/>
                </a:solidFill>
                <a:latin typeface="Calibri" pitchFamily="34" charset="0"/>
                <a:ea typeface="Calibri" pitchFamily="34" charset="-122"/>
                <a:cs typeface="Calibri" pitchFamily="34" charset="-120"/>
              </a:rPr>
              <a:t>requested</a:t>
            </a:r>
            <a:endParaRPr lang="en-US" sz="950" dirty="0"/>
          </a:p>
        </p:txBody>
      </p:sp>
      <p:sp>
        <p:nvSpPr>
          <p:cNvPr id="13" name="Shape 11"/>
          <p:cNvSpPr/>
          <p:nvPr/>
        </p:nvSpPr>
        <p:spPr>
          <a:xfrm>
            <a:off x="1847088" y="1463040"/>
            <a:ext cx="1371600" cy="685800"/>
          </a:xfrm>
          <a:prstGeom prst="chevron">
            <a:avLst/>
          </a:prstGeom>
          <a:solidFill>
            <a:srgbClr val="008080"/>
          </a:solidFill>
          <a:ln w="12700">
            <a:solidFill>
              <a:srgbClr val="008080"/>
            </a:solidFill>
            <a:prstDash val="solid"/>
          </a:ln>
        </p:spPr>
      </p:sp>
      <p:sp>
        <p:nvSpPr>
          <p:cNvPr id="14" name="Text 12"/>
          <p:cNvSpPr/>
          <p:nvPr/>
        </p:nvSpPr>
        <p:spPr>
          <a:xfrm>
            <a:off x="1956816" y="1463040"/>
            <a:ext cx="118872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Technician</a:t>
            </a:r>
            <a:endParaRPr lang="en-US" sz="1150" dirty="0"/>
          </a:p>
        </p:txBody>
      </p:sp>
      <p:sp>
        <p:nvSpPr>
          <p:cNvPr id="15" name="Text 13"/>
          <p:cNvSpPr/>
          <p:nvPr/>
        </p:nvSpPr>
        <p:spPr>
          <a:xfrm>
            <a:off x="1847088" y="2286000"/>
            <a:ext cx="1371600" cy="86868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Registers the film (PNG/JPG/DICOM)</a:t>
            </a:r>
            <a:endParaRPr lang="en-US" sz="1200" dirty="0"/>
          </a:p>
        </p:txBody>
      </p:sp>
      <p:sp>
        <p:nvSpPr>
          <p:cNvPr id="16" name="Shape 14"/>
          <p:cNvSpPr/>
          <p:nvPr/>
        </p:nvSpPr>
        <p:spPr>
          <a:xfrm>
            <a:off x="1892808" y="3200400"/>
            <a:ext cx="1280160" cy="292608"/>
          </a:xfrm>
          <a:prstGeom prst="roundRect">
            <a:avLst>
              <a:gd name="adj" fmla="val 18750"/>
            </a:avLst>
          </a:prstGeom>
          <a:solidFill>
            <a:srgbClr val="FFFFFF"/>
          </a:solidFill>
          <a:ln w="12700">
            <a:solidFill>
              <a:srgbClr val="008080"/>
            </a:solidFill>
            <a:prstDash val="solid"/>
          </a:ln>
        </p:spPr>
      </p:sp>
      <p:sp>
        <p:nvSpPr>
          <p:cNvPr id="17" name="Text 15"/>
          <p:cNvSpPr/>
          <p:nvPr/>
        </p:nvSpPr>
        <p:spPr>
          <a:xfrm>
            <a:off x="1892808" y="3200400"/>
            <a:ext cx="1280160" cy="292608"/>
          </a:xfrm>
          <a:prstGeom prst="rect">
            <a:avLst/>
          </a:prstGeom>
          <a:noFill/>
          <a:ln/>
        </p:spPr>
        <p:txBody>
          <a:bodyPr wrap="square" lIns="0" tIns="0" rIns="0" bIns="0" rtlCol="0" anchor="ctr"/>
          <a:lstStyle/>
          <a:p>
            <a:pPr algn="ctr" indent="0" marL="0">
              <a:buNone/>
            </a:pPr>
            <a:r>
              <a:rPr lang="en-US" sz="950" b="1" dirty="0">
                <a:solidFill>
                  <a:srgbClr val="008080"/>
                </a:solidFill>
                <a:latin typeface="Calibri" pitchFamily="34" charset="0"/>
                <a:ea typeface="Calibri" pitchFamily="34" charset="-122"/>
                <a:cs typeface="Calibri" pitchFamily="34" charset="-120"/>
              </a:rPr>
              <a:t>pending</a:t>
            </a:r>
            <a:endParaRPr lang="en-US" sz="950" dirty="0"/>
          </a:p>
        </p:txBody>
      </p:sp>
      <p:sp>
        <p:nvSpPr>
          <p:cNvPr id="18" name="Shape 16"/>
          <p:cNvSpPr/>
          <p:nvPr/>
        </p:nvSpPr>
        <p:spPr>
          <a:xfrm>
            <a:off x="3282696" y="1463040"/>
            <a:ext cx="1371600" cy="685800"/>
          </a:xfrm>
          <a:prstGeom prst="chevron">
            <a:avLst/>
          </a:prstGeom>
          <a:solidFill>
            <a:srgbClr val="067647"/>
          </a:solidFill>
          <a:ln w="12700">
            <a:solidFill>
              <a:srgbClr val="067647"/>
            </a:solidFill>
            <a:prstDash val="solid"/>
          </a:ln>
        </p:spPr>
      </p:sp>
      <p:sp>
        <p:nvSpPr>
          <p:cNvPr id="19" name="Text 17"/>
          <p:cNvSpPr/>
          <p:nvPr/>
        </p:nvSpPr>
        <p:spPr>
          <a:xfrm>
            <a:off x="3392424" y="1463040"/>
            <a:ext cx="118872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CURV (auto)</a:t>
            </a:r>
            <a:endParaRPr lang="en-US" sz="1150" dirty="0"/>
          </a:p>
        </p:txBody>
      </p:sp>
      <p:sp>
        <p:nvSpPr>
          <p:cNvPr id="20" name="Text 18"/>
          <p:cNvSpPr/>
          <p:nvPr/>
        </p:nvSpPr>
        <p:spPr>
          <a:xfrm>
            <a:off x="3282696" y="2286000"/>
            <a:ext cx="1371600" cy="86868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Writes Findings · Thinking · Impression</a:t>
            </a:r>
            <a:endParaRPr lang="en-US" sz="1200" dirty="0"/>
          </a:p>
        </p:txBody>
      </p:sp>
      <p:sp>
        <p:nvSpPr>
          <p:cNvPr id="21" name="Shape 19"/>
          <p:cNvSpPr/>
          <p:nvPr/>
        </p:nvSpPr>
        <p:spPr>
          <a:xfrm>
            <a:off x="3328416" y="3200400"/>
            <a:ext cx="1280160" cy="292608"/>
          </a:xfrm>
          <a:prstGeom prst="roundRect">
            <a:avLst>
              <a:gd name="adj" fmla="val 18750"/>
            </a:avLst>
          </a:prstGeom>
          <a:solidFill>
            <a:srgbClr val="FFFFFF"/>
          </a:solidFill>
          <a:ln w="12700">
            <a:solidFill>
              <a:srgbClr val="067647"/>
            </a:solidFill>
            <a:prstDash val="solid"/>
          </a:ln>
        </p:spPr>
      </p:sp>
      <p:sp>
        <p:nvSpPr>
          <p:cNvPr id="22" name="Text 20"/>
          <p:cNvSpPr/>
          <p:nvPr/>
        </p:nvSpPr>
        <p:spPr>
          <a:xfrm>
            <a:off x="3328416" y="3200400"/>
            <a:ext cx="1280160" cy="292608"/>
          </a:xfrm>
          <a:prstGeom prst="rect">
            <a:avLst/>
          </a:prstGeom>
          <a:noFill/>
          <a:ln/>
        </p:spPr>
        <p:txBody>
          <a:bodyPr wrap="square" lIns="0" tIns="0" rIns="0" bIns="0" rtlCol="0" anchor="ctr"/>
          <a:lstStyle/>
          <a:p>
            <a:pPr algn="ctr" indent="0" marL="0">
              <a:buNone/>
            </a:pPr>
            <a:r>
              <a:rPr lang="en-US" sz="950" b="1" dirty="0">
                <a:solidFill>
                  <a:srgbClr val="067647"/>
                </a:solidFill>
                <a:latin typeface="Calibri" pitchFamily="34" charset="0"/>
                <a:ea typeface="Calibri" pitchFamily="34" charset="-122"/>
                <a:cs typeface="Calibri" pitchFamily="34" charset="-120"/>
              </a:rPr>
              <a:t>generating</a:t>
            </a:r>
            <a:endParaRPr lang="en-US" sz="950" dirty="0"/>
          </a:p>
        </p:txBody>
      </p:sp>
      <p:sp>
        <p:nvSpPr>
          <p:cNvPr id="23" name="Shape 21"/>
          <p:cNvSpPr/>
          <p:nvPr/>
        </p:nvSpPr>
        <p:spPr>
          <a:xfrm>
            <a:off x="4718304" y="1463040"/>
            <a:ext cx="1371600" cy="685800"/>
          </a:xfrm>
          <a:prstGeom prst="chevron">
            <a:avLst/>
          </a:prstGeom>
          <a:solidFill>
            <a:srgbClr val="B54708"/>
          </a:solidFill>
          <a:ln w="12700">
            <a:solidFill>
              <a:srgbClr val="B54708"/>
            </a:solidFill>
            <a:prstDash val="solid"/>
          </a:ln>
        </p:spPr>
      </p:sp>
      <p:sp>
        <p:nvSpPr>
          <p:cNvPr id="24" name="Text 22"/>
          <p:cNvSpPr/>
          <p:nvPr/>
        </p:nvSpPr>
        <p:spPr>
          <a:xfrm>
            <a:off x="4828032" y="1463040"/>
            <a:ext cx="118872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Azure</a:t>
            </a:r>
            <a:endParaRPr lang="en-US" sz="1150" dirty="0"/>
          </a:p>
        </p:txBody>
      </p:sp>
      <p:sp>
        <p:nvSpPr>
          <p:cNvPr id="25" name="Text 23"/>
          <p:cNvSpPr/>
          <p:nvPr/>
        </p:nvSpPr>
        <p:spPr>
          <a:xfrm>
            <a:off x="4718304" y="2286000"/>
            <a:ext cx="1371600" cy="86868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Places boxes on the film</a:t>
            </a:r>
            <a:endParaRPr lang="en-US" sz="1200" dirty="0"/>
          </a:p>
        </p:txBody>
      </p:sp>
      <p:sp>
        <p:nvSpPr>
          <p:cNvPr id="26" name="Shape 24"/>
          <p:cNvSpPr/>
          <p:nvPr/>
        </p:nvSpPr>
        <p:spPr>
          <a:xfrm>
            <a:off x="4764024" y="3200400"/>
            <a:ext cx="1280160" cy="292608"/>
          </a:xfrm>
          <a:prstGeom prst="roundRect">
            <a:avLst>
              <a:gd name="adj" fmla="val 18750"/>
            </a:avLst>
          </a:prstGeom>
          <a:solidFill>
            <a:srgbClr val="FFFFFF"/>
          </a:solidFill>
          <a:ln w="12700">
            <a:solidFill>
              <a:srgbClr val="B54708"/>
            </a:solidFill>
            <a:prstDash val="solid"/>
          </a:ln>
        </p:spPr>
      </p:sp>
      <p:sp>
        <p:nvSpPr>
          <p:cNvPr id="27" name="Text 25"/>
          <p:cNvSpPr/>
          <p:nvPr/>
        </p:nvSpPr>
        <p:spPr>
          <a:xfrm>
            <a:off x="4764024" y="3200400"/>
            <a:ext cx="1280160" cy="292608"/>
          </a:xfrm>
          <a:prstGeom prst="rect">
            <a:avLst/>
          </a:prstGeom>
          <a:noFill/>
          <a:ln/>
        </p:spPr>
        <p:txBody>
          <a:bodyPr wrap="square" lIns="0" tIns="0" rIns="0" bIns="0" rtlCol="0" anchor="ctr"/>
          <a:lstStyle/>
          <a:p>
            <a:pPr algn="ctr" indent="0" marL="0">
              <a:buNone/>
            </a:pPr>
            <a:r>
              <a:rPr lang="en-US" sz="950" b="1" dirty="0">
                <a:solidFill>
                  <a:srgbClr val="B54708"/>
                </a:solidFill>
                <a:latin typeface="Calibri" pitchFamily="34" charset="0"/>
                <a:ea typeface="Calibri" pitchFamily="34" charset="-122"/>
                <a:cs typeface="Calibri" pitchFamily="34" charset="-120"/>
              </a:rPr>
              <a:t>pending approve</a:t>
            </a:r>
            <a:endParaRPr lang="en-US" sz="950" dirty="0"/>
          </a:p>
        </p:txBody>
      </p:sp>
      <p:sp>
        <p:nvSpPr>
          <p:cNvPr id="28" name="Shape 26"/>
          <p:cNvSpPr/>
          <p:nvPr/>
        </p:nvSpPr>
        <p:spPr>
          <a:xfrm>
            <a:off x="6153912" y="1463040"/>
            <a:ext cx="1371600" cy="685800"/>
          </a:xfrm>
          <a:prstGeom prst="chevron">
            <a:avLst/>
          </a:prstGeom>
          <a:solidFill>
            <a:srgbClr val="003366"/>
          </a:solidFill>
          <a:ln w="12700">
            <a:solidFill>
              <a:srgbClr val="003366"/>
            </a:solidFill>
            <a:prstDash val="solid"/>
          </a:ln>
        </p:spPr>
      </p:sp>
      <p:sp>
        <p:nvSpPr>
          <p:cNvPr id="29" name="Text 27"/>
          <p:cNvSpPr/>
          <p:nvPr/>
        </p:nvSpPr>
        <p:spPr>
          <a:xfrm>
            <a:off x="6263640" y="1463040"/>
            <a:ext cx="118872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Radiologist</a:t>
            </a:r>
            <a:endParaRPr lang="en-US" sz="1150" dirty="0"/>
          </a:p>
        </p:txBody>
      </p:sp>
      <p:sp>
        <p:nvSpPr>
          <p:cNvPr id="30" name="Text 28"/>
          <p:cNvSpPr/>
          <p:nvPr/>
        </p:nvSpPr>
        <p:spPr>
          <a:xfrm>
            <a:off x="6153912" y="2286000"/>
            <a:ext cx="1371600" cy="86868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Edits report, boxes, measures</a:t>
            </a:r>
            <a:endParaRPr lang="en-US" sz="1200" dirty="0"/>
          </a:p>
        </p:txBody>
      </p:sp>
      <p:sp>
        <p:nvSpPr>
          <p:cNvPr id="31" name="Shape 29"/>
          <p:cNvSpPr/>
          <p:nvPr/>
        </p:nvSpPr>
        <p:spPr>
          <a:xfrm>
            <a:off x="6199632" y="3200400"/>
            <a:ext cx="1280160" cy="292608"/>
          </a:xfrm>
          <a:prstGeom prst="roundRect">
            <a:avLst>
              <a:gd name="adj" fmla="val 18750"/>
            </a:avLst>
          </a:prstGeom>
          <a:solidFill>
            <a:srgbClr val="FFFFFF"/>
          </a:solidFill>
          <a:ln w="12700">
            <a:solidFill>
              <a:srgbClr val="003366"/>
            </a:solidFill>
            <a:prstDash val="solid"/>
          </a:ln>
        </p:spPr>
      </p:sp>
      <p:sp>
        <p:nvSpPr>
          <p:cNvPr id="32" name="Text 30"/>
          <p:cNvSpPr/>
          <p:nvPr/>
        </p:nvSpPr>
        <p:spPr>
          <a:xfrm>
            <a:off x="6199632" y="3200400"/>
            <a:ext cx="1280160" cy="292608"/>
          </a:xfrm>
          <a:prstGeom prst="rect">
            <a:avLst/>
          </a:prstGeom>
          <a:noFill/>
          <a:ln/>
        </p:spPr>
        <p:txBody>
          <a:bodyPr wrap="square" lIns="0" tIns="0" rIns="0" bIns="0" rtlCol="0" anchor="ctr"/>
          <a:lstStyle/>
          <a:p>
            <a:pPr algn="ctr" indent="0" marL="0">
              <a:buNone/>
            </a:pPr>
            <a:r>
              <a:rPr lang="en-US" sz="950" b="1" dirty="0">
                <a:solidFill>
                  <a:srgbClr val="003366"/>
                </a:solidFill>
                <a:latin typeface="Calibri" pitchFamily="34" charset="0"/>
                <a:ea typeface="Calibri" pitchFamily="34" charset="-122"/>
                <a:cs typeface="Calibri" pitchFamily="34" charset="-120"/>
              </a:rPr>
              <a:t>draft</a:t>
            </a:r>
            <a:endParaRPr lang="en-US" sz="950" dirty="0"/>
          </a:p>
        </p:txBody>
      </p:sp>
      <p:sp>
        <p:nvSpPr>
          <p:cNvPr id="33" name="Shape 31"/>
          <p:cNvSpPr/>
          <p:nvPr/>
        </p:nvSpPr>
        <p:spPr>
          <a:xfrm>
            <a:off x="7589520" y="1463040"/>
            <a:ext cx="1371600" cy="685800"/>
          </a:xfrm>
          <a:prstGeom prst="chevron">
            <a:avLst/>
          </a:prstGeom>
          <a:solidFill>
            <a:srgbClr val="003366"/>
          </a:solidFill>
          <a:ln w="12700">
            <a:solidFill>
              <a:srgbClr val="003366"/>
            </a:solidFill>
            <a:prstDash val="solid"/>
          </a:ln>
        </p:spPr>
      </p:sp>
      <p:sp>
        <p:nvSpPr>
          <p:cNvPr id="34" name="Text 32"/>
          <p:cNvSpPr/>
          <p:nvPr/>
        </p:nvSpPr>
        <p:spPr>
          <a:xfrm>
            <a:off x="7699248" y="1463040"/>
            <a:ext cx="118872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Radiologist</a:t>
            </a:r>
            <a:endParaRPr lang="en-US" sz="1150" dirty="0"/>
          </a:p>
        </p:txBody>
      </p:sp>
      <p:sp>
        <p:nvSpPr>
          <p:cNvPr id="35" name="Text 33"/>
          <p:cNvSpPr/>
          <p:nvPr/>
        </p:nvSpPr>
        <p:spPr>
          <a:xfrm>
            <a:off x="7589520" y="2286000"/>
            <a:ext cx="1371600" cy="86868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Endorses (signs) the report</a:t>
            </a:r>
            <a:endParaRPr lang="en-US" sz="1200" dirty="0"/>
          </a:p>
        </p:txBody>
      </p:sp>
      <p:sp>
        <p:nvSpPr>
          <p:cNvPr id="36" name="Shape 34"/>
          <p:cNvSpPr/>
          <p:nvPr/>
        </p:nvSpPr>
        <p:spPr>
          <a:xfrm>
            <a:off x="7635240" y="3200400"/>
            <a:ext cx="1280160" cy="292608"/>
          </a:xfrm>
          <a:prstGeom prst="roundRect">
            <a:avLst>
              <a:gd name="adj" fmla="val 18750"/>
            </a:avLst>
          </a:prstGeom>
          <a:solidFill>
            <a:srgbClr val="FFFFFF"/>
          </a:solidFill>
          <a:ln w="12700">
            <a:solidFill>
              <a:srgbClr val="003366"/>
            </a:solidFill>
            <a:prstDash val="solid"/>
          </a:ln>
        </p:spPr>
      </p:sp>
      <p:sp>
        <p:nvSpPr>
          <p:cNvPr id="37" name="Text 35"/>
          <p:cNvSpPr/>
          <p:nvPr/>
        </p:nvSpPr>
        <p:spPr>
          <a:xfrm>
            <a:off x="7635240" y="3200400"/>
            <a:ext cx="1280160" cy="292608"/>
          </a:xfrm>
          <a:prstGeom prst="rect">
            <a:avLst/>
          </a:prstGeom>
          <a:noFill/>
          <a:ln/>
        </p:spPr>
        <p:txBody>
          <a:bodyPr wrap="square" lIns="0" tIns="0" rIns="0" bIns="0" rtlCol="0" anchor="ctr"/>
          <a:lstStyle/>
          <a:p>
            <a:pPr algn="ctr" indent="0" marL="0">
              <a:buNone/>
            </a:pPr>
            <a:r>
              <a:rPr lang="en-US" sz="950" b="1" dirty="0">
                <a:solidFill>
                  <a:srgbClr val="003366"/>
                </a:solidFill>
                <a:latin typeface="Calibri" pitchFamily="34" charset="0"/>
                <a:ea typeface="Calibri" pitchFamily="34" charset="-122"/>
                <a:cs typeface="Calibri" pitchFamily="34" charset="-120"/>
              </a:rPr>
              <a:t>endorsed</a:t>
            </a:r>
            <a:endParaRPr lang="en-US" sz="950" dirty="0"/>
          </a:p>
        </p:txBody>
      </p:sp>
      <p:sp>
        <p:nvSpPr>
          <p:cNvPr id="38" name="Shape 36"/>
          <p:cNvSpPr/>
          <p:nvPr/>
        </p:nvSpPr>
        <p:spPr>
          <a:xfrm>
            <a:off x="9025128" y="1463040"/>
            <a:ext cx="1371600" cy="685800"/>
          </a:xfrm>
          <a:prstGeom prst="chevron">
            <a:avLst/>
          </a:prstGeom>
          <a:solidFill>
            <a:srgbClr val="B54708"/>
          </a:solidFill>
          <a:ln w="12700">
            <a:solidFill>
              <a:srgbClr val="B54708"/>
            </a:solidFill>
            <a:prstDash val="solid"/>
          </a:ln>
        </p:spPr>
      </p:sp>
      <p:sp>
        <p:nvSpPr>
          <p:cNvPr id="39" name="Text 37"/>
          <p:cNvSpPr/>
          <p:nvPr/>
        </p:nvSpPr>
        <p:spPr>
          <a:xfrm>
            <a:off x="9134856" y="1463040"/>
            <a:ext cx="118872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Azure</a:t>
            </a:r>
            <a:endParaRPr lang="en-US" sz="1150" dirty="0"/>
          </a:p>
        </p:txBody>
      </p:sp>
      <p:sp>
        <p:nvSpPr>
          <p:cNvPr id="40" name="Text 38"/>
          <p:cNvSpPr/>
          <p:nvPr/>
        </p:nvSpPr>
        <p:spPr>
          <a:xfrm>
            <a:off x="9025128" y="2286000"/>
            <a:ext cx="1371600" cy="86868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Writes patient-chart findings</a:t>
            </a:r>
            <a:endParaRPr lang="en-US" sz="1200" dirty="0"/>
          </a:p>
        </p:txBody>
      </p:sp>
      <p:sp>
        <p:nvSpPr>
          <p:cNvPr id="41" name="Shape 39"/>
          <p:cNvSpPr/>
          <p:nvPr/>
        </p:nvSpPr>
        <p:spPr>
          <a:xfrm>
            <a:off x="9070848" y="3200400"/>
            <a:ext cx="1280160" cy="292608"/>
          </a:xfrm>
          <a:prstGeom prst="roundRect">
            <a:avLst>
              <a:gd name="adj" fmla="val 18750"/>
            </a:avLst>
          </a:prstGeom>
          <a:solidFill>
            <a:srgbClr val="FFFFFF"/>
          </a:solidFill>
          <a:ln w="12700">
            <a:solidFill>
              <a:srgbClr val="B54708"/>
            </a:solidFill>
            <a:prstDash val="solid"/>
          </a:ln>
        </p:spPr>
      </p:sp>
      <p:sp>
        <p:nvSpPr>
          <p:cNvPr id="42" name="Text 40"/>
          <p:cNvSpPr/>
          <p:nvPr/>
        </p:nvSpPr>
        <p:spPr>
          <a:xfrm>
            <a:off x="9070848" y="3200400"/>
            <a:ext cx="1280160" cy="292608"/>
          </a:xfrm>
          <a:prstGeom prst="rect">
            <a:avLst/>
          </a:prstGeom>
          <a:noFill/>
          <a:ln/>
        </p:spPr>
        <p:txBody>
          <a:bodyPr wrap="square" lIns="0" tIns="0" rIns="0" bIns="0" rtlCol="0" anchor="ctr"/>
          <a:lstStyle/>
          <a:p>
            <a:pPr algn="ctr" indent="0" marL="0">
              <a:buNone/>
            </a:pPr>
            <a:r>
              <a:rPr lang="en-US" sz="950" b="1" dirty="0">
                <a:solidFill>
                  <a:srgbClr val="B54708"/>
                </a:solidFill>
                <a:latin typeface="Calibri" pitchFamily="34" charset="0"/>
                <a:ea typeface="Calibri" pitchFamily="34" charset="-122"/>
                <a:cs typeface="Calibri" pitchFamily="34" charset="-120"/>
              </a:rPr>
              <a:t>chart updated</a:t>
            </a:r>
            <a:endParaRPr lang="en-US" sz="950" dirty="0"/>
          </a:p>
        </p:txBody>
      </p:sp>
      <p:sp>
        <p:nvSpPr>
          <p:cNvPr id="43" name="Shape 41"/>
          <p:cNvSpPr/>
          <p:nvPr/>
        </p:nvSpPr>
        <p:spPr>
          <a:xfrm>
            <a:off x="10460736" y="1463040"/>
            <a:ext cx="1371600" cy="685800"/>
          </a:xfrm>
          <a:prstGeom prst="chevron">
            <a:avLst/>
          </a:prstGeom>
          <a:solidFill>
            <a:srgbClr val="00509E"/>
          </a:solidFill>
          <a:ln w="12700">
            <a:solidFill>
              <a:srgbClr val="00509E"/>
            </a:solidFill>
            <a:prstDash val="solid"/>
          </a:ln>
        </p:spPr>
      </p:sp>
      <p:sp>
        <p:nvSpPr>
          <p:cNvPr id="44" name="Text 42"/>
          <p:cNvSpPr/>
          <p:nvPr/>
        </p:nvSpPr>
        <p:spPr>
          <a:xfrm>
            <a:off x="10570464" y="1463040"/>
            <a:ext cx="118872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Doctor</a:t>
            </a:r>
            <a:endParaRPr lang="en-US" sz="1150" dirty="0"/>
          </a:p>
        </p:txBody>
      </p:sp>
      <p:sp>
        <p:nvSpPr>
          <p:cNvPr id="45" name="Text 43"/>
          <p:cNvSpPr/>
          <p:nvPr/>
        </p:nvSpPr>
        <p:spPr>
          <a:xfrm>
            <a:off x="10460736" y="2286000"/>
            <a:ext cx="1371600" cy="86868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Reads, exports, shares</a:t>
            </a:r>
            <a:endParaRPr lang="en-US" sz="1200" dirty="0"/>
          </a:p>
        </p:txBody>
      </p:sp>
      <p:sp>
        <p:nvSpPr>
          <p:cNvPr id="46" name="Shape 44"/>
          <p:cNvSpPr/>
          <p:nvPr/>
        </p:nvSpPr>
        <p:spPr>
          <a:xfrm>
            <a:off x="10506456" y="3200400"/>
            <a:ext cx="1280160" cy="292608"/>
          </a:xfrm>
          <a:prstGeom prst="roundRect">
            <a:avLst>
              <a:gd name="adj" fmla="val 18750"/>
            </a:avLst>
          </a:prstGeom>
          <a:solidFill>
            <a:srgbClr val="FFFFFF"/>
          </a:solidFill>
          <a:ln w="12700">
            <a:solidFill>
              <a:srgbClr val="00509E"/>
            </a:solidFill>
            <a:prstDash val="solid"/>
          </a:ln>
        </p:spPr>
      </p:sp>
      <p:sp>
        <p:nvSpPr>
          <p:cNvPr id="47" name="Text 45"/>
          <p:cNvSpPr/>
          <p:nvPr/>
        </p:nvSpPr>
        <p:spPr>
          <a:xfrm>
            <a:off x="10506456" y="3200400"/>
            <a:ext cx="1280160" cy="292608"/>
          </a:xfrm>
          <a:prstGeom prst="rect">
            <a:avLst/>
          </a:prstGeom>
          <a:noFill/>
          <a:ln/>
        </p:spPr>
        <p:txBody>
          <a:bodyPr wrap="square" lIns="0" tIns="0" rIns="0" bIns="0" rtlCol="0" anchor="ctr"/>
          <a:lstStyle/>
          <a:p>
            <a:pPr algn="ctr" indent="0" marL="0">
              <a:buNone/>
            </a:pPr>
            <a:r>
              <a:rPr lang="en-US" sz="950" b="1" dirty="0">
                <a:solidFill>
                  <a:srgbClr val="00509E"/>
                </a:solidFill>
                <a:latin typeface="Calibri" pitchFamily="34" charset="0"/>
                <a:ea typeface="Calibri" pitchFamily="34" charset="-122"/>
                <a:cs typeface="Calibri" pitchFamily="34" charset="-120"/>
              </a:rPr>
              <a:t>read-only</a:t>
            </a:r>
            <a:endParaRPr lang="en-US" sz="950" dirty="0"/>
          </a:p>
        </p:txBody>
      </p:sp>
      <p:sp>
        <p:nvSpPr>
          <p:cNvPr id="48" name="Shape 46"/>
          <p:cNvSpPr/>
          <p:nvPr/>
        </p:nvSpPr>
        <p:spPr>
          <a:xfrm>
            <a:off x="548640" y="3931920"/>
            <a:ext cx="3566160" cy="2194560"/>
          </a:xfrm>
          <a:prstGeom prst="rect">
            <a:avLst/>
          </a:prstGeom>
          <a:solidFill>
            <a:srgbClr val="F6F5EF"/>
          </a:solidFill>
          <a:ln w="9525">
            <a:solidFill>
              <a:srgbClr val="D6D3C4"/>
            </a:solidFill>
            <a:prstDash val="solid"/>
          </a:ln>
        </p:spPr>
      </p:sp>
      <p:sp>
        <p:nvSpPr>
          <p:cNvPr id="49" name="Shape 47"/>
          <p:cNvSpPr/>
          <p:nvPr/>
        </p:nvSpPr>
        <p:spPr>
          <a:xfrm>
            <a:off x="548640" y="3931920"/>
            <a:ext cx="64008" cy="2194560"/>
          </a:xfrm>
          <a:prstGeom prst="rect">
            <a:avLst/>
          </a:prstGeom>
          <a:solidFill>
            <a:srgbClr val="003366"/>
          </a:solidFill>
          <a:ln w="12700">
            <a:solidFill>
              <a:srgbClr val="003366"/>
            </a:solidFill>
            <a:prstDash val="solid"/>
          </a:ln>
        </p:spPr>
      </p:sp>
      <p:sp>
        <p:nvSpPr>
          <p:cNvPr id="50" name="Text 48"/>
          <p:cNvSpPr/>
          <p:nvPr/>
        </p:nvSpPr>
        <p:spPr>
          <a:xfrm>
            <a:off x="731520" y="4023360"/>
            <a:ext cx="3291840" cy="329184"/>
          </a:xfrm>
          <a:prstGeom prst="rect">
            <a:avLst/>
          </a:prstGeom>
          <a:noFill/>
          <a:ln/>
        </p:spPr>
        <p:txBody>
          <a:bodyPr wrap="square" lIns="0" tIns="0" rIns="0" bIns="0" rtlCol="0" anchor="t"/>
          <a:lstStyle/>
          <a:p>
            <a:pPr indent="0" marL="0">
              <a:buNone/>
            </a:pPr>
            <a:r>
              <a:rPr lang="en-US" sz="1500" b="1" dirty="0">
                <a:solidFill>
                  <a:srgbClr val="003366"/>
                </a:solidFill>
                <a:latin typeface="Calibri" pitchFamily="34" charset="0"/>
                <a:ea typeface="Calibri" pitchFamily="34" charset="-122"/>
                <a:cs typeface="Calibri" pitchFamily="34" charset="-120"/>
              </a:rPr>
              <a:t>Automatic first draft</a:t>
            </a:r>
            <a:endParaRPr lang="en-US" sz="1500" dirty="0"/>
          </a:p>
        </p:txBody>
      </p:sp>
      <p:sp>
        <p:nvSpPr>
          <p:cNvPr id="51" name="Text 49"/>
          <p:cNvSpPr/>
          <p:nvPr/>
        </p:nvSpPr>
        <p:spPr>
          <a:xfrm>
            <a:off x="731520" y="4389120"/>
            <a:ext cx="3291840" cy="1664208"/>
          </a:xfrm>
          <a:prstGeom prst="rect">
            <a:avLst/>
          </a:prstGeom>
          <a:noFill/>
          <a:ln/>
        </p:spPr>
        <p:txBody>
          <a:bodyPr wrap="square" lIns="0" tIns="0" rIns="0" bIns="0" rtlCol="0" anchor="t"/>
          <a:lstStyle/>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There is no “Use AI” button. Saving the film starts CURV in the background; the API returns at once and the worklist updates itself when the draft is ready.</a:t>
            </a:r>
            <a:endParaRPr lang="en-US" sz="1300" dirty="0"/>
          </a:p>
        </p:txBody>
      </p:sp>
      <p:sp>
        <p:nvSpPr>
          <p:cNvPr id="52" name="Shape 50"/>
          <p:cNvSpPr/>
          <p:nvPr/>
        </p:nvSpPr>
        <p:spPr>
          <a:xfrm>
            <a:off x="4315968" y="3931920"/>
            <a:ext cx="3566160" cy="2194560"/>
          </a:xfrm>
          <a:prstGeom prst="rect">
            <a:avLst/>
          </a:prstGeom>
          <a:solidFill>
            <a:srgbClr val="F6F5EF"/>
          </a:solidFill>
          <a:ln w="9525">
            <a:solidFill>
              <a:srgbClr val="D6D3C4"/>
            </a:solidFill>
            <a:prstDash val="solid"/>
          </a:ln>
        </p:spPr>
      </p:sp>
      <p:sp>
        <p:nvSpPr>
          <p:cNvPr id="53" name="Shape 51"/>
          <p:cNvSpPr/>
          <p:nvPr/>
        </p:nvSpPr>
        <p:spPr>
          <a:xfrm>
            <a:off x="4315968" y="3931920"/>
            <a:ext cx="64008" cy="2194560"/>
          </a:xfrm>
          <a:prstGeom prst="rect">
            <a:avLst/>
          </a:prstGeom>
          <a:solidFill>
            <a:srgbClr val="008080"/>
          </a:solidFill>
          <a:ln w="12700">
            <a:solidFill>
              <a:srgbClr val="008080"/>
            </a:solidFill>
            <a:prstDash val="solid"/>
          </a:ln>
        </p:spPr>
      </p:sp>
      <p:sp>
        <p:nvSpPr>
          <p:cNvPr id="54" name="Text 52"/>
          <p:cNvSpPr/>
          <p:nvPr/>
        </p:nvSpPr>
        <p:spPr>
          <a:xfrm>
            <a:off x="4498848" y="4023360"/>
            <a:ext cx="3291840" cy="329184"/>
          </a:xfrm>
          <a:prstGeom prst="rect">
            <a:avLst/>
          </a:prstGeom>
          <a:noFill/>
          <a:ln/>
        </p:spPr>
        <p:txBody>
          <a:bodyPr wrap="square" lIns="0" tIns="0" rIns="0" bIns="0" rtlCol="0" anchor="t"/>
          <a:lstStyle/>
          <a:p>
            <a:pPr indent="0" marL="0">
              <a:buNone/>
            </a:pPr>
            <a:r>
              <a:rPr lang="en-US" sz="1500" b="1" dirty="0">
                <a:solidFill>
                  <a:srgbClr val="008080"/>
                </a:solidFill>
                <a:latin typeface="Calibri" pitchFamily="34" charset="0"/>
                <a:ea typeface="Calibri" pitchFamily="34" charset="-122"/>
                <a:cs typeface="Calibri" pitchFamily="34" charset="-120"/>
              </a:rPr>
              <a:t>Human sign-off</a:t>
            </a:r>
            <a:endParaRPr lang="en-US" sz="1500" dirty="0"/>
          </a:p>
        </p:txBody>
      </p:sp>
      <p:sp>
        <p:nvSpPr>
          <p:cNvPr id="55" name="Text 53"/>
          <p:cNvSpPr/>
          <p:nvPr/>
        </p:nvSpPr>
        <p:spPr>
          <a:xfrm>
            <a:off x="4498848" y="4389120"/>
            <a:ext cx="3291840" cy="1664208"/>
          </a:xfrm>
          <a:prstGeom prst="rect">
            <a:avLst/>
          </a:prstGeom>
          <a:noFill/>
          <a:ln/>
        </p:spPr>
        <p:txBody>
          <a:bodyPr wrap="square" lIns="0" tIns="0" rIns="0" bIns="0" rtlCol="0" anchor="t"/>
          <a:lstStyle/>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Endorse is refused while AI is still running. After endorsement the report, boxes and measurements are locked; remarks and the urgent flag can still change.</a:t>
            </a:r>
            <a:endParaRPr lang="en-US" sz="1300" dirty="0"/>
          </a:p>
        </p:txBody>
      </p:sp>
      <p:sp>
        <p:nvSpPr>
          <p:cNvPr id="56" name="Shape 54"/>
          <p:cNvSpPr/>
          <p:nvPr/>
        </p:nvSpPr>
        <p:spPr>
          <a:xfrm>
            <a:off x="8083296" y="3931920"/>
            <a:ext cx="3566160" cy="2194560"/>
          </a:xfrm>
          <a:prstGeom prst="rect">
            <a:avLst/>
          </a:prstGeom>
          <a:solidFill>
            <a:srgbClr val="F6F5EF"/>
          </a:solidFill>
          <a:ln w="9525">
            <a:solidFill>
              <a:srgbClr val="D6D3C4"/>
            </a:solidFill>
            <a:prstDash val="solid"/>
          </a:ln>
        </p:spPr>
      </p:sp>
      <p:sp>
        <p:nvSpPr>
          <p:cNvPr id="57" name="Shape 55"/>
          <p:cNvSpPr/>
          <p:nvPr/>
        </p:nvSpPr>
        <p:spPr>
          <a:xfrm>
            <a:off x="8083296" y="3931920"/>
            <a:ext cx="64008" cy="2194560"/>
          </a:xfrm>
          <a:prstGeom prst="rect">
            <a:avLst/>
          </a:prstGeom>
          <a:solidFill>
            <a:srgbClr val="00509E"/>
          </a:solidFill>
          <a:ln w="12700">
            <a:solidFill>
              <a:srgbClr val="00509E"/>
            </a:solidFill>
            <a:prstDash val="solid"/>
          </a:ln>
        </p:spPr>
      </p:sp>
      <p:sp>
        <p:nvSpPr>
          <p:cNvPr id="58" name="Text 56"/>
          <p:cNvSpPr/>
          <p:nvPr/>
        </p:nvSpPr>
        <p:spPr>
          <a:xfrm>
            <a:off x="8266176" y="4023360"/>
            <a:ext cx="3291840" cy="329184"/>
          </a:xfrm>
          <a:prstGeom prst="rect">
            <a:avLst/>
          </a:prstGeom>
          <a:noFill/>
          <a:ln/>
        </p:spPr>
        <p:txBody>
          <a:bodyPr wrap="square" lIns="0" tIns="0" rIns="0" bIns="0" rtlCol="0" anchor="t"/>
          <a:lstStyle/>
          <a:p>
            <a:pPr indent="0" marL="0">
              <a:buNone/>
            </a:pPr>
            <a:r>
              <a:rPr lang="en-US" sz="1500" b="1" dirty="0">
                <a:solidFill>
                  <a:srgbClr val="00509E"/>
                </a:solidFill>
                <a:latin typeface="Calibri" pitchFamily="34" charset="0"/>
                <a:ea typeface="Calibri" pitchFamily="34" charset="-122"/>
                <a:cs typeface="Calibri" pitchFamily="34" charset="-120"/>
              </a:rPr>
              <a:t>Clean issued report</a:t>
            </a:r>
            <a:endParaRPr lang="en-US" sz="1500" dirty="0"/>
          </a:p>
        </p:txBody>
      </p:sp>
      <p:sp>
        <p:nvSpPr>
          <p:cNvPr id="59" name="Text 57"/>
          <p:cNvSpPr/>
          <p:nvPr/>
        </p:nvSpPr>
        <p:spPr>
          <a:xfrm>
            <a:off x="8266176" y="4389120"/>
            <a:ext cx="3291840" cy="1664208"/>
          </a:xfrm>
          <a:prstGeom prst="rect">
            <a:avLst/>
          </a:prstGeom>
          <a:noFill/>
          <a:ln/>
        </p:spPr>
        <p:txBody>
          <a:bodyPr wrap="square" lIns="0" tIns="0" rIns="0" bIns="0" rtlCol="0" anchor="t"/>
          <a:lstStyle/>
          <a:p>
            <a:pPr indent="0" marL="0">
              <a:spcAft>
                <a:spcPts val="300"/>
              </a:spcAft>
              <a:buNone/>
            </a:pPr>
            <a:r>
              <a:rPr lang="en-US" sz="1300" dirty="0">
                <a:solidFill>
                  <a:srgbClr val="1F2937"/>
                </a:solidFill>
                <a:latin typeface="Calibri" pitchFamily="34" charset="0"/>
                <a:ea typeface="Calibri" pitchFamily="34" charset="-122"/>
                <a:cs typeface="Calibri" pitchFamily="34" charset="-120"/>
              </a:rPr>
              <a:t>The doctor’s view, Word and PDF contain Findings, Impression, measurements and the signature — no hidden Thinking and no AI / manual tags.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WORKFLOW</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Role-based access control</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5212080"/>
                <a:gridCol w="1463040"/>
                <a:gridCol w="1463040"/>
                <a:gridCol w="1463040"/>
                <a:gridCol w="14630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Technician</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Radiologist</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Doctor</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Admin</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Browse Patient Master, Sepsis Monitor, Care Notes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Book (request) a chest X-ray</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Register the film on a request</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See drafts, films and AI boxes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Edit report, boxes, measurements · re-run AI · endorse</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Read an endorsed report · export Word / PDF</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See Azure findings on the patient chart</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Order labs on the chart</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Share an endorsed report (public link)</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Users, audit log, bulk delete</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dirty="0">
                          <a:solidFill>
                            <a:srgbClr val="9AA1AC"/>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c>
                  <a:txBody>
                    <a:bodyPr/>
                    <a:lstStyle/>
                    <a:p>
                      <a:pPr indent="0" marL="0">
                        <a:buNone/>
                      </a:pPr>
                      <a:r>
                        <a:rPr lang="en-US" sz="1300" b="1" dirty="0">
                          <a:solidFill>
                            <a:srgbClr val="067647"/>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6F5EF"/>
                    </a:solidFill>
                  </a:tcPr>
                </a:tc>
              </a:tr>
            </a:tbl>
          </a:graphicData>
        </a:graphic>
      </p:graphicFrame>
      <p:sp>
        <p:nvSpPr>
          <p:cNvPr id="9" name="Text 6"/>
          <p:cNvSpPr/>
          <p:nvPr/>
        </p:nvSpPr>
        <p:spPr>
          <a:xfrm>
            <a:off x="548640" y="5623560"/>
            <a:ext cx="11064240" cy="548640"/>
          </a:xfrm>
          <a:prstGeom prst="rect">
            <a:avLst/>
          </a:prstGeom>
          <a:noFill/>
          <a:ln/>
        </p:spPr>
        <p:txBody>
          <a:bodyPr wrap="square" lIns="0" tIns="0" rIns="0" bIns="0"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Enforced on the server (route middleware + response stripping), not just hidden in the UI. Technician responses never contain the film, report, findings or chart findings.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SCREENS</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Radiologist X-ray worklist</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8" name="Shape 6"/>
          <p:cNvSpPr/>
          <p:nvPr/>
        </p:nvSpPr>
        <p:spPr>
          <a:xfrm>
            <a:off x="429768" y="1427988"/>
            <a:ext cx="7735824" cy="4642104"/>
          </a:xfrm>
          <a:prstGeom prst="rect">
            <a:avLst/>
          </a:prstGeom>
          <a:solidFill>
            <a:srgbClr val="D6D3C4"/>
          </a:solidFill>
          <a:ln w="12700">
            <a:solidFill>
              <a:srgbClr val="D6D3C4"/>
            </a:solidFill>
            <a:prstDash val="solid"/>
          </a:ln>
        </p:spPr>
      </p:sp>
      <p:pic>
        <p:nvPicPr>
          <p:cNvPr id="9" name="Image 0" descr="/tmp/radassist-ppt/shots/02-worklist.png">    </p:cNvPr>
          <p:cNvPicPr>
            <a:picLocks noChangeAspect="1"/>
          </p:cNvPicPr>
          <p:nvPr/>
        </p:nvPicPr>
        <p:blipFill>
          <a:blip r:embed="rId1"/>
          <a:stretch>
            <a:fillRect/>
          </a:stretch>
        </p:blipFill>
        <p:spPr>
          <a:xfrm>
            <a:off x="457200" y="1455420"/>
            <a:ext cx="7680960" cy="4587240"/>
          </a:xfrm>
          <a:prstGeom prst="rect">
            <a:avLst/>
          </a:prstGeom>
        </p:spPr>
      </p:pic>
      <p:sp>
        <p:nvSpPr>
          <p:cNvPr id="10" name="Shape 7"/>
          <p:cNvSpPr/>
          <p:nvPr/>
        </p:nvSpPr>
        <p:spPr>
          <a:xfrm>
            <a:off x="8366760" y="1325880"/>
            <a:ext cx="310896" cy="310896"/>
          </a:xfrm>
          <a:prstGeom prst="ellipse">
            <a:avLst/>
          </a:prstGeom>
          <a:solidFill>
            <a:srgbClr val="008080"/>
          </a:solidFill>
          <a:ln w="12700">
            <a:solidFill>
              <a:srgbClr val="008080"/>
            </a:solidFill>
            <a:prstDash val="solid"/>
          </a:ln>
        </p:spPr>
      </p:sp>
      <p:sp>
        <p:nvSpPr>
          <p:cNvPr id="11" name="Text 8"/>
          <p:cNvSpPr/>
          <p:nvPr/>
        </p:nvSpPr>
        <p:spPr>
          <a:xfrm>
            <a:off x="8366760" y="13258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9"/>
          <p:cNvSpPr/>
          <p:nvPr/>
        </p:nvSpPr>
        <p:spPr>
          <a:xfrm>
            <a:off x="8778240" y="1289304"/>
            <a:ext cx="329184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My work queues: All, Outstanding, Partially endorsed (draft), Fully endorsed, Requested, Urgent.</a:t>
            </a:r>
            <a:endParaRPr lang="en-US" sz="1250" dirty="0"/>
          </a:p>
        </p:txBody>
      </p:sp>
      <p:sp>
        <p:nvSpPr>
          <p:cNvPr id="13" name="Shape 10"/>
          <p:cNvSpPr/>
          <p:nvPr/>
        </p:nvSpPr>
        <p:spPr>
          <a:xfrm>
            <a:off x="8366760" y="2331720"/>
            <a:ext cx="310896" cy="310896"/>
          </a:xfrm>
          <a:prstGeom prst="ellipse">
            <a:avLst/>
          </a:prstGeom>
          <a:solidFill>
            <a:srgbClr val="008080"/>
          </a:solidFill>
          <a:ln w="12700">
            <a:solidFill>
              <a:srgbClr val="008080"/>
            </a:solidFill>
            <a:prstDash val="solid"/>
          </a:ln>
        </p:spPr>
      </p:sp>
      <p:sp>
        <p:nvSpPr>
          <p:cNvPr id="14" name="Text 11"/>
          <p:cNvSpPr/>
          <p:nvPr/>
        </p:nvSpPr>
        <p:spPr>
          <a:xfrm>
            <a:off x="8366760" y="2331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8778240" y="2295144"/>
            <a:ext cx="329184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Dense RIS-style grid modelled on the COMP4126 lecture worklist. Urgent rows (U) sort first.</a:t>
            </a:r>
            <a:endParaRPr lang="en-US" sz="1250" dirty="0"/>
          </a:p>
        </p:txBody>
      </p:sp>
      <p:sp>
        <p:nvSpPr>
          <p:cNvPr id="16" name="Shape 13"/>
          <p:cNvSpPr/>
          <p:nvPr/>
        </p:nvSpPr>
        <p:spPr>
          <a:xfrm>
            <a:off x="8366760" y="3337560"/>
            <a:ext cx="310896" cy="310896"/>
          </a:xfrm>
          <a:prstGeom prst="ellipse">
            <a:avLst/>
          </a:prstGeom>
          <a:solidFill>
            <a:srgbClr val="008080"/>
          </a:solidFill>
          <a:ln w="12700">
            <a:solidFill>
              <a:srgbClr val="008080"/>
            </a:solidFill>
            <a:prstDash val="solid"/>
          </a:ln>
        </p:spPr>
      </p:sp>
      <p:sp>
        <p:nvSpPr>
          <p:cNvPr id="17" name="Text 14"/>
          <p:cNvSpPr/>
          <p:nvPr/>
        </p:nvSpPr>
        <p:spPr>
          <a:xfrm>
            <a:off x="8366760" y="33375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5"/>
          <p:cNvSpPr/>
          <p:nvPr/>
        </p:nvSpPr>
        <p:spPr>
          <a:xfrm>
            <a:off x="8778240" y="3300984"/>
            <a:ext cx="329184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Live status: Generating → Pending approve → Endorsed, updated without a reload.</a:t>
            </a:r>
            <a:endParaRPr lang="en-US" sz="1250" dirty="0"/>
          </a:p>
        </p:txBody>
      </p:sp>
      <p:sp>
        <p:nvSpPr>
          <p:cNvPr id="19" name="Shape 16"/>
          <p:cNvSpPr/>
          <p:nvPr/>
        </p:nvSpPr>
        <p:spPr>
          <a:xfrm>
            <a:off x="8366760" y="4343400"/>
            <a:ext cx="310896" cy="310896"/>
          </a:xfrm>
          <a:prstGeom prst="ellipse">
            <a:avLst/>
          </a:prstGeom>
          <a:solidFill>
            <a:srgbClr val="008080"/>
          </a:solidFill>
          <a:ln w="12700">
            <a:solidFill>
              <a:srgbClr val="008080"/>
            </a:solidFill>
            <a:prstDash val="solid"/>
          </a:ln>
        </p:spPr>
      </p:sp>
      <p:sp>
        <p:nvSpPr>
          <p:cNvPr id="20" name="Text 17"/>
          <p:cNvSpPr/>
          <p:nvPr/>
        </p:nvSpPr>
        <p:spPr>
          <a:xfrm>
            <a:off x="8366760" y="43434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p:nvPr/>
        </p:nvSpPr>
        <p:spPr>
          <a:xfrm>
            <a:off x="8778240" y="4306824"/>
            <a:ext cx="329184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Short diagnosis under “Chest”: picked locally from CURV’s text; Azure refines it only after the radiologist edits.</a:t>
            </a:r>
            <a:endParaRPr lang="en-US" sz="1250" dirty="0"/>
          </a:p>
        </p:txBody>
      </p:sp>
      <p:sp>
        <p:nvSpPr>
          <p:cNvPr id="22" name="Shape 19"/>
          <p:cNvSpPr/>
          <p:nvPr/>
        </p:nvSpPr>
        <p:spPr>
          <a:xfrm>
            <a:off x="8366760" y="5349240"/>
            <a:ext cx="310896" cy="310896"/>
          </a:xfrm>
          <a:prstGeom prst="ellipse">
            <a:avLst/>
          </a:prstGeom>
          <a:solidFill>
            <a:srgbClr val="008080"/>
          </a:solidFill>
          <a:ln w="12700">
            <a:solidFill>
              <a:srgbClr val="008080"/>
            </a:solidFill>
            <a:prstDash val="solid"/>
          </a:ln>
        </p:spPr>
      </p:sp>
      <p:sp>
        <p:nvSpPr>
          <p:cNvPr id="23" name="Text 20"/>
          <p:cNvSpPr/>
          <p:nvPr/>
        </p:nvSpPr>
        <p:spPr>
          <a:xfrm>
            <a:off x="8366760" y="53492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1"/>
          <p:cNvSpPr/>
          <p:nvPr/>
        </p:nvSpPr>
        <p:spPr>
          <a:xfrm>
            <a:off x="8778240" y="5312664"/>
            <a:ext cx="329184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Referring doctors use the same grid as “Examination enquiry” — requested and endorsed rows only.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SCREENS</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Ordering the exam and registering the film</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8" name="Shape 6"/>
          <p:cNvSpPr/>
          <p:nvPr/>
        </p:nvSpPr>
        <p:spPr>
          <a:xfrm>
            <a:off x="429768" y="1342898"/>
            <a:ext cx="5724144" cy="3440684"/>
          </a:xfrm>
          <a:prstGeom prst="rect">
            <a:avLst/>
          </a:prstGeom>
          <a:solidFill>
            <a:srgbClr val="D6D3C4"/>
          </a:solidFill>
          <a:ln w="12700">
            <a:solidFill>
              <a:srgbClr val="D6D3C4"/>
            </a:solidFill>
            <a:prstDash val="solid"/>
          </a:ln>
        </p:spPr>
      </p:sp>
      <p:pic>
        <p:nvPicPr>
          <p:cNvPr id="9" name="Image 0" descr="/tmp/radassist-ppt/shots/14-book-xray.png">    </p:cNvPr>
          <p:cNvPicPr>
            <a:picLocks noChangeAspect="1"/>
          </p:cNvPicPr>
          <p:nvPr/>
        </p:nvPicPr>
        <p:blipFill>
          <a:blip r:embed="rId1"/>
          <a:stretch>
            <a:fillRect/>
          </a:stretch>
        </p:blipFill>
        <p:spPr>
          <a:xfrm>
            <a:off x="457200" y="1370330"/>
            <a:ext cx="5669280" cy="3385820"/>
          </a:xfrm>
          <a:prstGeom prst="rect">
            <a:avLst/>
          </a:prstGeom>
        </p:spPr>
      </p:pic>
      <p:sp>
        <p:nvSpPr>
          <p:cNvPr id="10" name="Shape 7"/>
          <p:cNvSpPr/>
          <p:nvPr/>
        </p:nvSpPr>
        <p:spPr>
          <a:xfrm>
            <a:off x="6281928" y="1397508"/>
            <a:ext cx="5541264" cy="3331464"/>
          </a:xfrm>
          <a:prstGeom prst="rect">
            <a:avLst/>
          </a:prstGeom>
          <a:solidFill>
            <a:srgbClr val="D6D3C4"/>
          </a:solidFill>
          <a:ln w="12700">
            <a:solidFill>
              <a:srgbClr val="D6D3C4"/>
            </a:solidFill>
            <a:prstDash val="solid"/>
          </a:ln>
        </p:spPr>
      </p:sp>
      <p:pic>
        <p:nvPicPr>
          <p:cNvPr id="11" name="Image 1" descr="/tmp/radassist-ppt/shots/16-tech-requests.png">    </p:cNvPr>
          <p:cNvPicPr>
            <a:picLocks noChangeAspect="1"/>
          </p:cNvPicPr>
          <p:nvPr/>
        </p:nvPicPr>
        <p:blipFill>
          <a:blip r:embed="rId2"/>
          <a:stretch>
            <a:fillRect/>
          </a:stretch>
        </p:blipFill>
        <p:spPr>
          <a:xfrm>
            <a:off x="6309360" y="1424940"/>
            <a:ext cx="5486400" cy="3276600"/>
          </a:xfrm>
          <a:prstGeom prst="rect">
            <a:avLst/>
          </a:prstGeom>
        </p:spPr>
      </p:pic>
      <p:sp>
        <p:nvSpPr>
          <p:cNvPr id="12" name="Text 8"/>
          <p:cNvSpPr/>
          <p:nvPr/>
        </p:nvSpPr>
        <p:spPr>
          <a:xfrm>
            <a:off x="457200" y="5074920"/>
            <a:ext cx="5669280" cy="320040"/>
          </a:xfrm>
          <a:prstGeom prst="rect">
            <a:avLst/>
          </a:prstGeom>
          <a:noFill/>
          <a:ln/>
        </p:spPr>
        <p:txBody>
          <a:bodyPr wrap="square" lIns="0" tIns="0" rIns="0" bIns="0" rtlCol="0" anchor="ctr"/>
          <a:lstStyle/>
          <a:p>
            <a:pPr algn="ctr" indent="0" marL="0">
              <a:buNone/>
            </a:pPr>
            <a:r>
              <a:rPr lang="en-US" sz="1300" b="1" dirty="0">
                <a:solidFill>
                  <a:srgbClr val="003366"/>
                </a:solidFill>
                <a:latin typeface="Calibri" pitchFamily="34" charset="0"/>
                <a:ea typeface="Calibri" pitchFamily="34" charset="-122"/>
                <a:cs typeface="Calibri" pitchFamily="34" charset="-120"/>
              </a:rPr>
              <a:t>Doctor: drag the Chest X-ray chip onto a day (or click it) → Confirm booking</a:t>
            </a:r>
            <a:endParaRPr lang="en-US" sz="1300" dirty="0"/>
          </a:p>
        </p:txBody>
      </p:sp>
      <p:sp>
        <p:nvSpPr>
          <p:cNvPr id="13" name="Text 9"/>
          <p:cNvSpPr/>
          <p:nvPr/>
        </p:nvSpPr>
        <p:spPr>
          <a:xfrm>
            <a:off x="6309360" y="5074920"/>
            <a:ext cx="5486400" cy="320040"/>
          </a:xfrm>
          <a:prstGeom prst="rect">
            <a:avLst/>
          </a:prstGeom>
          <a:noFill/>
          <a:ln/>
        </p:spPr>
        <p:txBody>
          <a:bodyPr wrap="square" lIns="0" tIns="0" rIns="0" bIns="0" rtlCol="0" anchor="ctr"/>
          <a:lstStyle/>
          <a:p>
            <a:pPr algn="ctr" indent="0" marL="0">
              <a:buNone/>
            </a:pPr>
            <a:r>
              <a:rPr lang="en-US" sz="1300" b="1" dirty="0">
                <a:solidFill>
                  <a:srgbClr val="003366"/>
                </a:solidFill>
                <a:latin typeface="Calibri" pitchFamily="34" charset="0"/>
                <a:ea typeface="Calibri" pitchFamily="34" charset="-122"/>
                <a:cs typeface="Calibri" pitchFamily="34" charset="-120"/>
              </a:rPr>
              <a:t>Technician: Requested case queue → Register film</a:t>
            </a:r>
            <a:endParaRPr lang="en-US" sz="1300" dirty="0"/>
          </a:p>
        </p:txBody>
      </p:sp>
      <p:sp>
        <p:nvSpPr>
          <p:cNvPr id="14" name="Text 10"/>
          <p:cNvSpPr/>
          <p:nvPr/>
        </p:nvSpPr>
        <p:spPr>
          <a:xfrm>
            <a:off x="548640" y="5486400"/>
            <a:ext cx="11064240" cy="822960"/>
          </a:xfrm>
          <a:prstGeom prst="rect">
            <a:avLst/>
          </a:prstGeom>
          <a:noFill/>
          <a:ln/>
        </p:spPr>
        <p:txBody>
          <a:bodyPr wrap="square" lIns="25400" tIns="25400" rIns="25400" bIns="25400" rtlCol="0" anchor="t"/>
          <a:lstStyle/>
          <a:p>
            <a:pPr marL="203200" indent="-2032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One open request per patient; the chart button reads “Requested” until the film is saved.</a:t>
            </a:r>
            <a:endParaRPr lang="en-US" sz="1300" dirty="0"/>
          </a:p>
          <a:p>
            <a:pPr marL="203200" indent="-2032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DICOM films are rendered to PNG; pixel spacing is kept so measurements can be shown in centimetres.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SCREENS</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Report review: film beside an editable draft</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8" name="Shape 6"/>
          <p:cNvSpPr/>
          <p:nvPr/>
        </p:nvSpPr>
        <p:spPr>
          <a:xfrm>
            <a:off x="429768" y="1427988"/>
            <a:ext cx="7735824" cy="4642104"/>
          </a:xfrm>
          <a:prstGeom prst="rect">
            <a:avLst/>
          </a:prstGeom>
          <a:solidFill>
            <a:srgbClr val="D6D3C4"/>
          </a:solidFill>
          <a:ln w="12700">
            <a:solidFill>
              <a:srgbClr val="D6D3C4"/>
            </a:solidFill>
            <a:prstDash val="solid"/>
          </a:ln>
        </p:spPr>
      </p:sp>
      <p:pic>
        <p:nvPicPr>
          <p:cNvPr id="9" name="Image 0" descr="/tmp/radassist-ppt/shots/03-review-draft.png">    </p:cNvPr>
          <p:cNvPicPr>
            <a:picLocks noChangeAspect="1"/>
          </p:cNvPicPr>
          <p:nvPr/>
        </p:nvPicPr>
        <p:blipFill>
          <a:blip r:embed="rId1"/>
          <a:stretch>
            <a:fillRect/>
          </a:stretch>
        </p:blipFill>
        <p:spPr>
          <a:xfrm>
            <a:off x="457200" y="1455420"/>
            <a:ext cx="7680960" cy="4587240"/>
          </a:xfrm>
          <a:prstGeom prst="rect">
            <a:avLst/>
          </a:prstGeom>
        </p:spPr>
      </p:pic>
      <p:sp>
        <p:nvSpPr>
          <p:cNvPr id="10" name="Shape 7"/>
          <p:cNvSpPr/>
          <p:nvPr/>
        </p:nvSpPr>
        <p:spPr>
          <a:xfrm>
            <a:off x="8366760" y="1234440"/>
            <a:ext cx="310896" cy="310896"/>
          </a:xfrm>
          <a:prstGeom prst="ellipse">
            <a:avLst/>
          </a:prstGeom>
          <a:solidFill>
            <a:srgbClr val="008080"/>
          </a:solidFill>
          <a:ln w="12700">
            <a:solidFill>
              <a:srgbClr val="008080"/>
            </a:solidFill>
            <a:prstDash val="solid"/>
          </a:ln>
        </p:spPr>
      </p:sp>
      <p:sp>
        <p:nvSpPr>
          <p:cNvPr id="11" name="Text 8"/>
          <p:cNvSpPr/>
          <p:nvPr/>
        </p:nvSpPr>
        <p:spPr>
          <a:xfrm>
            <a:off x="8366760" y="12344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9"/>
          <p:cNvSpPr/>
          <p:nvPr/>
        </p:nvSpPr>
        <p:spPr>
          <a:xfrm>
            <a:off x="8778240" y="1197864"/>
            <a:ext cx="329184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Toolbar: Re-run AI, Preview PDF, Word, PDF, Save draft, Endorse report, Mark urgent.</a:t>
            </a:r>
            <a:endParaRPr lang="en-US" sz="1250" dirty="0"/>
          </a:p>
        </p:txBody>
      </p:sp>
      <p:sp>
        <p:nvSpPr>
          <p:cNvPr id="13" name="Shape 10"/>
          <p:cNvSpPr/>
          <p:nvPr/>
        </p:nvSpPr>
        <p:spPr>
          <a:xfrm>
            <a:off x="8366760" y="2194560"/>
            <a:ext cx="310896" cy="310896"/>
          </a:xfrm>
          <a:prstGeom prst="ellipse">
            <a:avLst/>
          </a:prstGeom>
          <a:solidFill>
            <a:srgbClr val="008080"/>
          </a:solidFill>
          <a:ln w="12700">
            <a:solidFill>
              <a:srgbClr val="008080"/>
            </a:solidFill>
            <a:prstDash val="solid"/>
          </a:ln>
        </p:spPr>
      </p:sp>
      <p:sp>
        <p:nvSpPr>
          <p:cNvPr id="14" name="Text 11"/>
          <p:cNvSpPr/>
          <p:nvPr/>
        </p:nvSpPr>
        <p:spPr>
          <a:xfrm>
            <a:off x="8366760" y="21945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8778240" y="2157984"/>
            <a:ext cx="329184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Film tools: zoom, Measure (cm from DICOM spacing), Draw box, hide boxes / lines.</a:t>
            </a:r>
            <a:endParaRPr lang="en-US" sz="1250" dirty="0"/>
          </a:p>
        </p:txBody>
      </p:sp>
      <p:sp>
        <p:nvSpPr>
          <p:cNvPr id="16" name="Shape 13"/>
          <p:cNvSpPr/>
          <p:nvPr/>
        </p:nvSpPr>
        <p:spPr>
          <a:xfrm>
            <a:off x="8366760" y="3154680"/>
            <a:ext cx="310896" cy="310896"/>
          </a:xfrm>
          <a:prstGeom prst="ellipse">
            <a:avLst/>
          </a:prstGeom>
          <a:solidFill>
            <a:srgbClr val="008080"/>
          </a:solidFill>
          <a:ln w="12700">
            <a:solidFill>
              <a:srgbClr val="008080"/>
            </a:solidFill>
            <a:prstDash val="solid"/>
          </a:ln>
        </p:spPr>
      </p:sp>
      <p:sp>
        <p:nvSpPr>
          <p:cNvPr id="17" name="Text 14"/>
          <p:cNvSpPr/>
          <p:nvPr/>
        </p:nvSpPr>
        <p:spPr>
          <a:xfrm>
            <a:off x="8366760" y="31546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5"/>
          <p:cNvSpPr/>
          <p:nvPr/>
        </p:nvSpPr>
        <p:spPr>
          <a:xfrm>
            <a:off x="8778240" y="3118104"/>
            <a:ext cx="329184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AI boxes placed by Azure from the report wording — select, move, resize, delete or draw your own.</a:t>
            </a:r>
            <a:endParaRPr lang="en-US" sz="1250" dirty="0"/>
          </a:p>
        </p:txBody>
      </p:sp>
      <p:sp>
        <p:nvSpPr>
          <p:cNvPr id="19" name="Shape 16"/>
          <p:cNvSpPr/>
          <p:nvPr/>
        </p:nvSpPr>
        <p:spPr>
          <a:xfrm>
            <a:off x="8366760" y="4114800"/>
            <a:ext cx="310896" cy="310896"/>
          </a:xfrm>
          <a:prstGeom prst="ellipse">
            <a:avLst/>
          </a:prstGeom>
          <a:solidFill>
            <a:srgbClr val="008080"/>
          </a:solidFill>
          <a:ln w="12700">
            <a:solidFill>
              <a:srgbClr val="008080"/>
            </a:solidFill>
            <a:prstDash val="solid"/>
          </a:ln>
        </p:spPr>
      </p:sp>
      <p:sp>
        <p:nvSpPr>
          <p:cNvPr id="20" name="Text 17"/>
          <p:cNvSpPr/>
          <p:nvPr/>
        </p:nvSpPr>
        <p:spPr>
          <a:xfrm>
            <a:off x="8366760" y="4114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p:nvPr/>
        </p:nvSpPr>
        <p:spPr>
          <a:xfrm>
            <a:off x="8778240" y="4078224"/>
            <a:ext cx="329184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Report box is directly editable (Findings + Impression). CURV’s hidden Thinking is preserved but never shown.</a:t>
            </a:r>
            <a:endParaRPr lang="en-US" sz="1250" dirty="0"/>
          </a:p>
        </p:txBody>
      </p:sp>
      <p:sp>
        <p:nvSpPr>
          <p:cNvPr id="22" name="Shape 19"/>
          <p:cNvSpPr/>
          <p:nvPr/>
        </p:nvSpPr>
        <p:spPr>
          <a:xfrm>
            <a:off x="8366760" y="5120640"/>
            <a:ext cx="310896" cy="310896"/>
          </a:xfrm>
          <a:prstGeom prst="ellipse">
            <a:avLst/>
          </a:prstGeom>
          <a:solidFill>
            <a:srgbClr val="008080"/>
          </a:solidFill>
          <a:ln w="12700">
            <a:solidFill>
              <a:srgbClr val="008080"/>
            </a:solidFill>
            <a:prstDash val="solid"/>
          </a:ln>
        </p:spPr>
      </p:sp>
      <p:sp>
        <p:nvSpPr>
          <p:cNvPr id="23" name="Text 20"/>
          <p:cNvSpPr/>
          <p:nvPr/>
        </p:nvSpPr>
        <p:spPr>
          <a:xfrm>
            <a:off x="8366760" y="51206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1"/>
          <p:cNvSpPr/>
          <p:nvPr/>
        </p:nvSpPr>
        <p:spPr>
          <a:xfrm>
            <a:off x="8778240" y="5084064"/>
            <a:ext cx="3291840" cy="566928"/>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Draft log (AI vs manual) shows exactly which lines, boxes and measurements a human changed.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AI</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AI pipeline: CURV writes, Azure assists</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
        <p:nvSpPr>
          <p:cNvPr id="8" name="Shape 6"/>
          <p:cNvSpPr/>
          <p:nvPr/>
        </p:nvSpPr>
        <p:spPr>
          <a:xfrm>
            <a:off x="548640" y="1188720"/>
            <a:ext cx="5486400" cy="4937760"/>
          </a:xfrm>
          <a:prstGeom prst="rect">
            <a:avLst/>
          </a:prstGeom>
          <a:solidFill>
            <a:srgbClr val="E8F5EE"/>
          </a:solidFill>
          <a:ln w="9525">
            <a:solidFill>
              <a:srgbClr val="D6D3C4"/>
            </a:solidFill>
            <a:prstDash val="solid"/>
          </a:ln>
        </p:spPr>
      </p:sp>
      <p:sp>
        <p:nvSpPr>
          <p:cNvPr id="9" name="Shape 7"/>
          <p:cNvSpPr/>
          <p:nvPr/>
        </p:nvSpPr>
        <p:spPr>
          <a:xfrm>
            <a:off x="548640" y="1188720"/>
            <a:ext cx="64008" cy="4937760"/>
          </a:xfrm>
          <a:prstGeom prst="rect">
            <a:avLst/>
          </a:prstGeom>
          <a:solidFill>
            <a:srgbClr val="067647"/>
          </a:solidFill>
          <a:ln w="12700">
            <a:solidFill>
              <a:srgbClr val="067647"/>
            </a:solidFill>
            <a:prstDash val="solid"/>
          </a:ln>
        </p:spPr>
      </p:sp>
      <p:sp>
        <p:nvSpPr>
          <p:cNvPr id="10" name="Text 8"/>
          <p:cNvSpPr/>
          <p:nvPr/>
        </p:nvSpPr>
        <p:spPr>
          <a:xfrm>
            <a:off x="731520" y="1280160"/>
            <a:ext cx="5212080" cy="329184"/>
          </a:xfrm>
          <a:prstGeom prst="rect">
            <a:avLst/>
          </a:prstGeom>
          <a:noFill/>
          <a:ln/>
        </p:spPr>
        <p:txBody>
          <a:bodyPr wrap="square" lIns="0" tIns="0" rIns="0" bIns="0" rtlCol="0" anchor="t"/>
          <a:lstStyle/>
          <a:p>
            <a:pPr indent="0" marL="0">
              <a:buNone/>
            </a:pPr>
            <a:r>
              <a:rPr lang="en-US" sz="1500" b="1" dirty="0">
                <a:solidFill>
                  <a:srgbClr val="067647"/>
                </a:solidFill>
                <a:latin typeface="Calibri" pitchFamily="34" charset="0"/>
                <a:ea typeface="Calibri" pitchFamily="34" charset="-122"/>
                <a:cs typeface="Calibri" pitchFamily="34" charset="-120"/>
              </a:rPr>
              <a:t>CURV — report generation (local)</a:t>
            </a:r>
            <a:endParaRPr lang="en-US" sz="1500" dirty="0"/>
          </a:p>
        </p:txBody>
      </p:sp>
      <p:sp>
        <p:nvSpPr>
          <p:cNvPr id="11" name="Text 9"/>
          <p:cNvSpPr/>
          <p:nvPr/>
        </p:nvSpPr>
        <p:spPr>
          <a:xfrm>
            <a:off x="777240" y="1691640"/>
            <a:ext cx="5120640" cy="4389120"/>
          </a:xfrm>
          <a:prstGeom prst="rect">
            <a:avLst/>
          </a:prstGeom>
          <a:noFill/>
          <a:ln/>
        </p:spPr>
        <p:txBody>
          <a:bodyPr wrap="square" lIns="25400" tIns="25400" rIns="25400" bIns="25400" rtlCol="0" anchor="t"/>
          <a:lstStyle/>
          <a:p>
            <a:pPr marL="203200" indent="-2032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Called with the official CURV conversation: system prompt prompt_cxr.txt + “Please analyze this chest X-ray image…”</a:t>
            </a:r>
            <a:endParaRPr lang="en-US" sz="1350" dirty="0"/>
          </a:p>
          <a:p>
            <a:pPr marL="203200" indent="-2032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Whole frame resized to the model budget (~224 × 224, max_pixels 50176); the review screen keeps the original film.</a:t>
            </a:r>
            <a:endParaRPr lang="en-US" sz="1350" dirty="0"/>
          </a:p>
          <a:p>
            <a:pPr marL="203200" indent="-2032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Greedy decoding, repetition penalty 1.05, up to 1536 tokens.</a:t>
            </a:r>
            <a:endParaRPr lang="en-US" sz="1350" dirty="0"/>
          </a:p>
          <a:p>
            <a:pPr marL="203200" indent="-2032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Output tags &lt;findings&gt;, &lt;thinking&gt;, &lt;impression&gt; are saved verbatim — no rewording.</a:t>
            </a:r>
            <a:endParaRPr lang="en-US" sz="1350" dirty="0"/>
          </a:p>
          <a:p>
            <a:pPr marL="203200" indent="-2032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Thinking is stored with the draft but hidden on every page and in every export.</a:t>
            </a:r>
            <a:endParaRPr lang="en-US" sz="1350" dirty="0"/>
          </a:p>
          <a:p>
            <a:pPr marL="203200" indent="-2032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If CURV is unavailable the case is still stored and the radiologist writes the report by hand.</a:t>
            </a:r>
            <a:endParaRPr lang="en-US" sz="1350" dirty="0"/>
          </a:p>
        </p:txBody>
      </p:sp>
      <p:sp>
        <p:nvSpPr>
          <p:cNvPr id="12" name="Shape 10"/>
          <p:cNvSpPr/>
          <p:nvPr/>
        </p:nvSpPr>
        <p:spPr>
          <a:xfrm>
            <a:off x="6263640" y="1188720"/>
            <a:ext cx="5394960" cy="4937760"/>
          </a:xfrm>
          <a:prstGeom prst="rect">
            <a:avLst/>
          </a:prstGeom>
          <a:solidFill>
            <a:srgbClr val="FEF4E6"/>
          </a:solidFill>
          <a:ln w="9525">
            <a:solidFill>
              <a:srgbClr val="D6D3C4"/>
            </a:solidFill>
            <a:prstDash val="solid"/>
          </a:ln>
        </p:spPr>
      </p:sp>
      <p:sp>
        <p:nvSpPr>
          <p:cNvPr id="13" name="Shape 11"/>
          <p:cNvSpPr/>
          <p:nvPr/>
        </p:nvSpPr>
        <p:spPr>
          <a:xfrm>
            <a:off x="6263640" y="1188720"/>
            <a:ext cx="64008" cy="4937760"/>
          </a:xfrm>
          <a:prstGeom prst="rect">
            <a:avLst/>
          </a:prstGeom>
          <a:solidFill>
            <a:srgbClr val="B54708"/>
          </a:solidFill>
          <a:ln w="12700">
            <a:solidFill>
              <a:srgbClr val="B54708"/>
            </a:solidFill>
            <a:prstDash val="solid"/>
          </a:ln>
        </p:spPr>
      </p:sp>
      <p:sp>
        <p:nvSpPr>
          <p:cNvPr id="14" name="Text 12"/>
          <p:cNvSpPr/>
          <p:nvPr/>
        </p:nvSpPr>
        <p:spPr>
          <a:xfrm>
            <a:off x="6446520" y="1280160"/>
            <a:ext cx="5120640" cy="329184"/>
          </a:xfrm>
          <a:prstGeom prst="rect">
            <a:avLst/>
          </a:prstGeom>
          <a:noFill/>
          <a:ln/>
        </p:spPr>
        <p:txBody>
          <a:bodyPr wrap="square" lIns="0" tIns="0" rIns="0" bIns="0" rtlCol="0" anchor="t"/>
          <a:lstStyle/>
          <a:p>
            <a:pPr indent="0" marL="0">
              <a:buNone/>
            </a:pPr>
            <a:r>
              <a:rPr lang="en-US" sz="1500" b="1" dirty="0">
                <a:solidFill>
                  <a:srgbClr val="B54708"/>
                </a:solidFill>
                <a:latin typeface="Calibri" pitchFamily="34" charset="0"/>
                <a:ea typeface="Calibri" pitchFamily="34" charset="-122"/>
                <a:cs typeface="Calibri" pitchFamily="34" charset="-120"/>
              </a:rPr>
              <a:t>Azure OpenAI — assistance (optional)</a:t>
            </a:r>
            <a:endParaRPr lang="en-US" sz="1500" dirty="0"/>
          </a:p>
        </p:txBody>
      </p:sp>
      <p:sp>
        <p:nvSpPr>
          <p:cNvPr id="15" name="Text 13"/>
          <p:cNvSpPr/>
          <p:nvPr/>
        </p:nvSpPr>
        <p:spPr>
          <a:xfrm>
            <a:off x="6492240" y="1691640"/>
            <a:ext cx="5029200" cy="4389120"/>
          </a:xfrm>
          <a:prstGeom prst="rect">
            <a:avLst/>
          </a:prstGeom>
          <a:noFill/>
          <a:ln/>
        </p:spPr>
        <p:txBody>
          <a:bodyPr wrap="square" lIns="25400" tIns="25400" rIns="25400" bIns="25400" rtlCol="0" anchor="t"/>
          <a:lstStyle/>
          <a:p>
            <a:pPr marL="203200" indent="-203200">
              <a:spcAft>
                <a:spcPts val="800"/>
              </a:spcAft>
              <a:buSzPct val="100000"/>
              <a:buChar char="■"/>
            </a:pPr>
            <a:r>
              <a:rPr lang="en-US" sz="1350" b="1" dirty="0">
                <a:solidFill>
                  <a:srgbClr val="003366"/>
                </a:solidFill>
                <a:latin typeface="Calibri" pitchFamily="34" charset="0"/>
                <a:ea typeface="Calibri" pitchFamily="34" charset="-122"/>
                <a:cs typeface="Calibri" pitchFamily="34" charset="-120"/>
              </a:rPr>
              <a:t>Film boxes</a:t>
            </a:r>
            <a:r>
              <a:rPr lang="en-US" sz="1350" dirty="0">
                <a:solidFill>
                  <a:srgbClr val="1F2937"/>
                </a:solidFill>
                <a:latin typeface="Calibri" pitchFamily="34" charset="0"/>
                <a:ea typeface="Calibri" pitchFamily="34" charset="-122"/>
                <a:cs typeface="Calibri" pitchFamily="34" charset="-120"/>
              </a:rPr>
              <a:t> — after the draft and after a wording change; report + film → boxes with severity (normal ones not drawn). Falls back to anatomical zones.</a:t>
            </a:r>
            <a:endParaRPr lang="en-US" sz="1350" dirty="0"/>
          </a:p>
          <a:p>
            <a:pPr marL="203200" indent="-203200">
              <a:spcAft>
                <a:spcPts val="800"/>
              </a:spcAft>
              <a:buSzPct val="100000"/>
              <a:buChar char="■"/>
            </a:pPr>
            <a:r>
              <a:rPr lang="en-US" sz="1350" b="1" dirty="0">
                <a:solidFill>
                  <a:srgbClr val="003366"/>
                </a:solidFill>
                <a:latin typeface="Calibri" pitchFamily="34" charset="0"/>
                <a:ea typeface="Calibri" pitchFamily="34" charset="-122"/>
                <a:cs typeface="Calibri" pitchFamily="34" charset="-120"/>
              </a:rPr>
              <a:t>Worklist label</a:t>
            </a:r>
            <a:r>
              <a:rPr lang="en-US" sz="1350" dirty="0">
                <a:solidFill>
                  <a:srgbClr val="1F2937"/>
                </a:solidFill>
                <a:latin typeface="Calibri" pitchFamily="34" charset="0"/>
                <a:ea typeface="Calibri" pitchFamily="34" charset="-122"/>
                <a:cs typeface="Calibri" pitchFamily="34" charset="-120"/>
              </a:rPr>
              <a:t> — short diagnosis, only after the radiologist has edited the draft.</a:t>
            </a:r>
            <a:endParaRPr lang="en-US" sz="1350" dirty="0"/>
          </a:p>
          <a:p>
            <a:pPr marL="203200" indent="-203200">
              <a:spcAft>
                <a:spcPts val="800"/>
              </a:spcAft>
              <a:buSzPct val="100000"/>
              <a:buChar char="■"/>
            </a:pPr>
            <a:r>
              <a:rPr lang="en-US" sz="1350" b="1" dirty="0">
                <a:solidFill>
                  <a:srgbClr val="003366"/>
                </a:solidFill>
                <a:latin typeface="Calibri" pitchFamily="34" charset="0"/>
                <a:ea typeface="Calibri" pitchFamily="34" charset="-122"/>
                <a:cs typeface="Calibri" pitchFamily="34" charset="-120"/>
              </a:rPr>
              <a:t>Patient-chart findings</a:t>
            </a:r>
            <a:r>
              <a:rPr lang="en-US" sz="1350" dirty="0">
                <a:solidFill>
                  <a:srgbClr val="1F2937"/>
                </a:solidFill>
                <a:latin typeface="Calibri" pitchFamily="34" charset="0"/>
                <a:ea typeface="Calibri" pitchFamily="34" charset="-122"/>
                <a:cs typeface="Calibri" pitchFamily="34" charset="-120"/>
              </a:rPr>
              <a:t> — after endorsement; text-only, Thinking removed, ≤ 6 grouped findings with a severity.</a:t>
            </a:r>
            <a:endParaRPr lang="en-US" sz="1350" dirty="0"/>
          </a:p>
          <a:p>
            <a:pPr marL="203200" indent="-203200">
              <a:spcAft>
                <a:spcPts val="800"/>
              </a:spcAft>
              <a:buSzPct val="100000"/>
              <a:buChar char="■"/>
            </a:pPr>
            <a:r>
              <a:rPr lang="en-US" sz="1350" b="1" dirty="0">
                <a:solidFill>
                  <a:srgbClr val="003366"/>
                </a:solidFill>
                <a:latin typeface="Calibri" pitchFamily="34" charset="0"/>
                <a:ea typeface="Calibri" pitchFamily="34" charset="-122"/>
                <a:cs typeface="Calibri" pitchFamily="34" charset="-120"/>
              </a:rPr>
              <a:t>Guard-rails</a:t>
            </a:r>
            <a:r>
              <a:rPr lang="en-US" sz="1350" dirty="0">
                <a:solidFill>
                  <a:srgbClr val="1F2937"/>
                </a:solidFill>
                <a:latin typeface="Calibri" pitchFamily="34" charset="0"/>
                <a:ea typeface="Calibri" pitchFamily="34" charset="-122"/>
                <a:cs typeface="Calibri" pitchFamily="34" charset="-120"/>
              </a:rPr>
              <a:t> — JSON mode, low temperature, server-side validation; Azure never writes reportText.</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AI</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Keeping the human in the loop</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8" name="Shape 6"/>
          <p:cNvSpPr/>
          <p:nvPr/>
        </p:nvSpPr>
        <p:spPr>
          <a:xfrm>
            <a:off x="548640" y="1234440"/>
            <a:ext cx="3566160" cy="2286000"/>
          </a:xfrm>
          <a:prstGeom prst="rect">
            <a:avLst/>
          </a:prstGeom>
          <a:solidFill>
            <a:srgbClr val="F6F5EF"/>
          </a:solidFill>
          <a:ln w="9525">
            <a:solidFill>
              <a:srgbClr val="D6D3C4"/>
            </a:solidFill>
            <a:prstDash val="solid"/>
          </a:ln>
        </p:spPr>
      </p:sp>
      <p:sp>
        <p:nvSpPr>
          <p:cNvPr id="9" name="Shape 7"/>
          <p:cNvSpPr/>
          <p:nvPr/>
        </p:nvSpPr>
        <p:spPr>
          <a:xfrm>
            <a:off x="548640" y="1234440"/>
            <a:ext cx="64008" cy="2286000"/>
          </a:xfrm>
          <a:prstGeom prst="rect">
            <a:avLst/>
          </a:prstGeom>
          <a:solidFill>
            <a:srgbClr val="003366"/>
          </a:solidFill>
          <a:ln w="12700">
            <a:solidFill>
              <a:srgbClr val="003366"/>
            </a:solidFill>
            <a:prstDash val="solid"/>
          </a:ln>
        </p:spPr>
      </p:sp>
      <p:sp>
        <p:nvSpPr>
          <p:cNvPr id="10" name="Text 8"/>
          <p:cNvSpPr/>
          <p:nvPr/>
        </p:nvSpPr>
        <p:spPr>
          <a:xfrm>
            <a:off x="731520" y="1325880"/>
            <a:ext cx="3291840" cy="329184"/>
          </a:xfrm>
          <a:prstGeom prst="rect">
            <a:avLst/>
          </a:prstGeom>
          <a:noFill/>
          <a:ln/>
        </p:spPr>
        <p:txBody>
          <a:bodyPr wrap="square" lIns="0" tIns="0" rIns="0" bIns="0" rtlCol="0" anchor="t"/>
          <a:lstStyle/>
          <a:p>
            <a:pPr indent="0" marL="0">
              <a:buNone/>
            </a:pPr>
            <a:r>
              <a:rPr lang="en-US" sz="1600" b="1" dirty="0">
                <a:solidFill>
                  <a:srgbClr val="003366"/>
                </a:solidFill>
                <a:latin typeface="Calibri" pitchFamily="34" charset="0"/>
                <a:ea typeface="Calibri" pitchFamily="34" charset="-122"/>
                <a:cs typeface="Calibri" pitchFamily="34" charset="-120"/>
              </a:rPr>
              <a:t>Draft provenance</a:t>
            </a:r>
            <a:endParaRPr lang="en-US" sz="1600" dirty="0"/>
          </a:p>
        </p:txBody>
      </p:sp>
      <p:sp>
        <p:nvSpPr>
          <p:cNvPr id="11" name="Text 9"/>
          <p:cNvSpPr/>
          <p:nvPr/>
        </p:nvSpPr>
        <p:spPr>
          <a:xfrm>
            <a:off x="731520" y="1691640"/>
            <a:ext cx="3291840" cy="1755648"/>
          </a:xfrm>
          <a:prstGeom prst="rect">
            <a:avLst/>
          </a:prstGeom>
          <a:noFill/>
          <a:ln/>
        </p:spPr>
        <p:txBody>
          <a:bodyPr wrap="square" lIns="0" tIns="0" rIns="0" bIns="0" rtlCol="0" anchor="t"/>
          <a:lstStyle/>
          <a:p>
            <a:pPr indent="0" marL="0">
              <a:spcAft>
                <a:spcPts val="300"/>
              </a:spcAft>
              <a:buNone/>
            </a:pPr>
            <a:r>
              <a:rPr lang="en-US" sz="1350" dirty="0">
                <a:solidFill>
                  <a:srgbClr val="1F2937"/>
                </a:solidFill>
                <a:latin typeface="Calibri" pitchFamily="34" charset="0"/>
                <a:ea typeface="Calibri" pitchFamily="34" charset="-122"/>
                <a:cs typeface="Calibri" pitchFamily="34" charset="-120"/>
              </a:rPr>
              <a:t>Every save appends an editLog row (kind: ai | manual) with added / removed / edited lines, boxes and measurements.</a:t>
            </a:r>
            <a:endParaRPr lang="en-US" sz="1350" dirty="0"/>
          </a:p>
        </p:txBody>
      </p:sp>
      <p:sp>
        <p:nvSpPr>
          <p:cNvPr id="12" name="Shape 10"/>
          <p:cNvSpPr/>
          <p:nvPr/>
        </p:nvSpPr>
        <p:spPr>
          <a:xfrm>
            <a:off x="4315968" y="1234440"/>
            <a:ext cx="3566160" cy="2286000"/>
          </a:xfrm>
          <a:prstGeom prst="rect">
            <a:avLst/>
          </a:prstGeom>
          <a:solidFill>
            <a:srgbClr val="F6F5EF"/>
          </a:solidFill>
          <a:ln w="9525">
            <a:solidFill>
              <a:srgbClr val="D6D3C4"/>
            </a:solidFill>
            <a:prstDash val="solid"/>
          </a:ln>
        </p:spPr>
      </p:sp>
      <p:sp>
        <p:nvSpPr>
          <p:cNvPr id="13" name="Shape 11"/>
          <p:cNvSpPr/>
          <p:nvPr/>
        </p:nvSpPr>
        <p:spPr>
          <a:xfrm>
            <a:off x="4315968" y="1234440"/>
            <a:ext cx="64008" cy="2286000"/>
          </a:xfrm>
          <a:prstGeom prst="rect">
            <a:avLst/>
          </a:prstGeom>
          <a:solidFill>
            <a:srgbClr val="008080"/>
          </a:solidFill>
          <a:ln w="12700">
            <a:solidFill>
              <a:srgbClr val="008080"/>
            </a:solidFill>
            <a:prstDash val="solid"/>
          </a:ln>
        </p:spPr>
      </p:sp>
      <p:sp>
        <p:nvSpPr>
          <p:cNvPr id="14" name="Text 12"/>
          <p:cNvSpPr/>
          <p:nvPr/>
        </p:nvSpPr>
        <p:spPr>
          <a:xfrm>
            <a:off x="4498848" y="1325880"/>
            <a:ext cx="3291840" cy="329184"/>
          </a:xfrm>
          <a:prstGeom prst="rect">
            <a:avLst/>
          </a:prstGeom>
          <a:noFill/>
          <a:ln/>
        </p:spPr>
        <p:txBody>
          <a:bodyPr wrap="square" lIns="0" tIns="0" rIns="0" bIns="0" rtlCol="0" anchor="t"/>
          <a:lstStyle/>
          <a:p>
            <a:pPr indent="0" marL="0">
              <a:buNone/>
            </a:pPr>
            <a:r>
              <a:rPr lang="en-US" sz="1600" b="1" dirty="0">
                <a:solidFill>
                  <a:srgbClr val="008080"/>
                </a:solidFill>
                <a:latin typeface="Calibri" pitchFamily="34" charset="0"/>
                <a:ea typeface="Calibri" pitchFamily="34" charset="-122"/>
                <a:cs typeface="Calibri" pitchFamily="34" charset="-120"/>
              </a:rPr>
              <a:t>Box merge respects edits</a:t>
            </a:r>
            <a:endParaRPr lang="en-US" sz="1600" dirty="0"/>
          </a:p>
        </p:txBody>
      </p:sp>
      <p:sp>
        <p:nvSpPr>
          <p:cNvPr id="15" name="Text 13"/>
          <p:cNvSpPr/>
          <p:nvPr/>
        </p:nvSpPr>
        <p:spPr>
          <a:xfrm>
            <a:off x="4498848" y="1691640"/>
            <a:ext cx="3291840" cy="1755648"/>
          </a:xfrm>
          <a:prstGeom prst="rect">
            <a:avLst/>
          </a:prstGeom>
          <a:noFill/>
          <a:ln/>
        </p:spPr>
        <p:txBody>
          <a:bodyPr wrap="square" lIns="0" tIns="0" rIns="0" bIns="0" rtlCol="0" anchor="t"/>
          <a:lstStyle/>
          <a:p>
            <a:pPr indent="0" marL="0">
              <a:spcAft>
                <a:spcPts val="300"/>
              </a:spcAft>
              <a:buNone/>
            </a:pPr>
            <a:r>
              <a:rPr lang="en-US" sz="1350" dirty="0">
                <a:solidFill>
                  <a:srgbClr val="1F2937"/>
                </a:solidFill>
                <a:latin typeface="Calibri" pitchFamily="34" charset="0"/>
                <a:ea typeface="Calibri" pitchFamily="34" charset="-122"/>
                <a:cs typeface="Calibri" pitchFamily="34" charset="-120"/>
              </a:rPr>
              <a:t>When Azure re-places boxes after a wording change, boxes the radiologist drew, moved, resized or deleted are kept exactly as left.</a:t>
            </a:r>
            <a:endParaRPr lang="en-US" sz="1350" dirty="0"/>
          </a:p>
        </p:txBody>
      </p:sp>
      <p:sp>
        <p:nvSpPr>
          <p:cNvPr id="16" name="Shape 14"/>
          <p:cNvSpPr/>
          <p:nvPr/>
        </p:nvSpPr>
        <p:spPr>
          <a:xfrm>
            <a:off x="8083296" y="1234440"/>
            <a:ext cx="3566160" cy="2286000"/>
          </a:xfrm>
          <a:prstGeom prst="rect">
            <a:avLst/>
          </a:prstGeom>
          <a:solidFill>
            <a:srgbClr val="F6F5EF"/>
          </a:solidFill>
          <a:ln w="9525">
            <a:solidFill>
              <a:srgbClr val="D6D3C4"/>
            </a:solidFill>
            <a:prstDash val="solid"/>
          </a:ln>
        </p:spPr>
      </p:sp>
      <p:sp>
        <p:nvSpPr>
          <p:cNvPr id="17" name="Shape 15"/>
          <p:cNvSpPr/>
          <p:nvPr/>
        </p:nvSpPr>
        <p:spPr>
          <a:xfrm>
            <a:off x="8083296" y="1234440"/>
            <a:ext cx="64008" cy="2286000"/>
          </a:xfrm>
          <a:prstGeom prst="rect">
            <a:avLst/>
          </a:prstGeom>
          <a:solidFill>
            <a:srgbClr val="00509E"/>
          </a:solidFill>
          <a:ln w="12700">
            <a:solidFill>
              <a:srgbClr val="00509E"/>
            </a:solidFill>
            <a:prstDash val="solid"/>
          </a:ln>
        </p:spPr>
      </p:sp>
      <p:sp>
        <p:nvSpPr>
          <p:cNvPr id="18" name="Text 16"/>
          <p:cNvSpPr/>
          <p:nvPr/>
        </p:nvSpPr>
        <p:spPr>
          <a:xfrm>
            <a:off x="8266176" y="1325880"/>
            <a:ext cx="3291840" cy="329184"/>
          </a:xfrm>
          <a:prstGeom prst="rect">
            <a:avLst/>
          </a:prstGeom>
          <a:noFill/>
          <a:ln/>
        </p:spPr>
        <p:txBody>
          <a:bodyPr wrap="square" lIns="0" tIns="0" rIns="0" bIns="0" rtlCol="0" anchor="t"/>
          <a:lstStyle/>
          <a:p>
            <a:pPr indent="0" marL="0">
              <a:buNone/>
            </a:pPr>
            <a:r>
              <a:rPr lang="en-US" sz="1600" b="1" dirty="0">
                <a:solidFill>
                  <a:srgbClr val="00509E"/>
                </a:solidFill>
                <a:latin typeface="Calibri" pitchFamily="34" charset="0"/>
                <a:ea typeface="Calibri" pitchFamily="34" charset="-122"/>
                <a:cs typeface="Calibri" pitchFamily="34" charset="-120"/>
              </a:rPr>
              <a:t>Honest confidence</a:t>
            </a:r>
            <a:endParaRPr lang="en-US" sz="1600" dirty="0"/>
          </a:p>
        </p:txBody>
      </p:sp>
      <p:sp>
        <p:nvSpPr>
          <p:cNvPr id="19" name="Text 17"/>
          <p:cNvSpPr/>
          <p:nvPr/>
        </p:nvSpPr>
        <p:spPr>
          <a:xfrm>
            <a:off x="8266176" y="1691640"/>
            <a:ext cx="3291840" cy="1755648"/>
          </a:xfrm>
          <a:prstGeom prst="rect">
            <a:avLst/>
          </a:prstGeom>
          <a:noFill/>
          <a:ln/>
        </p:spPr>
        <p:txBody>
          <a:bodyPr wrap="square" lIns="0" tIns="0" rIns="0" bIns="0" rtlCol="0" anchor="t"/>
          <a:lstStyle/>
          <a:p>
            <a:pPr indent="0" marL="0">
              <a:spcAft>
                <a:spcPts val="300"/>
              </a:spcAft>
              <a:buNone/>
            </a:pPr>
            <a:r>
              <a:rPr lang="en-US" sz="1350" dirty="0">
                <a:solidFill>
                  <a:srgbClr val="1F2937"/>
                </a:solidFill>
                <a:latin typeface="Calibri" pitchFamily="34" charset="0"/>
                <a:ea typeface="Calibri" pitchFamily="34" charset="-122"/>
                <a:cs typeface="Calibri" pitchFamily="34" charset="-120"/>
              </a:rPr>
              <a:t>Confidence blends report language (hedges vs definite statements) with image support, instead of showing the model’s self-reported 100%.</a:t>
            </a:r>
            <a:endParaRPr lang="en-US" sz="1350" dirty="0"/>
          </a:p>
        </p:txBody>
      </p:sp>
      <p:sp>
        <p:nvSpPr>
          <p:cNvPr id="20" name="Shape 18"/>
          <p:cNvSpPr/>
          <p:nvPr/>
        </p:nvSpPr>
        <p:spPr>
          <a:xfrm>
            <a:off x="548640" y="3749040"/>
            <a:ext cx="3566160" cy="2286000"/>
          </a:xfrm>
          <a:prstGeom prst="rect">
            <a:avLst/>
          </a:prstGeom>
          <a:solidFill>
            <a:srgbClr val="F6F5EF"/>
          </a:solidFill>
          <a:ln w="9525">
            <a:solidFill>
              <a:srgbClr val="D6D3C4"/>
            </a:solidFill>
            <a:prstDash val="solid"/>
          </a:ln>
        </p:spPr>
      </p:sp>
      <p:sp>
        <p:nvSpPr>
          <p:cNvPr id="21" name="Shape 19"/>
          <p:cNvSpPr/>
          <p:nvPr/>
        </p:nvSpPr>
        <p:spPr>
          <a:xfrm>
            <a:off x="548640" y="3749040"/>
            <a:ext cx="64008" cy="2286000"/>
          </a:xfrm>
          <a:prstGeom prst="rect">
            <a:avLst/>
          </a:prstGeom>
          <a:solidFill>
            <a:srgbClr val="B54708"/>
          </a:solidFill>
          <a:ln w="12700">
            <a:solidFill>
              <a:srgbClr val="B54708"/>
            </a:solidFill>
            <a:prstDash val="solid"/>
          </a:ln>
        </p:spPr>
      </p:sp>
      <p:sp>
        <p:nvSpPr>
          <p:cNvPr id="22" name="Text 20"/>
          <p:cNvSpPr/>
          <p:nvPr/>
        </p:nvSpPr>
        <p:spPr>
          <a:xfrm>
            <a:off x="731520" y="3840480"/>
            <a:ext cx="3291840" cy="329184"/>
          </a:xfrm>
          <a:prstGeom prst="rect">
            <a:avLst/>
          </a:prstGeom>
          <a:noFill/>
          <a:ln/>
        </p:spPr>
        <p:txBody>
          <a:bodyPr wrap="square" lIns="0" tIns="0" rIns="0" bIns="0" rtlCol="0" anchor="t"/>
          <a:lstStyle/>
          <a:p>
            <a:pPr indent="0" marL="0">
              <a:buNone/>
            </a:pPr>
            <a:r>
              <a:rPr lang="en-US" sz="1600" b="1" dirty="0">
                <a:solidFill>
                  <a:srgbClr val="B54708"/>
                </a:solidFill>
                <a:latin typeface="Calibri" pitchFamily="34" charset="0"/>
                <a:ea typeface="Calibri" pitchFamily="34" charset="-122"/>
                <a:cs typeface="Calibri" pitchFamily="34" charset="-120"/>
              </a:rPr>
              <a:t>Locking after endorse</a:t>
            </a:r>
            <a:endParaRPr lang="en-US" sz="1600" dirty="0"/>
          </a:p>
        </p:txBody>
      </p:sp>
      <p:sp>
        <p:nvSpPr>
          <p:cNvPr id="23" name="Text 21"/>
          <p:cNvSpPr/>
          <p:nvPr/>
        </p:nvSpPr>
        <p:spPr>
          <a:xfrm>
            <a:off x="731520" y="4206240"/>
            <a:ext cx="3291840" cy="1755648"/>
          </a:xfrm>
          <a:prstGeom prst="rect">
            <a:avLst/>
          </a:prstGeom>
          <a:noFill/>
          <a:ln/>
        </p:spPr>
        <p:txBody>
          <a:bodyPr wrap="square" lIns="0" tIns="0" rIns="0" bIns="0" rtlCol="0" anchor="t"/>
          <a:lstStyle/>
          <a:p>
            <a:pPr indent="0" marL="0">
              <a:spcAft>
                <a:spcPts val="300"/>
              </a:spcAft>
              <a:buNone/>
            </a:pPr>
            <a:r>
              <a:rPr lang="en-US" sz="1350" dirty="0">
                <a:solidFill>
                  <a:srgbClr val="1F2937"/>
                </a:solidFill>
                <a:latin typeface="Calibri" pitchFamily="34" charset="0"/>
                <a:ea typeface="Calibri" pitchFamily="34" charset="-122"/>
                <a:cs typeface="Calibri" pitchFamily="34" charset="-120"/>
              </a:rPr>
              <a:t>Report text, boxes and measurements become read-only; Endorse is refused while AI is running. Remarks and urgency remain editable.</a:t>
            </a:r>
            <a:endParaRPr lang="en-US" sz="1350" dirty="0"/>
          </a:p>
        </p:txBody>
      </p:sp>
      <p:sp>
        <p:nvSpPr>
          <p:cNvPr id="24" name="Shape 22"/>
          <p:cNvSpPr/>
          <p:nvPr/>
        </p:nvSpPr>
        <p:spPr>
          <a:xfrm>
            <a:off x="4315968" y="3749040"/>
            <a:ext cx="3566160" cy="2286000"/>
          </a:xfrm>
          <a:prstGeom prst="rect">
            <a:avLst/>
          </a:prstGeom>
          <a:solidFill>
            <a:srgbClr val="F6F5EF"/>
          </a:solidFill>
          <a:ln w="9525">
            <a:solidFill>
              <a:srgbClr val="D6D3C4"/>
            </a:solidFill>
            <a:prstDash val="solid"/>
          </a:ln>
        </p:spPr>
      </p:sp>
      <p:sp>
        <p:nvSpPr>
          <p:cNvPr id="25" name="Shape 23"/>
          <p:cNvSpPr/>
          <p:nvPr/>
        </p:nvSpPr>
        <p:spPr>
          <a:xfrm>
            <a:off x="4315968" y="3749040"/>
            <a:ext cx="64008" cy="2286000"/>
          </a:xfrm>
          <a:prstGeom prst="rect">
            <a:avLst/>
          </a:prstGeom>
          <a:solidFill>
            <a:srgbClr val="067647"/>
          </a:solidFill>
          <a:ln w="12700">
            <a:solidFill>
              <a:srgbClr val="067647"/>
            </a:solidFill>
            <a:prstDash val="solid"/>
          </a:ln>
        </p:spPr>
      </p:sp>
      <p:sp>
        <p:nvSpPr>
          <p:cNvPr id="26" name="Text 24"/>
          <p:cNvSpPr/>
          <p:nvPr/>
        </p:nvSpPr>
        <p:spPr>
          <a:xfrm>
            <a:off x="4498848" y="3840480"/>
            <a:ext cx="3291840" cy="329184"/>
          </a:xfrm>
          <a:prstGeom prst="rect">
            <a:avLst/>
          </a:prstGeom>
          <a:noFill/>
          <a:ln/>
        </p:spPr>
        <p:txBody>
          <a:bodyPr wrap="square" lIns="0" tIns="0" rIns="0" bIns="0" rtlCol="0" anchor="t"/>
          <a:lstStyle/>
          <a:p>
            <a:pPr indent="0" marL="0">
              <a:buNone/>
            </a:pPr>
            <a:r>
              <a:rPr lang="en-US" sz="1600" b="1" dirty="0">
                <a:solidFill>
                  <a:srgbClr val="067647"/>
                </a:solidFill>
                <a:latin typeface="Calibri" pitchFamily="34" charset="0"/>
                <a:ea typeface="Calibri" pitchFamily="34" charset="-122"/>
                <a:cs typeface="Calibri" pitchFamily="34" charset="-120"/>
              </a:rPr>
              <a:t>Clean issued report</a:t>
            </a:r>
            <a:endParaRPr lang="en-US" sz="1600" dirty="0"/>
          </a:p>
        </p:txBody>
      </p:sp>
      <p:sp>
        <p:nvSpPr>
          <p:cNvPr id="27" name="Text 25"/>
          <p:cNvSpPr/>
          <p:nvPr/>
        </p:nvSpPr>
        <p:spPr>
          <a:xfrm>
            <a:off x="4498848" y="4206240"/>
            <a:ext cx="3291840" cy="1755648"/>
          </a:xfrm>
          <a:prstGeom prst="rect">
            <a:avLst/>
          </a:prstGeom>
          <a:noFill/>
          <a:ln/>
        </p:spPr>
        <p:txBody>
          <a:bodyPr wrap="square" lIns="0" tIns="0" rIns="0" bIns="0" rtlCol="0" anchor="t"/>
          <a:lstStyle/>
          <a:p>
            <a:pPr indent="0" marL="0">
              <a:spcAft>
                <a:spcPts val="300"/>
              </a:spcAft>
              <a:buNone/>
            </a:pPr>
            <a:r>
              <a:rPr lang="en-US" sz="1350" dirty="0">
                <a:solidFill>
                  <a:srgbClr val="1F2937"/>
                </a:solidFill>
                <a:latin typeface="Calibri" pitchFamily="34" charset="0"/>
                <a:ea typeface="Calibri" pitchFamily="34" charset="-122"/>
                <a:cs typeface="Calibri" pitchFamily="34" charset="-120"/>
              </a:rPr>
              <a:t>Doctors, shared links, Word and PDF never receive the draft log, source tags or the Thinking section.</a:t>
            </a:r>
            <a:endParaRPr lang="en-US" sz="1350" dirty="0"/>
          </a:p>
        </p:txBody>
      </p:sp>
      <p:sp>
        <p:nvSpPr>
          <p:cNvPr id="28" name="Shape 26"/>
          <p:cNvSpPr/>
          <p:nvPr/>
        </p:nvSpPr>
        <p:spPr>
          <a:xfrm>
            <a:off x="8083296" y="3749040"/>
            <a:ext cx="3566160" cy="2286000"/>
          </a:xfrm>
          <a:prstGeom prst="rect">
            <a:avLst/>
          </a:prstGeom>
          <a:solidFill>
            <a:srgbClr val="F6F5EF"/>
          </a:solidFill>
          <a:ln w="9525">
            <a:solidFill>
              <a:srgbClr val="D6D3C4"/>
            </a:solidFill>
            <a:prstDash val="solid"/>
          </a:ln>
        </p:spPr>
      </p:sp>
      <p:sp>
        <p:nvSpPr>
          <p:cNvPr id="29" name="Shape 27"/>
          <p:cNvSpPr/>
          <p:nvPr/>
        </p:nvSpPr>
        <p:spPr>
          <a:xfrm>
            <a:off x="8083296" y="3749040"/>
            <a:ext cx="64008" cy="2286000"/>
          </a:xfrm>
          <a:prstGeom prst="rect">
            <a:avLst/>
          </a:prstGeom>
          <a:solidFill>
            <a:srgbClr val="B42318"/>
          </a:solidFill>
          <a:ln w="12700">
            <a:solidFill>
              <a:srgbClr val="B42318"/>
            </a:solidFill>
            <a:prstDash val="solid"/>
          </a:ln>
        </p:spPr>
      </p:sp>
      <p:sp>
        <p:nvSpPr>
          <p:cNvPr id="30" name="Text 28"/>
          <p:cNvSpPr/>
          <p:nvPr/>
        </p:nvSpPr>
        <p:spPr>
          <a:xfrm>
            <a:off x="8266176" y="3840480"/>
            <a:ext cx="3291840" cy="329184"/>
          </a:xfrm>
          <a:prstGeom prst="rect">
            <a:avLst/>
          </a:prstGeom>
          <a:noFill/>
          <a:ln/>
        </p:spPr>
        <p:txBody>
          <a:bodyPr wrap="square" lIns="0" tIns="0" rIns="0" bIns="0" rtlCol="0" anchor="t"/>
          <a:lstStyle/>
          <a:p>
            <a:pPr indent="0" marL="0">
              <a:buNone/>
            </a:pPr>
            <a:r>
              <a:rPr lang="en-US" sz="1600" b="1" dirty="0">
                <a:solidFill>
                  <a:srgbClr val="B42318"/>
                </a:solidFill>
                <a:latin typeface="Calibri" pitchFamily="34" charset="0"/>
                <a:ea typeface="Calibri" pitchFamily="34" charset="-122"/>
                <a:cs typeface="Calibri" pitchFamily="34" charset="-120"/>
              </a:rPr>
              <a:t>Full audit trail</a:t>
            </a:r>
            <a:endParaRPr lang="en-US" sz="1600" dirty="0"/>
          </a:p>
        </p:txBody>
      </p:sp>
      <p:sp>
        <p:nvSpPr>
          <p:cNvPr id="31" name="Text 29"/>
          <p:cNvSpPr/>
          <p:nvPr/>
        </p:nvSpPr>
        <p:spPr>
          <a:xfrm>
            <a:off x="8266176" y="4206240"/>
            <a:ext cx="3291840" cy="1755648"/>
          </a:xfrm>
          <a:prstGeom prst="rect">
            <a:avLst/>
          </a:prstGeom>
          <a:noFill/>
          <a:ln/>
        </p:spPr>
        <p:txBody>
          <a:bodyPr wrap="square" lIns="0" tIns="0" rIns="0" bIns="0" rtlCol="0" anchor="t"/>
          <a:lstStyle/>
          <a:p>
            <a:pPr indent="0" marL="0">
              <a:spcAft>
                <a:spcPts val="300"/>
              </a:spcAft>
              <a:buNone/>
            </a:pPr>
            <a:r>
              <a:rPr lang="en-US" sz="1350" dirty="0">
                <a:solidFill>
                  <a:srgbClr val="1F2937"/>
                </a:solidFill>
                <a:latin typeface="Calibri" pitchFamily="34" charset="0"/>
                <a:ea typeface="Calibri" pitchFamily="34" charset="-122"/>
                <a:cs typeface="Calibri" pitchFamily="34" charset="-120"/>
              </a:rPr>
              <a:t>Logins, case and patient changes, AI runs, endorsements, deletions, share links and user changes are logged for the admin.</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SCREENS</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Endorsed report for the referring doctor</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sp>
        <p:nvSpPr>
          <p:cNvPr id="8" name="Shape 6"/>
          <p:cNvSpPr/>
          <p:nvPr/>
        </p:nvSpPr>
        <p:spPr>
          <a:xfrm>
            <a:off x="429768" y="1427988"/>
            <a:ext cx="7735824" cy="4642104"/>
          </a:xfrm>
          <a:prstGeom prst="rect">
            <a:avLst/>
          </a:prstGeom>
          <a:solidFill>
            <a:srgbClr val="D6D3C4"/>
          </a:solidFill>
          <a:ln w="12700">
            <a:solidFill>
              <a:srgbClr val="D6D3C4"/>
            </a:solidFill>
            <a:prstDash val="solid"/>
          </a:ln>
        </p:spPr>
      </p:sp>
      <p:pic>
        <p:nvPicPr>
          <p:cNvPr id="9" name="Image 0" descr="/tmp/radassist-ppt/shots/15-doctor-report.png">    </p:cNvPr>
          <p:cNvPicPr>
            <a:picLocks noChangeAspect="1"/>
          </p:cNvPicPr>
          <p:nvPr/>
        </p:nvPicPr>
        <p:blipFill>
          <a:blip r:embed="rId1"/>
          <a:stretch>
            <a:fillRect/>
          </a:stretch>
        </p:blipFill>
        <p:spPr>
          <a:xfrm>
            <a:off x="457200" y="1455420"/>
            <a:ext cx="7680960" cy="4587240"/>
          </a:xfrm>
          <a:prstGeom prst="rect">
            <a:avLst/>
          </a:prstGeom>
        </p:spPr>
      </p:pic>
      <p:sp>
        <p:nvSpPr>
          <p:cNvPr id="10" name="Text 7"/>
          <p:cNvSpPr/>
          <p:nvPr/>
        </p:nvSpPr>
        <p:spPr>
          <a:xfrm>
            <a:off x="8366760" y="1280160"/>
            <a:ext cx="3429000" cy="5029200"/>
          </a:xfrm>
          <a:prstGeom prst="rect">
            <a:avLst/>
          </a:prstGeom>
          <a:noFill/>
          <a:ln/>
        </p:spPr>
        <p:txBody>
          <a:bodyPr wrap="square" lIns="25400" tIns="25400" rIns="25400" bIns="25400" rtlCol="0" anchor="t"/>
          <a:lstStyle/>
          <a:p>
            <a:pPr marL="203200" indent="-203200">
              <a:spcAft>
                <a:spcPts val="900"/>
              </a:spcAft>
              <a:buSzPct val="100000"/>
              <a:buChar char="■"/>
            </a:pPr>
            <a:r>
              <a:rPr lang="en-US" sz="1350" b="1" dirty="0">
                <a:solidFill>
                  <a:srgbClr val="003366"/>
                </a:solidFill>
                <a:latin typeface="Calibri" pitchFamily="34" charset="0"/>
                <a:ea typeface="Calibri" pitchFamily="34" charset="-122"/>
                <a:cs typeface="Calibri" pitchFamily="34" charset="-120"/>
              </a:rPr>
              <a:t>Read-only</a:t>
            </a:r>
            <a:r>
              <a:rPr lang="en-US" sz="1350" dirty="0">
                <a:solidFill>
                  <a:srgbClr val="1F2937"/>
                </a:solidFill>
                <a:latin typeface="Calibri" pitchFamily="34" charset="0"/>
                <a:ea typeface="Calibri" pitchFamily="34" charset="-122"/>
                <a:cs typeface="Calibri" pitchFamily="34" charset="-120"/>
              </a:rPr>
              <a:t> — no re-run, no draft log, no save, no endorse.</a:t>
            </a:r>
            <a:endParaRPr lang="en-US" sz="1350" dirty="0"/>
          </a:p>
          <a:p>
            <a:pPr marL="203200" indent="-203200">
              <a:spcAft>
                <a:spcPts val="900"/>
              </a:spcAft>
              <a:buSzPct val="100000"/>
              <a:buChar char="■"/>
            </a:pPr>
            <a:r>
              <a:rPr lang="en-US" sz="1350" b="1" dirty="0">
                <a:solidFill>
                  <a:srgbClr val="003366"/>
                </a:solidFill>
                <a:latin typeface="Calibri" pitchFamily="34" charset="0"/>
                <a:ea typeface="Calibri" pitchFamily="34" charset="-122"/>
                <a:cs typeface="Calibri" pitchFamily="34" charset="-120"/>
              </a:rPr>
              <a:t>Clean text</a:t>
            </a:r>
            <a:r>
              <a:rPr lang="en-US" sz="1350" dirty="0">
                <a:solidFill>
                  <a:srgbClr val="1F2937"/>
                </a:solidFill>
                <a:latin typeface="Calibri" pitchFamily="34" charset="0"/>
                <a:ea typeface="Calibri" pitchFamily="34" charset="-122"/>
                <a:cs typeface="Calibri" pitchFamily="34" charset="-120"/>
              </a:rPr>
              <a:t> — Findings, Impression, measurements and signature; no Thinking.</a:t>
            </a:r>
            <a:endParaRPr lang="en-US" sz="1350" dirty="0"/>
          </a:p>
          <a:p>
            <a:pPr marL="203200" indent="-203200">
              <a:spcAft>
                <a:spcPts val="900"/>
              </a:spcAft>
              <a:buSzPct val="100000"/>
              <a:buChar char="■"/>
            </a:pPr>
            <a:r>
              <a:rPr lang="en-US" sz="1350" b="1" dirty="0">
                <a:solidFill>
                  <a:srgbClr val="003366"/>
                </a:solidFill>
                <a:latin typeface="Calibri" pitchFamily="34" charset="0"/>
                <a:ea typeface="Calibri" pitchFamily="34" charset="-122"/>
                <a:cs typeface="Calibri" pitchFamily="34" charset="-120"/>
              </a:rPr>
              <a:t>Film with boxes</a:t>
            </a:r>
            <a:r>
              <a:rPr lang="en-US" sz="1350" dirty="0">
                <a:solidFill>
                  <a:srgbClr val="1F2937"/>
                </a:solidFill>
                <a:latin typeface="Calibri" pitchFamily="34" charset="0"/>
                <a:ea typeface="Calibri" pitchFamily="34" charset="-122"/>
                <a:cs typeface="Calibri" pitchFamily="34" charset="-120"/>
              </a:rPr>
              <a:t> — Measure works for reading but is never saved.</a:t>
            </a:r>
            <a:endParaRPr lang="en-US" sz="1350" dirty="0"/>
          </a:p>
          <a:p>
            <a:pPr marL="203200" indent="-203200">
              <a:spcAft>
                <a:spcPts val="900"/>
              </a:spcAft>
              <a:buSzPct val="100000"/>
              <a:buChar char="■"/>
            </a:pPr>
            <a:r>
              <a:rPr lang="en-US" sz="1350" b="1" dirty="0">
                <a:solidFill>
                  <a:srgbClr val="003366"/>
                </a:solidFill>
                <a:latin typeface="Calibri" pitchFamily="34" charset="0"/>
                <a:ea typeface="Calibri" pitchFamily="34" charset="-122"/>
                <a:cs typeface="Calibri" pitchFamily="34" charset="-120"/>
              </a:rPr>
              <a:t>Export</a:t>
            </a:r>
            <a:r>
              <a:rPr lang="en-US" sz="1350" dirty="0">
                <a:solidFill>
                  <a:srgbClr val="1F2937"/>
                </a:solidFill>
                <a:latin typeface="Calibri" pitchFamily="34" charset="0"/>
                <a:ea typeface="Calibri" pitchFamily="34" charset="-122"/>
                <a:cs typeface="Calibri" pitchFamily="34" charset="-120"/>
              </a:rPr>
              <a:t> — Preview PDF, Word (.docx) and PDF include the film, measurement lines, date, reporting doctor and signature.</a:t>
            </a:r>
            <a:endParaRPr lang="en-US" sz="1350" dirty="0"/>
          </a:p>
          <a:p>
            <a:pPr marL="203200" indent="-203200">
              <a:spcAft>
                <a:spcPts val="900"/>
              </a:spcAft>
              <a:buSzPct val="100000"/>
              <a:buChar char="■"/>
            </a:pPr>
            <a:r>
              <a:rPr lang="en-US" sz="1350" b="1" dirty="0">
                <a:solidFill>
                  <a:srgbClr val="003366"/>
                </a:solidFill>
                <a:latin typeface="Calibri" pitchFamily="34" charset="0"/>
                <a:ea typeface="Calibri" pitchFamily="34" charset="-122"/>
                <a:cs typeface="Calibri" pitchFamily="34" charset="-120"/>
              </a:rPr>
              <a:t>Share link</a:t>
            </a:r>
            <a:r>
              <a:rPr lang="en-US" sz="1350" dirty="0">
                <a:solidFill>
                  <a:srgbClr val="1F2937"/>
                </a:solidFill>
                <a:latin typeface="Calibri" pitchFamily="34" charset="0"/>
                <a:ea typeface="Calibri" pitchFamily="34" charset="-122"/>
                <a:cs typeface="Calibri" pitchFamily="34" charset="-120"/>
              </a:rPr>
              <a:t> — a radiologist can create a public token (#/share/&lt;token&gt;) for one endorsed case, and revoke it.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CLINICAL</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Patient Master Index and patient chart</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16</a:t>
            </a:r>
            <a:endParaRPr lang="en-US" sz="900" dirty="0"/>
          </a:p>
        </p:txBody>
      </p:sp>
      <p:sp>
        <p:nvSpPr>
          <p:cNvPr id="8" name="Shape 6"/>
          <p:cNvSpPr/>
          <p:nvPr/>
        </p:nvSpPr>
        <p:spPr>
          <a:xfrm>
            <a:off x="429768" y="1320038"/>
            <a:ext cx="5724144" cy="3440684"/>
          </a:xfrm>
          <a:prstGeom prst="rect">
            <a:avLst/>
          </a:prstGeom>
          <a:solidFill>
            <a:srgbClr val="D6D3C4"/>
          </a:solidFill>
          <a:ln w="12700">
            <a:solidFill>
              <a:srgbClr val="D6D3C4"/>
            </a:solidFill>
            <a:prstDash val="solid"/>
          </a:ln>
        </p:spPr>
      </p:sp>
      <p:pic>
        <p:nvPicPr>
          <p:cNvPr id="9" name="Image 0" descr="/tmp/radassist-ppt/shots/04-patient-master.png">    </p:cNvPr>
          <p:cNvPicPr>
            <a:picLocks noChangeAspect="1"/>
          </p:cNvPicPr>
          <p:nvPr/>
        </p:nvPicPr>
        <p:blipFill>
          <a:blip r:embed="rId1"/>
          <a:stretch>
            <a:fillRect/>
          </a:stretch>
        </p:blipFill>
        <p:spPr>
          <a:xfrm>
            <a:off x="457200" y="1347470"/>
            <a:ext cx="5669280" cy="3385820"/>
          </a:xfrm>
          <a:prstGeom prst="rect">
            <a:avLst/>
          </a:prstGeom>
        </p:spPr>
      </p:pic>
      <p:sp>
        <p:nvSpPr>
          <p:cNvPr id="10" name="Shape 7"/>
          <p:cNvSpPr/>
          <p:nvPr/>
        </p:nvSpPr>
        <p:spPr>
          <a:xfrm>
            <a:off x="6281928" y="1374648"/>
            <a:ext cx="5541264" cy="3331464"/>
          </a:xfrm>
          <a:prstGeom prst="rect">
            <a:avLst/>
          </a:prstGeom>
          <a:solidFill>
            <a:srgbClr val="D6D3C4"/>
          </a:solidFill>
          <a:ln w="12700">
            <a:solidFill>
              <a:srgbClr val="D6D3C4"/>
            </a:solidFill>
            <a:prstDash val="solid"/>
          </a:ln>
        </p:spPr>
      </p:sp>
      <p:pic>
        <p:nvPicPr>
          <p:cNvPr id="11" name="Image 1" descr="/tmp/radassist-ppt/shots/05-patient-chart.png">    </p:cNvPr>
          <p:cNvPicPr>
            <a:picLocks noChangeAspect="1"/>
          </p:cNvPicPr>
          <p:nvPr/>
        </p:nvPicPr>
        <p:blipFill>
          <a:blip r:embed="rId2"/>
          <a:stretch>
            <a:fillRect/>
          </a:stretch>
        </p:blipFill>
        <p:spPr>
          <a:xfrm>
            <a:off x="6309360" y="1402080"/>
            <a:ext cx="5486400" cy="3276600"/>
          </a:xfrm>
          <a:prstGeom prst="rect">
            <a:avLst/>
          </a:prstGeom>
        </p:spPr>
      </p:pic>
      <p:sp>
        <p:nvSpPr>
          <p:cNvPr id="12" name="Text 8"/>
          <p:cNvSpPr/>
          <p:nvPr/>
        </p:nvSpPr>
        <p:spPr>
          <a:xfrm>
            <a:off x="457200" y="5029200"/>
            <a:ext cx="5669280" cy="320040"/>
          </a:xfrm>
          <a:prstGeom prst="rect">
            <a:avLst/>
          </a:prstGeom>
          <a:noFill/>
          <a:ln/>
        </p:spPr>
        <p:txBody>
          <a:bodyPr wrap="square" lIns="0" tIns="0" rIns="0" bIns="0" rtlCol="0" anchor="ctr"/>
          <a:lstStyle/>
          <a:p>
            <a:pPr algn="ctr" indent="0" marL="0">
              <a:buNone/>
            </a:pPr>
            <a:r>
              <a:rPr lang="en-US" sz="1250" b="1" dirty="0">
                <a:solidFill>
                  <a:srgbClr val="003366"/>
                </a:solidFill>
                <a:latin typeface="Calibri" pitchFamily="34" charset="0"/>
                <a:ea typeface="Calibri" pitchFamily="34" charset="-122"/>
                <a:cs typeface="Calibri" pitchFamily="34" charset="-120"/>
              </a:rPr>
              <a:t>Enquiry of Patient Master Index — search, Sepsis / Notes buttons per row</a:t>
            </a:r>
            <a:endParaRPr lang="en-US" sz="1250" dirty="0"/>
          </a:p>
        </p:txBody>
      </p:sp>
      <p:sp>
        <p:nvSpPr>
          <p:cNvPr id="13" name="Text 9"/>
          <p:cNvSpPr/>
          <p:nvPr/>
        </p:nvSpPr>
        <p:spPr>
          <a:xfrm>
            <a:off x="6309360" y="5029200"/>
            <a:ext cx="5486400" cy="320040"/>
          </a:xfrm>
          <a:prstGeom prst="rect">
            <a:avLst/>
          </a:prstGeom>
          <a:noFill/>
          <a:ln/>
        </p:spPr>
        <p:txBody>
          <a:bodyPr wrap="square" lIns="0" tIns="0" rIns="0" bIns="0" rtlCol="0" anchor="ctr"/>
          <a:lstStyle/>
          <a:p>
            <a:pPr algn="ctr" indent="0" marL="0">
              <a:buNone/>
            </a:pPr>
            <a:r>
              <a:rPr lang="en-US" sz="1250" b="1" dirty="0">
                <a:solidFill>
                  <a:srgbClr val="003366"/>
                </a:solidFill>
                <a:latin typeface="Calibri" pitchFamily="34" charset="0"/>
                <a:ea typeface="Calibri" pitchFamily="34" charset="-122"/>
                <a:cs typeface="Calibri" pitchFamily="34" charset="-120"/>
              </a:rPr>
              <a:t>Chart: history, medicines, labs, latest vitals and review state</a:t>
            </a:r>
            <a:endParaRPr lang="en-US" sz="1250" dirty="0"/>
          </a:p>
        </p:txBody>
      </p:sp>
      <p:sp>
        <p:nvSpPr>
          <p:cNvPr id="14" name="Text 10"/>
          <p:cNvSpPr/>
          <p:nvPr/>
        </p:nvSpPr>
        <p:spPr>
          <a:xfrm>
            <a:off x="548640" y="5440680"/>
            <a:ext cx="11064240" cy="868680"/>
          </a:xfrm>
          <a:prstGeom prst="rect">
            <a:avLst/>
          </a:prstGeom>
          <a:noFill/>
          <a:ln/>
        </p:spPr>
        <p:txBody>
          <a:bodyPr wrap="square" lIns="25400" tIns="25400" rIns="25400" bIns="25400" rtlCol="0" anchor="t"/>
          <a:lstStyle/>
          <a:p>
            <a:pPr marL="203200" indent="-2032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A patient can exist before any X-ray; studies, X-ray requests, diagnosis, remarks and care notes all live on one chart.</a:t>
            </a:r>
            <a:endParaRPr lang="en-US" sz="1300" dirty="0"/>
          </a:p>
          <a:p>
            <a:pPr marL="203200" indent="-2032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The health-metrics banner flags Urgent / Abnormal review from the latest observations (e.g. SpO₂ ≤ 91 %, RR ≥ 25).</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CLINICAL</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Patient-chart findings written by Azure after endorsement</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17</a:t>
            </a:r>
            <a:endParaRPr lang="en-US" sz="900" dirty="0"/>
          </a:p>
        </p:txBody>
      </p:sp>
      <p:sp>
        <p:nvSpPr>
          <p:cNvPr id="8" name="Shape 6"/>
          <p:cNvSpPr/>
          <p:nvPr/>
        </p:nvSpPr>
        <p:spPr>
          <a:xfrm>
            <a:off x="429768" y="1096518"/>
            <a:ext cx="6089904" cy="3659124"/>
          </a:xfrm>
          <a:prstGeom prst="rect">
            <a:avLst/>
          </a:prstGeom>
          <a:solidFill>
            <a:srgbClr val="D6D3C4"/>
          </a:solidFill>
          <a:ln w="12700">
            <a:solidFill>
              <a:srgbClr val="D6D3C4"/>
            </a:solidFill>
            <a:prstDash val="solid"/>
          </a:ln>
        </p:spPr>
      </p:sp>
      <p:pic>
        <p:nvPicPr>
          <p:cNvPr id="9" name="Image 0" descr="/tmp/radassist-ppt/shots/06-patient-findings.png">    </p:cNvPr>
          <p:cNvPicPr>
            <a:picLocks noChangeAspect="1"/>
          </p:cNvPicPr>
          <p:nvPr/>
        </p:nvPicPr>
        <p:blipFill>
          <a:blip r:embed="rId1"/>
          <a:stretch>
            <a:fillRect/>
          </a:stretch>
        </p:blipFill>
        <p:spPr>
          <a:xfrm>
            <a:off x="457200" y="1123950"/>
            <a:ext cx="6035040" cy="3604260"/>
          </a:xfrm>
          <a:prstGeom prst="rect">
            <a:avLst/>
          </a:prstGeom>
        </p:spPr>
      </p:pic>
      <p:sp>
        <p:nvSpPr>
          <p:cNvPr id="10" name="Shape 7"/>
          <p:cNvSpPr/>
          <p:nvPr/>
        </p:nvSpPr>
        <p:spPr>
          <a:xfrm>
            <a:off x="6812280" y="1188720"/>
            <a:ext cx="4846320" cy="548640"/>
          </a:xfrm>
          <a:prstGeom prst="roundRect">
            <a:avLst>
              <a:gd name="adj" fmla="val 10000"/>
            </a:avLst>
          </a:prstGeom>
          <a:solidFill>
            <a:srgbClr val="FFFFFF"/>
          </a:solidFill>
          <a:ln w="19050">
            <a:solidFill>
              <a:srgbClr val="003366"/>
            </a:solidFill>
            <a:prstDash val="solid"/>
          </a:ln>
        </p:spPr>
      </p:sp>
      <p:sp>
        <p:nvSpPr>
          <p:cNvPr id="11" name="Text 8"/>
          <p:cNvSpPr/>
          <p:nvPr/>
        </p:nvSpPr>
        <p:spPr>
          <a:xfrm>
            <a:off x="6903720" y="1188720"/>
            <a:ext cx="4663440" cy="548640"/>
          </a:xfrm>
          <a:prstGeom prst="rect">
            <a:avLst/>
          </a:prstGeom>
          <a:noFill/>
          <a:ln/>
        </p:spPr>
        <p:txBody>
          <a:bodyPr wrap="square" lIns="0" tIns="0" rIns="0" bIns="0" rtlCol="0" anchor="ctr"/>
          <a:lstStyle/>
          <a:p>
            <a:pPr indent="0" marL="0">
              <a:buNone/>
            </a:pPr>
            <a:r>
              <a:rPr lang="en-US" sz="1300" b="1" dirty="0">
                <a:solidFill>
                  <a:srgbClr val="003366"/>
                </a:solidFill>
                <a:latin typeface="Calibri" pitchFamily="34" charset="0"/>
                <a:ea typeface="Calibri" pitchFamily="34" charset="-122"/>
                <a:cs typeface="Calibri" pitchFamily="34" charset="-120"/>
              </a:rPr>
              <a:t>Radiologist presses Endorse</a:t>
            </a:r>
            <a:endParaRPr lang="en-US" sz="1300" dirty="0"/>
          </a:p>
        </p:txBody>
      </p:sp>
      <p:sp>
        <p:nvSpPr>
          <p:cNvPr id="12" name="Shape 9"/>
          <p:cNvSpPr/>
          <p:nvPr/>
        </p:nvSpPr>
        <p:spPr>
          <a:xfrm>
            <a:off x="9235440" y="1737360"/>
            <a:ext cx="914" cy="201168"/>
          </a:xfrm>
          <a:prstGeom prst="line">
            <a:avLst/>
          </a:prstGeom>
          <a:noFill/>
          <a:ln w="19050">
            <a:solidFill>
              <a:srgbClr val="5B6472"/>
            </a:solidFill>
            <a:prstDash val="solid"/>
            <a:tailEnd type="triangle"/>
          </a:ln>
        </p:spPr>
      </p:sp>
      <p:sp>
        <p:nvSpPr>
          <p:cNvPr id="13" name="Shape 10"/>
          <p:cNvSpPr/>
          <p:nvPr/>
        </p:nvSpPr>
        <p:spPr>
          <a:xfrm>
            <a:off x="6812280" y="1938528"/>
            <a:ext cx="4846320" cy="548640"/>
          </a:xfrm>
          <a:prstGeom prst="roundRect">
            <a:avLst>
              <a:gd name="adj" fmla="val 10000"/>
            </a:avLst>
          </a:prstGeom>
          <a:solidFill>
            <a:srgbClr val="FFFFFF"/>
          </a:solidFill>
          <a:ln w="19050">
            <a:solidFill>
              <a:srgbClr val="008080"/>
            </a:solidFill>
            <a:prstDash val="solid"/>
          </a:ln>
        </p:spPr>
      </p:sp>
      <p:sp>
        <p:nvSpPr>
          <p:cNvPr id="14" name="Text 11"/>
          <p:cNvSpPr/>
          <p:nvPr/>
        </p:nvSpPr>
        <p:spPr>
          <a:xfrm>
            <a:off x="6903720" y="1938528"/>
            <a:ext cx="4663440" cy="548640"/>
          </a:xfrm>
          <a:prstGeom prst="rect">
            <a:avLst/>
          </a:prstGeom>
          <a:noFill/>
          <a:ln/>
        </p:spPr>
        <p:txBody>
          <a:bodyPr wrap="square" lIns="0" tIns="0" rIns="0" bIns="0" rtlCol="0" anchor="ctr"/>
          <a:lstStyle/>
          <a:p>
            <a:pPr indent="0" marL="0">
              <a:buNone/>
            </a:pPr>
            <a:r>
              <a:rPr lang="en-US" sz="1300" b="1" dirty="0">
                <a:solidFill>
                  <a:srgbClr val="008080"/>
                </a:solidFill>
                <a:latin typeface="Calibri" pitchFamily="34" charset="0"/>
                <a:ea typeface="Calibri" pitchFamily="34" charset="-122"/>
                <a:cs typeface="Calibri" pitchFamily="34" charset="-120"/>
              </a:rPr>
              <a:t>Case claimed atomically (no duplicate Azure calls)</a:t>
            </a:r>
            <a:endParaRPr lang="en-US" sz="1300" dirty="0"/>
          </a:p>
        </p:txBody>
      </p:sp>
      <p:sp>
        <p:nvSpPr>
          <p:cNvPr id="15" name="Shape 12"/>
          <p:cNvSpPr/>
          <p:nvPr/>
        </p:nvSpPr>
        <p:spPr>
          <a:xfrm>
            <a:off x="9235440" y="2487168"/>
            <a:ext cx="914" cy="201168"/>
          </a:xfrm>
          <a:prstGeom prst="line">
            <a:avLst/>
          </a:prstGeom>
          <a:noFill/>
          <a:ln w="19050">
            <a:solidFill>
              <a:srgbClr val="5B6472"/>
            </a:solidFill>
            <a:prstDash val="solid"/>
            <a:tailEnd type="triangle"/>
          </a:ln>
        </p:spPr>
      </p:sp>
      <p:sp>
        <p:nvSpPr>
          <p:cNvPr id="16" name="Shape 13"/>
          <p:cNvSpPr/>
          <p:nvPr/>
        </p:nvSpPr>
        <p:spPr>
          <a:xfrm>
            <a:off x="6812280" y="2688336"/>
            <a:ext cx="4846320" cy="548640"/>
          </a:xfrm>
          <a:prstGeom prst="roundRect">
            <a:avLst>
              <a:gd name="adj" fmla="val 10000"/>
            </a:avLst>
          </a:prstGeom>
          <a:solidFill>
            <a:srgbClr val="FFFFFF"/>
          </a:solidFill>
          <a:ln w="19050">
            <a:solidFill>
              <a:srgbClr val="B54708"/>
            </a:solidFill>
            <a:prstDash val="solid"/>
          </a:ln>
        </p:spPr>
      </p:sp>
      <p:sp>
        <p:nvSpPr>
          <p:cNvPr id="17" name="Text 14"/>
          <p:cNvSpPr/>
          <p:nvPr/>
        </p:nvSpPr>
        <p:spPr>
          <a:xfrm>
            <a:off x="6903720" y="2688336"/>
            <a:ext cx="4663440" cy="548640"/>
          </a:xfrm>
          <a:prstGeom prst="rect">
            <a:avLst/>
          </a:prstGeom>
          <a:noFill/>
          <a:ln/>
        </p:spPr>
        <p:txBody>
          <a:bodyPr wrap="square" lIns="0" tIns="0" rIns="0" bIns="0" rtlCol="0" anchor="ctr"/>
          <a:lstStyle/>
          <a:p>
            <a:pPr indent="0" marL="0">
              <a:buNone/>
            </a:pPr>
            <a:r>
              <a:rPr lang="en-US" sz="1300" b="1" dirty="0">
                <a:solidFill>
                  <a:srgbClr val="B54708"/>
                </a:solidFill>
                <a:latin typeface="Calibri" pitchFamily="34" charset="0"/>
                <a:ea typeface="Calibri" pitchFamily="34" charset="-122"/>
                <a:cs typeface="Calibri" pitchFamily="34" charset="-120"/>
              </a:rPr>
              <a:t>Azure reads the clean endorsed report (no Thinking)</a:t>
            </a:r>
            <a:endParaRPr lang="en-US" sz="1300" dirty="0"/>
          </a:p>
        </p:txBody>
      </p:sp>
      <p:sp>
        <p:nvSpPr>
          <p:cNvPr id="18" name="Shape 15"/>
          <p:cNvSpPr/>
          <p:nvPr/>
        </p:nvSpPr>
        <p:spPr>
          <a:xfrm>
            <a:off x="9235440" y="3236976"/>
            <a:ext cx="914" cy="201168"/>
          </a:xfrm>
          <a:prstGeom prst="line">
            <a:avLst/>
          </a:prstGeom>
          <a:noFill/>
          <a:ln w="19050">
            <a:solidFill>
              <a:srgbClr val="5B6472"/>
            </a:solidFill>
            <a:prstDash val="solid"/>
            <a:tailEnd type="triangle"/>
          </a:ln>
        </p:spPr>
      </p:sp>
      <p:sp>
        <p:nvSpPr>
          <p:cNvPr id="19" name="Shape 16"/>
          <p:cNvSpPr/>
          <p:nvPr/>
        </p:nvSpPr>
        <p:spPr>
          <a:xfrm>
            <a:off x="6812280" y="3438144"/>
            <a:ext cx="4846320" cy="548640"/>
          </a:xfrm>
          <a:prstGeom prst="roundRect">
            <a:avLst>
              <a:gd name="adj" fmla="val 10000"/>
            </a:avLst>
          </a:prstGeom>
          <a:solidFill>
            <a:srgbClr val="FFFFFF"/>
          </a:solidFill>
          <a:ln w="19050">
            <a:solidFill>
              <a:srgbClr val="067647"/>
            </a:solidFill>
            <a:prstDash val="solid"/>
          </a:ln>
        </p:spPr>
      </p:sp>
      <p:sp>
        <p:nvSpPr>
          <p:cNvPr id="20" name="Text 17"/>
          <p:cNvSpPr/>
          <p:nvPr/>
        </p:nvSpPr>
        <p:spPr>
          <a:xfrm>
            <a:off x="6903720" y="3438144"/>
            <a:ext cx="4663440" cy="548640"/>
          </a:xfrm>
          <a:prstGeom prst="rect">
            <a:avLst/>
          </a:prstGeom>
          <a:noFill/>
          <a:ln/>
        </p:spPr>
        <p:txBody>
          <a:bodyPr wrap="square" lIns="0" tIns="0" rIns="0" bIns="0" rtlCol="0" anchor="ctr"/>
          <a:lstStyle/>
          <a:p>
            <a:pPr indent="0" marL="0">
              <a:buNone/>
            </a:pPr>
            <a:r>
              <a:rPr lang="en-US" sz="1300" b="1" dirty="0">
                <a:solidFill>
                  <a:srgbClr val="067647"/>
                </a:solidFill>
                <a:latin typeface="Calibri" pitchFamily="34" charset="0"/>
                <a:ea typeface="Calibri" pitchFamily="34" charset="-122"/>
                <a:cs typeface="Calibri" pitchFamily="34" charset="-120"/>
              </a:rPr>
              <a:t>≤ 6 grouped findings + severity saved on the case</a:t>
            </a:r>
            <a:endParaRPr lang="en-US" sz="1300" dirty="0"/>
          </a:p>
        </p:txBody>
      </p:sp>
      <p:sp>
        <p:nvSpPr>
          <p:cNvPr id="21" name="Shape 18"/>
          <p:cNvSpPr/>
          <p:nvPr/>
        </p:nvSpPr>
        <p:spPr>
          <a:xfrm>
            <a:off x="9235440" y="3986784"/>
            <a:ext cx="914" cy="201168"/>
          </a:xfrm>
          <a:prstGeom prst="line">
            <a:avLst/>
          </a:prstGeom>
          <a:noFill/>
          <a:ln w="19050">
            <a:solidFill>
              <a:srgbClr val="5B6472"/>
            </a:solidFill>
            <a:prstDash val="solid"/>
            <a:tailEnd type="triangle"/>
          </a:ln>
        </p:spPr>
      </p:sp>
      <p:sp>
        <p:nvSpPr>
          <p:cNvPr id="22" name="Shape 19"/>
          <p:cNvSpPr/>
          <p:nvPr/>
        </p:nvSpPr>
        <p:spPr>
          <a:xfrm>
            <a:off x="6812280" y="4187952"/>
            <a:ext cx="4846320" cy="548640"/>
          </a:xfrm>
          <a:prstGeom prst="roundRect">
            <a:avLst>
              <a:gd name="adj" fmla="val 10000"/>
            </a:avLst>
          </a:prstGeom>
          <a:solidFill>
            <a:srgbClr val="FFFFFF"/>
          </a:solidFill>
          <a:ln w="19050">
            <a:solidFill>
              <a:srgbClr val="00509E"/>
            </a:solidFill>
            <a:prstDash val="solid"/>
          </a:ln>
        </p:spPr>
      </p:sp>
      <p:sp>
        <p:nvSpPr>
          <p:cNvPr id="23" name="Text 20"/>
          <p:cNvSpPr/>
          <p:nvPr/>
        </p:nvSpPr>
        <p:spPr>
          <a:xfrm>
            <a:off x="6903720" y="4187952"/>
            <a:ext cx="4663440" cy="548640"/>
          </a:xfrm>
          <a:prstGeom prst="rect">
            <a:avLst/>
          </a:prstGeom>
          <a:noFill/>
          <a:ln/>
        </p:spPr>
        <p:txBody>
          <a:bodyPr wrap="square" lIns="0" tIns="0" rIns="0" bIns="0" rtlCol="0" anchor="ctr"/>
          <a:lstStyle/>
          <a:p>
            <a:pPr indent="0" marL="0">
              <a:buNone/>
            </a:pPr>
            <a:r>
              <a:rPr lang="en-US" sz="1300" b="1" dirty="0">
                <a:solidFill>
                  <a:srgbClr val="00509E"/>
                </a:solidFill>
                <a:latin typeface="Calibri" pitchFamily="34" charset="0"/>
                <a:ea typeface="Calibri" pitchFamily="34" charset="-122"/>
                <a:cs typeface="Calibri" pitchFamily="34" charset="-120"/>
              </a:rPr>
              <a:t>Chart polls every 4 s and shows them</a:t>
            </a:r>
            <a:endParaRPr lang="en-US" sz="1300" dirty="0"/>
          </a:p>
        </p:txBody>
      </p:sp>
      <p:sp>
        <p:nvSpPr>
          <p:cNvPr id="24" name="Text 21"/>
          <p:cNvSpPr/>
          <p:nvPr/>
        </p:nvSpPr>
        <p:spPr>
          <a:xfrm>
            <a:off x="548640" y="4983480"/>
            <a:ext cx="11064240" cy="1371600"/>
          </a:xfrm>
          <a:prstGeom prst="rect">
            <a:avLst/>
          </a:prstGeom>
          <a:noFill/>
          <a:ln/>
        </p:spPr>
        <p:txBody>
          <a:bodyPr wrap="square" lIns="25400" tIns="25400" rIns="25400" bIns="25400" rtlCol="0" anchor="t"/>
          <a:lstStyle/>
          <a:p>
            <a:pPr marL="203200" indent="-203200">
              <a:spcAft>
                <a:spcPts val="300"/>
              </a:spcAft>
              <a:buSzPct val="100000"/>
              <a:buChar char="■"/>
            </a:pPr>
            <a:r>
              <a:rPr lang="en-US" sz="1300" dirty="0">
                <a:solidFill>
                  <a:srgbClr val="1F2937"/>
                </a:solidFill>
                <a:latin typeface="Calibri" pitchFamily="34" charset="0"/>
                <a:ea typeface="Calibri" pitchFamily="34" charset="-122"/>
                <a:cs typeface="Calibri" pitchFamily="34" charset="-120"/>
              </a:rPr>
              <a:t>Draft reports never appear under Findings — only endorsed studies, each tagged Significant / Minor / Normal with “Endorsed by …”.</a:t>
            </a:r>
            <a:endParaRPr lang="en-US" sz="1300" dirty="0"/>
          </a:p>
          <a:p>
            <a:pPr marL="203200" indent="-203200">
              <a:spcAft>
                <a:spcPts val="300"/>
              </a:spcAft>
              <a:buSzPct val="100000"/>
              <a:buChar char="■"/>
            </a:pPr>
            <a:r>
              <a:rPr lang="en-US" sz="1300" dirty="0">
                <a:solidFill>
                  <a:srgbClr val="1F2937"/>
                </a:solidFill>
                <a:latin typeface="Calibri" pitchFamily="34" charset="0"/>
                <a:ea typeface="Calibri" pitchFamily="34" charset="-122"/>
                <a:cs typeface="Calibri" pitchFamily="34" charset="-120"/>
              </a:rPr>
              <a:t>Older endorsed reports are back-filled the first time the chart opens; a lost run (&gt; 3 min) or an Azure failure shows Retry Azure AI to radiologists.</a:t>
            </a:r>
            <a:endParaRPr lang="en-US" sz="1300" dirty="0"/>
          </a:p>
          <a:p>
            <a:pPr marL="203200" indent="-203200">
              <a:spcAft>
                <a:spcPts val="300"/>
              </a:spcAft>
              <a:buSzPct val="100000"/>
              <a:buChar char="■"/>
            </a:pPr>
            <a:r>
              <a:rPr lang="en-US" sz="1300" dirty="0">
                <a:solidFill>
                  <a:srgbClr val="1F2937"/>
                </a:solidFill>
                <a:latin typeface="Calibri" pitchFamily="34" charset="0"/>
                <a:ea typeface="Calibri" pitchFamily="34" charset="-122"/>
                <a:cs typeface="Calibri" pitchFamily="34" charset="-120"/>
              </a:rPr>
              <a:t>Hidden from technicians; if Azure is not configured the chart says so instead of guessing.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CLINICAL</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Inpatient observations &amp; sepsis screening (teaching)</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18</a:t>
            </a:r>
            <a:endParaRPr lang="en-US" sz="900" dirty="0"/>
          </a:p>
        </p:txBody>
      </p:sp>
      <p:sp>
        <p:nvSpPr>
          <p:cNvPr id="8" name="Shape 6"/>
          <p:cNvSpPr/>
          <p:nvPr/>
        </p:nvSpPr>
        <p:spPr>
          <a:xfrm>
            <a:off x="461772" y="1069848"/>
            <a:ext cx="4928616" cy="5404104"/>
          </a:xfrm>
          <a:prstGeom prst="rect">
            <a:avLst/>
          </a:prstGeom>
          <a:solidFill>
            <a:srgbClr val="D6D3C4"/>
          </a:solidFill>
          <a:ln w="12700">
            <a:solidFill>
              <a:srgbClr val="D6D3C4"/>
            </a:solidFill>
            <a:prstDash val="solid"/>
          </a:ln>
        </p:spPr>
      </p:sp>
      <p:pic>
        <p:nvPicPr>
          <p:cNvPr id="9" name="Image 0" descr="/tmp/radassist-ppt/shots/11-sepsis-window.png">    </p:cNvPr>
          <p:cNvPicPr>
            <a:picLocks noChangeAspect="1"/>
          </p:cNvPicPr>
          <p:nvPr/>
        </p:nvPicPr>
        <p:blipFill>
          <a:blip r:embed="rId1"/>
          <a:stretch>
            <a:fillRect/>
          </a:stretch>
        </p:blipFill>
        <p:spPr>
          <a:xfrm>
            <a:off x="489204" y="1097280"/>
            <a:ext cx="4873752" cy="5349240"/>
          </a:xfrm>
          <a:prstGeom prst="rect">
            <a:avLst/>
          </a:prstGeom>
        </p:spPr>
      </p:pic>
      <p:sp>
        <p:nvSpPr>
          <p:cNvPr id="10" name="Shape 7"/>
          <p:cNvSpPr/>
          <p:nvPr/>
        </p:nvSpPr>
        <p:spPr>
          <a:xfrm>
            <a:off x="5669280" y="1188720"/>
            <a:ext cx="6035040" cy="2057400"/>
          </a:xfrm>
          <a:prstGeom prst="rect">
            <a:avLst/>
          </a:prstGeom>
          <a:solidFill>
            <a:srgbClr val="FDECEA"/>
          </a:solidFill>
          <a:ln w="9525">
            <a:solidFill>
              <a:srgbClr val="D6D3C4"/>
            </a:solidFill>
            <a:prstDash val="solid"/>
          </a:ln>
        </p:spPr>
      </p:sp>
      <p:sp>
        <p:nvSpPr>
          <p:cNvPr id="11" name="Shape 8"/>
          <p:cNvSpPr/>
          <p:nvPr/>
        </p:nvSpPr>
        <p:spPr>
          <a:xfrm>
            <a:off x="5669280" y="1188720"/>
            <a:ext cx="64008" cy="2057400"/>
          </a:xfrm>
          <a:prstGeom prst="rect">
            <a:avLst/>
          </a:prstGeom>
          <a:solidFill>
            <a:srgbClr val="B42318"/>
          </a:solidFill>
          <a:ln w="12700">
            <a:solidFill>
              <a:srgbClr val="B42318"/>
            </a:solidFill>
            <a:prstDash val="solid"/>
          </a:ln>
        </p:spPr>
      </p:sp>
      <p:sp>
        <p:nvSpPr>
          <p:cNvPr id="12" name="Text 9"/>
          <p:cNvSpPr/>
          <p:nvPr/>
        </p:nvSpPr>
        <p:spPr>
          <a:xfrm>
            <a:off x="5852160" y="1280160"/>
            <a:ext cx="5760720" cy="329184"/>
          </a:xfrm>
          <a:prstGeom prst="rect">
            <a:avLst/>
          </a:prstGeom>
          <a:noFill/>
          <a:ln/>
        </p:spPr>
        <p:txBody>
          <a:bodyPr wrap="square" lIns="0" tIns="0" rIns="0" bIns="0" rtlCol="0" anchor="t"/>
          <a:lstStyle/>
          <a:p>
            <a:pPr indent="0" marL="0">
              <a:buNone/>
            </a:pPr>
            <a:r>
              <a:rPr lang="en-US" sz="1500" b="1" dirty="0">
                <a:solidFill>
                  <a:srgbClr val="B42318"/>
                </a:solidFill>
                <a:latin typeface="Calibri" pitchFamily="34" charset="0"/>
                <a:ea typeface="Calibri" pitchFamily="34" charset="-122"/>
                <a:cs typeface="Calibri" pitchFamily="34" charset="-120"/>
              </a:rPr>
              <a:t>Review states from the CMS sepsis screen</a:t>
            </a:r>
            <a:endParaRPr lang="en-US" sz="1500" dirty="0"/>
          </a:p>
        </p:txBody>
      </p:sp>
      <p:sp>
        <p:nvSpPr>
          <p:cNvPr id="13" name="Text 10"/>
          <p:cNvSpPr/>
          <p:nvPr/>
        </p:nvSpPr>
        <p:spPr>
          <a:xfrm>
            <a:off x="5852160" y="1645920"/>
            <a:ext cx="5760720" cy="1527048"/>
          </a:xfrm>
          <a:prstGeom prst="rect">
            <a:avLst/>
          </a:prstGeom>
          <a:noFill/>
          <a:ln/>
        </p:spPr>
        <p:txBody>
          <a:bodyPr wrap="square" lIns="0" tIns="0" rIns="0" bIns="0" rtlCol="0" anchor="t"/>
          <a:lstStyle/>
          <a:p>
            <a:pPr indent="0" marL="0">
              <a:spcAft>
                <a:spcPts val="300"/>
              </a:spcAft>
              <a:buNone/>
            </a:pPr>
            <a:r>
              <a:rPr lang="en-US" sz="1350" dirty="0">
                <a:solidFill>
                  <a:srgbClr val="1F2937"/>
                </a:solidFill>
                <a:latin typeface="Calibri" pitchFamily="34" charset="0"/>
                <a:ea typeface="Calibri" pitchFamily="34" charset="-122"/>
                <a:cs typeface="Calibri" pitchFamily="34" charset="-120"/>
              </a:rPr>
              <a:t>Urgent review: SpO₂ ≤ 91 %, RR ≥ 25, or the two-criterion proxy RR ≥ 22 and systolic BP ≤ 100.</a:t>
            </a:r>
            <a:endParaRPr lang="en-US" sz="1350" dirty="0"/>
          </a:p>
          <a:p>
            <a:pPr indent="0" marL="0">
              <a:spcAft>
                <a:spcPts val="300"/>
              </a:spcAft>
              <a:buNone/>
            </a:pPr>
            <a:r>
              <a:rPr lang="en-US" sz="1350" dirty="0">
                <a:solidFill>
                  <a:srgbClr val="1F2937"/>
                </a:solidFill>
                <a:latin typeface="Calibri" pitchFamily="34" charset="0"/>
                <a:ea typeface="Calibri" pitchFamily="34" charset="-122"/>
                <a:cs typeface="Calibri" pitchFamily="34" charset="-120"/>
              </a:rPr>
              <a:t>Abnormal: outside adult teaching ranges (HR, RR, BP, SpO₂, temperature, lactate, WBC, CRP).</a:t>
            </a:r>
            <a:endParaRPr lang="en-US" sz="1350" dirty="0"/>
          </a:p>
          <a:p>
            <a:pPr indent="0" marL="0">
              <a:spcAft>
                <a:spcPts val="300"/>
              </a:spcAft>
              <a:buNone/>
            </a:pPr>
            <a:r>
              <a:rPr lang="en-US" sz="1350" dirty="0">
                <a:solidFill>
                  <a:srgbClr val="1F2937"/>
                </a:solidFill>
                <a:latin typeface="Calibri" pitchFamily="34" charset="0"/>
                <a:ea typeface="Calibri" pitchFamily="34" charset="-122"/>
                <a:cs typeface="Calibri" pitchFamily="34" charset="-120"/>
              </a:rPr>
              <a:t>Otherwise: no configured trigger.</a:t>
            </a:r>
            <a:endParaRPr lang="en-US" sz="1350" dirty="0"/>
          </a:p>
        </p:txBody>
      </p:sp>
      <p:sp>
        <p:nvSpPr>
          <p:cNvPr id="14" name="Text 11"/>
          <p:cNvSpPr/>
          <p:nvPr/>
        </p:nvSpPr>
        <p:spPr>
          <a:xfrm>
            <a:off x="5669280" y="3474720"/>
            <a:ext cx="6035040" cy="2926080"/>
          </a:xfrm>
          <a:prstGeom prst="rect">
            <a:avLst/>
          </a:prstGeom>
          <a:noFill/>
          <a:ln/>
        </p:spPr>
        <p:txBody>
          <a:bodyPr wrap="square" lIns="25400" tIns="25400" rIns="25400" bIns="25400" rtlCol="0" anchor="t"/>
          <a:lstStyle/>
          <a:p>
            <a:pPr marL="203200" indent="-203200">
              <a:spcAft>
                <a:spcPts val="700"/>
              </a:spcAft>
              <a:buSzPct val="100000"/>
              <a:buChar char="■"/>
            </a:pPr>
            <a:r>
              <a:rPr lang="en-US" sz="1350" b="1" dirty="0">
                <a:solidFill>
                  <a:srgbClr val="003366"/>
                </a:solidFill>
                <a:latin typeface="Calibri" pitchFamily="34" charset="0"/>
                <a:ea typeface="Calibri" pitchFamily="34" charset="-122"/>
                <a:cs typeface="Calibri" pitchFamily="34" charset="-120"/>
              </a:rPr>
              <a:t>12-hour trajectory</a:t>
            </a:r>
            <a:r>
              <a:rPr lang="en-US" sz="1350" dirty="0">
                <a:solidFill>
                  <a:srgbClr val="1F2937"/>
                </a:solidFill>
                <a:latin typeface="Calibri" pitchFamily="34" charset="0"/>
                <a:ea typeface="Calibri" pitchFamily="34" charset="-122"/>
                <a:cs typeface="Calibri" pitchFamily="34" charset="-120"/>
              </a:rPr>
              <a:t> — per-hour bars for HR, RR, BP, SpO₂, temperature, lactate, CRP, WBC and a teaching score.</a:t>
            </a:r>
            <a:endParaRPr lang="en-US" sz="1350" dirty="0"/>
          </a:p>
          <a:p>
            <a:pPr marL="203200" indent="-203200">
              <a:spcAft>
                <a:spcPts val="700"/>
              </a:spcAft>
              <a:buSzPct val="100000"/>
              <a:buChar char="■"/>
            </a:pPr>
            <a:r>
              <a:rPr lang="en-US" sz="1350" b="1" dirty="0">
                <a:solidFill>
                  <a:srgbClr val="003366"/>
                </a:solidFill>
                <a:latin typeface="Calibri" pitchFamily="34" charset="0"/>
                <a:ea typeface="Calibri" pitchFamily="34" charset="-122"/>
                <a:cs typeface="Calibri" pitchFamily="34" charset="-120"/>
              </a:rPr>
              <a:t>Hour preview</a:t>
            </a:r>
            <a:r>
              <a:rPr lang="en-US" sz="1350" dirty="0">
                <a:solidFill>
                  <a:srgbClr val="1F2937"/>
                </a:solidFill>
                <a:latin typeface="Calibri" pitchFamily="34" charset="0"/>
                <a:ea typeface="Calibri" pitchFamily="34" charset="-122"/>
                <a:cs typeface="Calibri" pitchFamily="34" charset="-120"/>
              </a:rPr>
              <a:t> — step through H+0 … H+11 read-only; the saved assessment is unchanged.</a:t>
            </a:r>
            <a:endParaRPr lang="en-US" sz="1350" dirty="0"/>
          </a:p>
          <a:p>
            <a:pPr marL="203200" indent="-203200">
              <a:spcAft>
                <a:spcPts val="700"/>
              </a:spcAft>
              <a:buSzPct val="100000"/>
              <a:buChar char="■"/>
            </a:pPr>
            <a:r>
              <a:rPr lang="en-US" sz="1350" b="1" dirty="0">
                <a:solidFill>
                  <a:srgbClr val="003366"/>
                </a:solidFill>
                <a:latin typeface="Calibri" pitchFamily="34" charset="0"/>
                <a:ea typeface="Calibri" pitchFamily="34" charset="-122"/>
                <a:cs typeface="Calibri" pitchFamily="34" charset="-120"/>
              </a:rPr>
              <a:t>Record vitals</a:t>
            </a:r>
            <a:r>
              <a:rPr lang="en-US" sz="1350" dirty="0">
                <a:solidFill>
                  <a:srgbClr val="1F2937"/>
                </a:solidFill>
                <a:latin typeface="Calibri" pitchFamily="34" charset="0"/>
                <a:ea typeface="Calibri" pitchFamily="34" charset="-122"/>
                <a:cs typeface="Calibri" pitchFamily="34" charset="-120"/>
              </a:rPr>
              <a:t> — new observations append to the flowsheet and alert audit log.</a:t>
            </a:r>
            <a:endParaRPr lang="en-US" sz="1350" dirty="0"/>
          </a:p>
          <a:p>
            <a:pPr marL="203200" indent="-203200">
              <a:spcAft>
                <a:spcPts val="700"/>
              </a:spcAft>
              <a:buSzPct val="100000"/>
              <a:buChar char="■"/>
            </a:pPr>
            <a:r>
              <a:rPr lang="en-US" sz="1350" b="1" dirty="0">
                <a:solidFill>
                  <a:srgbClr val="003366"/>
                </a:solidFill>
                <a:latin typeface="Calibri" pitchFamily="34" charset="0"/>
                <a:ea typeface="Calibri" pitchFamily="34" charset="-122"/>
                <a:cs typeface="Calibri" pitchFamily="34" charset="-120"/>
              </a:rPr>
              <a:t>Honest labelling</a:t>
            </a:r>
            <a:r>
              <a:rPr lang="en-US" sz="1350" dirty="0">
                <a:solidFill>
                  <a:srgbClr val="1F2937"/>
                </a:solidFill>
                <a:latin typeface="Calibri" pitchFamily="34" charset="0"/>
                <a:ea typeface="Calibri" pitchFamily="34" charset="-122"/>
                <a:cs typeface="Calibri" pitchFamily="34" charset="-120"/>
              </a:rPr>
              <a:t> — the teaching score is not a hospital deterioration model or a clinical probability.</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CLINICAL</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Sepsis Monitor and Care Notes in their own windows</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19</a:t>
            </a:r>
            <a:endParaRPr lang="en-US" sz="900" dirty="0"/>
          </a:p>
        </p:txBody>
      </p:sp>
      <p:sp>
        <p:nvSpPr>
          <p:cNvPr id="8" name="Shape 6"/>
          <p:cNvSpPr/>
          <p:nvPr/>
        </p:nvSpPr>
        <p:spPr>
          <a:xfrm>
            <a:off x="429768" y="1215929"/>
            <a:ext cx="3621024" cy="3968942"/>
          </a:xfrm>
          <a:prstGeom prst="rect">
            <a:avLst/>
          </a:prstGeom>
          <a:solidFill>
            <a:srgbClr val="D6D3C4"/>
          </a:solidFill>
          <a:ln w="12700">
            <a:solidFill>
              <a:srgbClr val="D6D3C4"/>
            </a:solidFill>
            <a:prstDash val="solid"/>
          </a:ln>
        </p:spPr>
      </p:sp>
      <p:pic>
        <p:nvPicPr>
          <p:cNvPr id="9" name="Image 0" descr="/tmp/radassist-ppt/shots/11-sepsis-window.png">    </p:cNvPr>
          <p:cNvPicPr>
            <a:picLocks noChangeAspect="1"/>
          </p:cNvPicPr>
          <p:nvPr/>
        </p:nvPicPr>
        <p:blipFill>
          <a:blip r:embed="rId1"/>
          <a:stretch>
            <a:fillRect/>
          </a:stretch>
        </p:blipFill>
        <p:spPr>
          <a:xfrm>
            <a:off x="457200" y="1243361"/>
            <a:ext cx="3566160" cy="3914078"/>
          </a:xfrm>
          <a:prstGeom prst="rect">
            <a:avLst/>
          </a:prstGeom>
        </p:spPr>
      </p:pic>
      <p:sp>
        <p:nvSpPr>
          <p:cNvPr id="10" name="Shape 7"/>
          <p:cNvSpPr/>
          <p:nvPr/>
        </p:nvSpPr>
        <p:spPr>
          <a:xfrm>
            <a:off x="4133088" y="1215929"/>
            <a:ext cx="3621024" cy="3968942"/>
          </a:xfrm>
          <a:prstGeom prst="rect">
            <a:avLst/>
          </a:prstGeom>
          <a:solidFill>
            <a:srgbClr val="D6D3C4"/>
          </a:solidFill>
          <a:ln w="12700">
            <a:solidFill>
              <a:srgbClr val="D6D3C4"/>
            </a:solidFill>
            <a:prstDash val="solid"/>
          </a:ln>
        </p:spPr>
      </p:sp>
      <p:pic>
        <p:nvPicPr>
          <p:cNvPr id="11" name="Image 1" descr="/tmp/radassist-ppt/shots/12-notes-window.png">    </p:cNvPr>
          <p:cNvPicPr>
            <a:picLocks noChangeAspect="1"/>
          </p:cNvPicPr>
          <p:nvPr/>
        </p:nvPicPr>
        <p:blipFill>
          <a:blip r:embed="rId2"/>
          <a:stretch>
            <a:fillRect/>
          </a:stretch>
        </p:blipFill>
        <p:spPr>
          <a:xfrm>
            <a:off x="4160520" y="1243361"/>
            <a:ext cx="3566160" cy="3914078"/>
          </a:xfrm>
          <a:prstGeom prst="rect">
            <a:avLst/>
          </a:prstGeom>
        </p:spPr>
      </p:pic>
      <p:sp>
        <p:nvSpPr>
          <p:cNvPr id="12" name="Text 8"/>
          <p:cNvSpPr/>
          <p:nvPr/>
        </p:nvSpPr>
        <p:spPr>
          <a:xfrm>
            <a:off x="8001000" y="1188720"/>
            <a:ext cx="3794760" cy="5120640"/>
          </a:xfrm>
          <a:prstGeom prst="rect">
            <a:avLst/>
          </a:prstGeom>
          <a:noFill/>
          <a:ln/>
        </p:spPr>
        <p:txBody>
          <a:bodyPr wrap="square" lIns="25400" tIns="25400" rIns="25400" bIns="25400" rtlCol="0" anchor="t"/>
          <a:lstStyle/>
          <a:p>
            <a:pPr marL="203200" indent="-203200">
              <a:spcAft>
                <a:spcPts val="700"/>
              </a:spcAft>
              <a:buSzPct val="100000"/>
              <a:buChar char="■"/>
            </a:pPr>
            <a:r>
              <a:rPr lang="en-US" sz="1300" b="1" dirty="0">
                <a:solidFill>
                  <a:srgbClr val="003366"/>
                </a:solidFill>
                <a:latin typeface="Calibri" pitchFamily="34" charset="0"/>
                <a:ea typeface="Calibri" pitchFamily="34" charset="-122"/>
                <a:cs typeface="Calibri" pitchFamily="34" charset="-120"/>
              </a:rPr>
              <a:t>Read side by side</a:t>
            </a:r>
            <a:r>
              <a:rPr lang="en-US" sz="1300" dirty="0">
                <a:solidFill>
                  <a:srgbClr val="1F2937"/>
                </a:solidFill>
                <a:latin typeface="Calibri" pitchFamily="34" charset="0"/>
                <a:ea typeface="Calibri" pitchFamily="34" charset="-122"/>
                <a:cs typeface="Calibri" pitchFamily="34" charset="-120"/>
              </a:rPr>
              <a:t> — Sepsis monitor and Care notes open the patient in a separate browser window — beside the chart or on a second screen.</a:t>
            </a:r>
            <a:endParaRPr lang="en-US" sz="1300" dirty="0"/>
          </a:p>
          <a:p>
            <a:pPr marL="203200" indent="-203200">
              <a:spcAft>
                <a:spcPts val="700"/>
              </a:spcAft>
              <a:buSzPct val="100000"/>
              <a:buChar char="■"/>
            </a:pPr>
            <a:r>
              <a:rPr lang="en-US" sz="1300" b="1" dirty="0">
                <a:solidFill>
                  <a:srgbClr val="003366"/>
                </a:solidFill>
                <a:latin typeface="Calibri" pitchFamily="34" charset="0"/>
                <a:ea typeface="Calibri" pitchFamily="34" charset="-122"/>
                <a:cs typeface="Calibri" pitchFamily="34" charset="-120"/>
              </a:rPr>
              <a:t>One patient only</a:t>
            </a:r>
            <a:r>
              <a:rPr lang="en-US" sz="1300" dirty="0">
                <a:solidFill>
                  <a:srgbClr val="1F2937"/>
                </a:solidFill>
                <a:latin typeface="Calibri" pitchFamily="34" charset="0"/>
                <a:ea typeface="Calibri" pitchFamily="34" charset="-122"/>
                <a:cs typeface="Calibri" pitchFamily="34" charset="-120"/>
              </a:rPr>
              <a:t> — no ward worklist or patient picker, so nothing is recorded against the wrong patient.</a:t>
            </a:r>
            <a:endParaRPr lang="en-US" sz="1300" dirty="0"/>
          </a:p>
          <a:p>
            <a:pPr marL="203200" indent="-203200">
              <a:spcAft>
                <a:spcPts val="700"/>
              </a:spcAft>
              <a:buSzPct val="100000"/>
              <a:buChar char="■"/>
            </a:pPr>
            <a:r>
              <a:rPr lang="en-US" sz="1300" b="1" dirty="0">
                <a:solidFill>
                  <a:srgbClr val="003366"/>
                </a:solidFill>
                <a:latin typeface="Calibri" pitchFamily="34" charset="0"/>
                <a:ea typeface="Calibri" pitchFamily="34" charset="-122"/>
                <a:cs typeface="Calibri" pitchFamily="34" charset="-120"/>
              </a:rPr>
              <a:t>Live sync</a:t>
            </a:r>
            <a:r>
              <a:rPr lang="en-US" sz="1300" dirty="0">
                <a:solidFill>
                  <a:srgbClr val="1F2937"/>
                </a:solidFill>
                <a:latin typeface="Calibri" pitchFamily="34" charset="0"/>
                <a:ea typeface="Calibri" pitchFamily="34" charset="-122"/>
                <a:cs typeface="Calibri" pitchFamily="34" charset="-120"/>
              </a:rPr>
              <a:t> — vitals or notes saved in a window are posted back (same-origin postMessage) and the chart updates without a reload.</a:t>
            </a:r>
            <a:endParaRPr lang="en-US" sz="1300" dirty="0"/>
          </a:p>
          <a:p>
            <a:pPr marL="203200" indent="-203200">
              <a:spcAft>
                <a:spcPts val="700"/>
              </a:spcAft>
              <a:buSzPct val="100000"/>
              <a:buChar char="■"/>
            </a:pPr>
            <a:r>
              <a:rPr lang="en-US" sz="1300" b="1" dirty="0">
                <a:solidFill>
                  <a:srgbClr val="003366"/>
                </a:solidFill>
                <a:latin typeface="Calibri" pitchFamily="34" charset="0"/>
                <a:ea typeface="Calibri" pitchFamily="34" charset="-122"/>
                <a:cs typeface="Calibri" pitchFamily="34" charset="-120"/>
              </a:rPr>
              <a:t>Window reuse</a:t>
            </a:r>
            <a:r>
              <a:rPr lang="en-US" sz="1300" dirty="0">
                <a:solidFill>
                  <a:srgbClr val="1F2937"/>
                </a:solidFill>
                <a:latin typeface="Calibri" pitchFamily="34" charset="0"/>
                <a:ea typeface="Calibri" pitchFamily="34" charset="-122"/>
                <a:cs typeface="Calibri" pitchFamily="34" charset="-120"/>
              </a:rPr>
              <a:t> — each view has its own named window; opening another patient reuses it.</a:t>
            </a:r>
            <a:endParaRPr lang="en-US" sz="1300" dirty="0"/>
          </a:p>
          <a:p>
            <a:pPr marL="203200" indent="-203200">
              <a:spcAft>
                <a:spcPts val="700"/>
              </a:spcAft>
              <a:buSzPct val="100000"/>
              <a:buChar char="■"/>
            </a:pPr>
            <a:r>
              <a:rPr lang="en-US" sz="1300" b="1" dirty="0">
                <a:solidFill>
                  <a:srgbClr val="003366"/>
                </a:solidFill>
                <a:latin typeface="Calibri" pitchFamily="34" charset="0"/>
                <a:ea typeface="Calibri" pitchFamily="34" charset="-122"/>
                <a:cs typeface="Calibri" pitchFamily="34" charset="-120"/>
              </a:rPr>
              <a:t>Pop-up blocked?</a:t>
            </a:r>
            <a:r>
              <a:rPr lang="en-US" sz="1300" dirty="0">
                <a:solidFill>
                  <a:srgbClr val="1F2937"/>
                </a:solidFill>
                <a:latin typeface="Calibri" pitchFamily="34" charset="0"/>
                <a:ea typeface="Calibri" pitchFamily="34" charset="-122"/>
                <a:cs typeface="Calibri" pitchFamily="34" charset="-120"/>
              </a:rPr>
              <a:t> — the same view opens as a draggable, resizable floating panel instead.</a:t>
            </a:r>
            <a:endParaRPr lang="en-US" sz="1300" dirty="0"/>
          </a:p>
        </p:txBody>
      </p:sp>
      <p:sp>
        <p:nvSpPr>
          <p:cNvPr id="13" name="Text 9"/>
          <p:cNvSpPr/>
          <p:nvPr/>
        </p:nvSpPr>
        <p:spPr>
          <a:xfrm>
            <a:off x="457200" y="5440680"/>
            <a:ext cx="7269480" cy="320040"/>
          </a:xfrm>
          <a:prstGeom prst="rect">
            <a:avLst/>
          </a:prstGeom>
          <a:noFill/>
          <a:ln/>
        </p:spPr>
        <p:txBody>
          <a:bodyPr wrap="square" lIns="0" tIns="0" rIns="0" bIns="0" rtlCol="0" anchor="ctr"/>
          <a:lstStyle/>
          <a:p>
            <a:pPr algn="ctr" indent="0" marL="0">
              <a:buNone/>
            </a:pPr>
            <a:r>
              <a:rPr lang="en-US" sz="1200" dirty="0">
                <a:solidFill>
                  <a:srgbClr val="5B6472"/>
                </a:solidFill>
                <a:latin typeface="Courier New" pitchFamily="34" charset="0"/>
                <a:ea typeface="Courier New" pitchFamily="34" charset="-122"/>
                <a:cs typeface="Courier New" pitchFamily="34" charset="-120"/>
              </a:rPr>
              <a:t>?view=sepsis&amp;patientId=…   ·   ?view=notes&amp;patientId=…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ADMIN</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Administration: users and audit trail</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20</a:t>
            </a:r>
            <a:endParaRPr lang="en-US" sz="900" dirty="0"/>
          </a:p>
        </p:txBody>
      </p:sp>
      <p:sp>
        <p:nvSpPr>
          <p:cNvPr id="8" name="Shape 6"/>
          <p:cNvSpPr/>
          <p:nvPr/>
        </p:nvSpPr>
        <p:spPr>
          <a:xfrm>
            <a:off x="429768" y="1342898"/>
            <a:ext cx="5724144" cy="3440684"/>
          </a:xfrm>
          <a:prstGeom prst="rect">
            <a:avLst/>
          </a:prstGeom>
          <a:solidFill>
            <a:srgbClr val="D6D3C4"/>
          </a:solidFill>
          <a:ln w="12700">
            <a:solidFill>
              <a:srgbClr val="D6D3C4"/>
            </a:solidFill>
            <a:prstDash val="solid"/>
          </a:ln>
        </p:spPr>
      </p:sp>
      <p:pic>
        <p:nvPicPr>
          <p:cNvPr id="9" name="Image 0" descr="/tmp/radassist-ppt/shots/10-users.png">    </p:cNvPr>
          <p:cNvPicPr>
            <a:picLocks noChangeAspect="1"/>
          </p:cNvPicPr>
          <p:nvPr/>
        </p:nvPicPr>
        <p:blipFill>
          <a:blip r:embed="rId1"/>
          <a:stretch>
            <a:fillRect/>
          </a:stretch>
        </p:blipFill>
        <p:spPr>
          <a:xfrm>
            <a:off x="457200" y="1370330"/>
            <a:ext cx="5669280" cy="3385820"/>
          </a:xfrm>
          <a:prstGeom prst="rect">
            <a:avLst/>
          </a:prstGeom>
        </p:spPr>
      </p:pic>
      <p:sp>
        <p:nvSpPr>
          <p:cNvPr id="10" name="Shape 7"/>
          <p:cNvSpPr/>
          <p:nvPr/>
        </p:nvSpPr>
        <p:spPr>
          <a:xfrm>
            <a:off x="6281928" y="1397508"/>
            <a:ext cx="5541264" cy="3331464"/>
          </a:xfrm>
          <a:prstGeom prst="rect">
            <a:avLst/>
          </a:prstGeom>
          <a:solidFill>
            <a:srgbClr val="D6D3C4"/>
          </a:solidFill>
          <a:ln w="12700">
            <a:solidFill>
              <a:srgbClr val="D6D3C4"/>
            </a:solidFill>
            <a:prstDash val="solid"/>
          </a:ln>
        </p:spPr>
      </p:sp>
      <p:pic>
        <p:nvPicPr>
          <p:cNvPr id="11" name="Image 1" descr="/tmp/radassist-ppt/shots/09-audit.png">    </p:cNvPr>
          <p:cNvPicPr>
            <a:picLocks noChangeAspect="1"/>
          </p:cNvPicPr>
          <p:nvPr/>
        </p:nvPicPr>
        <p:blipFill>
          <a:blip r:embed="rId2"/>
          <a:stretch>
            <a:fillRect/>
          </a:stretch>
        </p:blipFill>
        <p:spPr>
          <a:xfrm>
            <a:off x="6309360" y="1424940"/>
            <a:ext cx="5486400" cy="3276600"/>
          </a:xfrm>
          <a:prstGeom prst="rect">
            <a:avLst/>
          </a:prstGeom>
        </p:spPr>
      </p:pic>
      <p:sp>
        <p:nvSpPr>
          <p:cNvPr id="12" name="Text 8"/>
          <p:cNvSpPr/>
          <p:nvPr/>
        </p:nvSpPr>
        <p:spPr>
          <a:xfrm>
            <a:off x="457200" y="5074920"/>
            <a:ext cx="5669280" cy="320040"/>
          </a:xfrm>
          <a:prstGeom prst="rect">
            <a:avLst/>
          </a:prstGeom>
          <a:noFill/>
          <a:ln/>
        </p:spPr>
        <p:txBody>
          <a:bodyPr wrap="square" lIns="0" tIns="0" rIns="0" bIns="0" rtlCol="0" anchor="ctr"/>
          <a:lstStyle/>
          <a:p>
            <a:pPr algn="ctr" indent="0" marL="0">
              <a:buNone/>
            </a:pPr>
            <a:r>
              <a:rPr lang="en-US" sz="1250" b="1" dirty="0">
                <a:solidFill>
                  <a:srgbClr val="003366"/>
                </a:solidFill>
                <a:latin typeface="Calibri" pitchFamily="34" charset="0"/>
                <a:ea typeface="Calibri" pitchFamily="34" charset="-122"/>
                <a:cs typeface="Calibri" pitchFamily="34" charset="-120"/>
              </a:rPr>
              <a:t>Users: add by email, one-time temporary password, enable / disable / delete</a:t>
            </a:r>
            <a:endParaRPr lang="en-US" sz="1250" dirty="0"/>
          </a:p>
        </p:txBody>
      </p:sp>
      <p:sp>
        <p:nvSpPr>
          <p:cNvPr id="13" name="Text 9"/>
          <p:cNvSpPr/>
          <p:nvPr/>
        </p:nvSpPr>
        <p:spPr>
          <a:xfrm>
            <a:off x="6309360" y="5074920"/>
            <a:ext cx="5486400" cy="320040"/>
          </a:xfrm>
          <a:prstGeom prst="rect">
            <a:avLst/>
          </a:prstGeom>
          <a:noFill/>
          <a:ln/>
        </p:spPr>
        <p:txBody>
          <a:bodyPr wrap="square" lIns="0" tIns="0" rIns="0" bIns="0" rtlCol="0" anchor="ctr"/>
          <a:lstStyle/>
          <a:p>
            <a:pPr algn="ctr" indent="0" marL="0">
              <a:buNone/>
            </a:pPr>
            <a:r>
              <a:rPr lang="en-US" sz="1250" b="1" dirty="0">
                <a:solidFill>
                  <a:srgbClr val="003366"/>
                </a:solidFill>
                <a:latin typeface="Calibri" pitchFamily="34" charset="0"/>
                <a:ea typeface="Calibri" pitchFamily="34" charset="-122"/>
                <a:cs typeface="Calibri" pitchFamily="34" charset="-120"/>
              </a:rPr>
              <a:t>Audit log: filter by action, user, case; admin-only</a:t>
            </a:r>
            <a:endParaRPr lang="en-US" sz="1250" dirty="0"/>
          </a:p>
        </p:txBody>
      </p:sp>
      <p:sp>
        <p:nvSpPr>
          <p:cNvPr id="14" name="Text 10"/>
          <p:cNvSpPr/>
          <p:nvPr/>
        </p:nvSpPr>
        <p:spPr>
          <a:xfrm>
            <a:off x="548640" y="5486400"/>
            <a:ext cx="11064240" cy="868680"/>
          </a:xfrm>
          <a:prstGeom prst="rect">
            <a:avLst/>
          </a:prstGeom>
          <a:noFill/>
          <a:ln/>
        </p:spPr>
        <p:txBody>
          <a:bodyPr wrap="square" lIns="25400" tIns="25400" rIns="25400" bIns="25400" rtlCol="0" anchor="t"/>
          <a:lstStyle/>
          <a:p>
            <a:pPr marL="203200" indent="-2032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Safeguards: an admin cannot disable or delete their own account or remove the last active administrator.</a:t>
            </a:r>
            <a:endParaRPr lang="en-US" sz="1300" dirty="0"/>
          </a:p>
          <a:p>
            <a:pPr marL="203200" indent="-203200">
              <a:spcAft>
                <a:spcPts val="200"/>
              </a:spcAft>
              <a:buSzPct val="100000"/>
              <a:buChar char="■"/>
            </a:pPr>
            <a:r>
              <a:rPr lang="en-US" sz="1300" dirty="0">
                <a:solidFill>
                  <a:srgbClr val="1F2937"/>
                </a:solidFill>
                <a:latin typeface="Calibri" pitchFamily="34" charset="0"/>
                <a:ea typeface="Calibri" pitchFamily="34" charset="-122"/>
                <a:cs typeface="Calibri" pitchFamily="34" charset="-120"/>
              </a:rPr>
              <a:t>Bulk delete (cases, patients, audit rows) removes related studies and GridFS images; a patient delete keeps nothing orphaned.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DATA</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Data model</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21</a:t>
            </a:r>
            <a:endParaRPr lang="en-US" sz="900" dirty="0"/>
          </a:p>
        </p:txBody>
      </p:sp>
      <p:sp>
        <p:nvSpPr>
          <p:cNvPr id="8" name="Shape 6"/>
          <p:cNvSpPr/>
          <p:nvPr/>
        </p:nvSpPr>
        <p:spPr>
          <a:xfrm>
            <a:off x="548640" y="1188720"/>
            <a:ext cx="3657600" cy="2377440"/>
          </a:xfrm>
          <a:prstGeom prst="rect">
            <a:avLst/>
          </a:prstGeom>
          <a:solidFill>
            <a:srgbClr val="FFFFFF"/>
          </a:solidFill>
          <a:ln w="19050">
            <a:solidFill>
              <a:srgbClr val="00509E"/>
            </a:solidFill>
            <a:prstDash val="solid"/>
          </a:ln>
        </p:spPr>
      </p:sp>
      <p:sp>
        <p:nvSpPr>
          <p:cNvPr id="9" name="Shape 7"/>
          <p:cNvSpPr/>
          <p:nvPr/>
        </p:nvSpPr>
        <p:spPr>
          <a:xfrm>
            <a:off x="548640" y="1188720"/>
            <a:ext cx="3657600" cy="411480"/>
          </a:xfrm>
          <a:prstGeom prst="rect">
            <a:avLst/>
          </a:prstGeom>
          <a:solidFill>
            <a:srgbClr val="00509E"/>
          </a:solidFill>
          <a:ln w="12700">
            <a:solidFill>
              <a:srgbClr val="00509E"/>
            </a:solidFill>
            <a:prstDash val="solid"/>
          </a:ln>
        </p:spPr>
      </p:sp>
      <p:sp>
        <p:nvSpPr>
          <p:cNvPr id="10" name="Text 8"/>
          <p:cNvSpPr/>
          <p:nvPr/>
        </p:nvSpPr>
        <p:spPr>
          <a:xfrm>
            <a:off x="548640" y="1188720"/>
            <a:ext cx="3657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Patient</a:t>
            </a:r>
            <a:endParaRPr lang="en-US" sz="1400" dirty="0"/>
          </a:p>
        </p:txBody>
      </p:sp>
      <p:sp>
        <p:nvSpPr>
          <p:cNvPr id="11" name="Text 9"/>
          <p:cNvSpPr/>
          <p:nvPr/>
        </p:nvSpPr>
        <p:spPr>
          <a:xfrm>
            <a:off x="685800" y="1691640"/>
            <a:ext cx="3383280" cy="1828800"/>
          </a:xfrm>
          <a:prstGeom prst="rect">
            <a:avLst/>
          </a:prstGeom>
          <a:noFill/>
          <a:ln/>
        </p:spPr>
        <p:txBody>
          <a:bodyPr wrap="square" lIns="0" tIns="0" rIns="0" bIns="0" rtlCol="0" anchor="t"/>
          <a:lstStyle/>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patientId · first / middle / last name</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age · sex · history · remarks</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medicines · heartRate · labResults</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ward · bed · admissionStatus</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observations[] · labOrders[] · careNotes[]</a:t>
            </a:r>
            <a:endParaRPr lang="en-US" sz="1050" dirty="0"/>
          </a:p>
        </p:txBody>
      </p:sp>
      <p:sp>
        <p:nvSpPr>
          <p:cNvPr id="12" name="Shape 10"/>
          <p:cNvSpPr/>
          <p:nvPr/>
        </p:nvSpPr>
        <p:spPr>
          <a:xfrm>
            <a:off x="4434840" y="1188720"/>
            <a:ext cx="4023360" cy="3200400"/>
          </a:xfrm>
          <a:prstGeom prst="rect">
            <a:avLst/>
          </a:prstGeom>
          <a:solidFill>
            <a:srgbClr val="FFFFFF"/>
          </a:solidFill>
          <a:ln w="19050">
            <a:solidFill>
              <a:srgbClr val="003366"/>
            </a:solidFill>
            <a:prstDash val="solid"/>
          </a:ln>
        </p:spPr>
      </p:sp>
      <p:sp>
        <p:nvSpPr>
          <p:cNvPr id="13" name="Shape 11"/>
          <p:cNvSpPr/>
          <p:nvPr/>
        </p:nvSpPr>
        <p:spPr>
          <a:xfrm>
            <a:off x="4434840" y="1188720"/>
            <a:ext cx="4023360" cy="411480"/>
          </a:xfrm>
          <a:prstGeom prst="rect">
            <a:avLst/>
          </a:prstGeom>
          <a:solidFill>
            <a:srgbClr val="003366"/>
          </a:solidFill>
          <a:ln w="12700">
            <a:solidFill>
              <a:srgbClr val="003366"/>
            </a:solidFill>
            <a:prstDash val="solid"/>
          </a:ln>
        </p:spPr>
      </p:sp>
      <p:sp>
        <p:nvSpPr>
          <p:cNvPr id="14" name="Text 12"/>
          <p:cNvSpPr/>
          <p:nvPr/>
        </p:nvSpPr>
        <p:spPr>
          <a:xfrm>
            <a:off x="4434840" y="1188720"/>
            <a:ext cx="402336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 (one study / film)</a:t>
            </a:r>
            <a:endParaRPr lang="en-US" sz="1400" dirty="0"/>
          </a:p>
        </p:txBody>
      </p:sp>
      <p:sp>
        <p:nvSpPr>
          <p:cNvPr id="15" name="Text 13"/>
          <p:cNvSpPr/>
          <p:nvPr/>
        </p:nvSpPr>
        <p:spPr>
          <a:xfrm>
            <a:off x="4572000" y="1691640"/>
            <a:ext cx="3749040" cy="2651760"/>
          </a:xfrm>
          <a:prstGeom prst="rect">
            <a:avLst/>
          </a:prstGeom>
          <a:noFill/>
          <a:ln/>
        </p:spPr>
        <p:txBody>
          <a:bodyPr wrap="square" lIns="0" tIns="0" rIns="0" bIns="0" rtlCol="0" anchor="t"/>
          <a:lstStyle/>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caseId · patientId · status · urgent</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reportText · remarks · diagnosis(+Source)</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findings[] = film boxes · measurements[]</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analysisState · boxesState · editLog[]</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chartFindings[] · chartFindingsState</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imageId (GridFS) · pixelSpacingMm</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requestedBy · createdBy · finalizedBy/At · shareToken</a:t>
            </a:r>
            <a:endParaRPr lang="en-US" sz="1050" dirty="0"/>
          </a:p>
        </p:txBody>
      </p:sp>
      <p:sp>
        <p:nvSpPr>
          <p:cNvPr id="16" name="Shape 14"/>
          <p:cNvSpPr/>
          <p:nvPr/>
        </p:nvSpPr>
        <p:spPr>
          <a:xfrm>
            <a:off x="8686800" y="1188720"/>
            <a:ext cx="2971800" cy="1920240"/>
          </a:xfrm>
          <a:prstGeom prst="rect">
            <a:avLst/>
          </a:prstGeom>
          <a:solidFill>
            <a:srgbClr val="FFFFFF"/>
          </a:solidFill>
          <a:ln w="19050">
            <a:solidFill>
              <a:srgbClr val="008080"/>
            </a:solidFill>
            <a:prstDash val="solid"/>
          </a:ln>
        </p:spPr>
      </p:sp>
      <p:sp>
        <p:nvSpPr>
          <p:cNvPr id="17" name="Shape 15"/>
          <p:cNvSpPr/>
          <p:nvPr/>
        </p:nvSpPr>
        <p:spPr>
          <a:xfrm>
            <a:off x="8686800" y="1188720"/>
            <a:ext cx="2971800" cy="411480"/>
          </a:xfrm>
          <a:prstGeom prst="rect">
            <a:avLst/>
          </a:prstGeom>
          <a:solidFill>
            <a:srgbClr val="008080"/>
          </a:solidFill>
          <a:ln w="12700">
            <a:solidFill>
              <a:srgbClr val="008080"/>
            </a:solidFill>
            <a:prstDash val="solid"/>
          </a:ln>
        </p:spPr>
      </p:sp>
      <p:sp>
        <p:nvSpPr>
          <p:cNvPr id="18" name="Text 16"/>
          <p:cNvSpPr/>
          <p:nvPr/>
        </p:nvSpPr>
        <p:spPr>
          <a:xfrm>
            <a:off x="8686800" y="1188720"/>
            <a:ext cx="29718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User</a:t>
            </a:r>
            <a:endParaRPr lang="en-US" sz="1400" dirty="0"/>
          </a:p>
        </p:txBody>
      </p:sp>
      <p:sp>
        <p:nvSpPr>
          <p:cNvPr id="19" name="Text 17"/>
          <p:cNvSpPr/>
          <p:nvPr/>
        </p:nvSpPr>
        <p:spPr>
          <a:xfrm>
            <a:off x="8823960" y="1691640"/>
            <a:ext cx="2697480" cy="1371600"/>
          </a:xfrm>
          <a:prstGeom prst="rect">
            <a:avLst/>
          </a:prstGeom>
          <a:noFill/>
          <a:ln/>
        </p:spPr>
        <p:txBody>
          <a:bodyPr wrap="square" lIns="0" tIns="0" rIns="0" bIns="0" rtlCol="0" anchor="t"/>
          <a:lstStyle/>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username · email · name</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role: technician | radiologist |</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  doctor | admin</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bcrypt password · isActive</a:t>
            </a:r>
            <a:endParaRPr lang="en-US" sz="1050" dirty="0"/>
          </a:p>
        </p:txBody>
      </p:sp>
      <p:sp>
        <p:nvSpPr>
          <p:cNvPr id="20" name="Shape 18"/>
          <p:cNvSpPr/>
          <p:nvPr/>
        </p:nvSpPr>
        <p:spPr>
          <a:xfrm>
            <a:off x="8686800" y="3337560"/>
            <a:ext cx="2971800" cy="1463040"/>
          </a:xfrm>
          <a:prstGeom prst="rect">
            <a:avLst/>
          </a:prstGeom>
          <a:solidFill>
            <a:srgbClr val="FFFFFF"/>
          </a:solidFill>
          <a:ln w="19050">
            <a:solidFill>
              <a:srgbClr val="B54708"/>
            </a:solidFill>
            <a:prstDash val="solid"/>
          </a:ln>
        </p:spPr>
      </p:sp>
      <p:sp>
        <p:nvSpPr>
          <p:cNvPr id="21" name="Shape 19"/>
          <p:cNvSpPr/>
          <p:nvPr/>
        </p:nvSpPr>
        <p:spPr>
          <a:xfrm>
            <a:off x="8686800" y="3337560"/>
            <a:ext cx="2971800" cy="411480"/>
          </a:xfrm>
          <a:prstGeom prst="rect">
            <a:avLst/>
          </a:prstGeom>
          <a:solidFill>
            <a:srgbClr val="B54708"/>
          </a:solidFill>
          <a:ln w="12700">
            <a:solidFill>
              <a:srgbClr val="B54708"/>
            </a:solidFill>
            <a:prstDash val="solid"/>
          </a:ln>
        </p:spPr>
      </p:sp>
      <p:sp>
        <p:nvSpPr>
          <p:cNvPr id="22" name="Text 20"/>
          <p:cNvSpPr/>
          <p:nvPr/>
        </p:nvSpPr>
        <p:spPr>
          <a:xfrm>
            <a:off x="8686800" y="3337560"/>
            <a:ext cx="29718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AuditLog</a:t>
            </a:r>
            <a:endParaRPr lang="en-US" sz="1400" dirty="0"/>
          </a:p>
        </p:txBody>
      </p:sp>
      <p:sp>
        <p:nvSpPr>
          <p:cNvPr id="23" name="Text 21"/>
          <p:cNvSpPr/>
          <p:nvPr/>
        </p:nvSpPr>
        <p:spPr>
          <a:xfrm>
            <a:off x="8823960" y="3840480"/>
            <a:ext cx="2697480" cy="914400"/>
          </a:xfrm>
          <a:prstGeom prst="rect">
            <a:avLst/>
          </a:prstGeom>
          <a:noFill/>
          <a:ln/>
        </p:spPr>
        <p:txBody>
          <a:bodyPr wrap="square" lIns="0" tIns="0" rIns="0" bIns="0" rtlCol="0" anchor="t"/>
          <a:lstStyle/>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userId · action · details</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affectedCaseId · before / after</a:t>
            </a:r>
            <a:endParaRPr lang="en-US" sz="1050" dirty="0"/>
          </a:p>
          <a:p>
            <a:pPr indent="0" marL="0">
              <a:spcAft>
                <a:spcPts val="200"/>
              </a:spcAft>
              <a:buNone/>
            </a:pPr>
            <a:r>
              <a:rPr lang="en-US" sz="1050" dirty="0">
                <a:solidFill>
                  <a:srgbClr val="1F2937"/>
                </a:solidFill>
                <a:latin typeface="Courier New" pitchFamily="34" charset="0"/>
                <a:ea typeface="Courier New" pitchFamily="34" charset="-122"/>
                <a:cs typeface="Courier New" pitchFamily="34" charset="-120"/>
              </a:rPr>
              <a:t>timestamp</a:t>
            </a:r>
            <a:endParaRPr lang="en-US" sz="1050" dirty="0"/>
          </a:p>
        </p:txBody>
      </p:sp>
      <p:sp>
        <p:nvSpPr>
          <p:cNvPr id="24" name="Shape 22"/>
          <p:cNvSpPr/>
          <p:nvPr/>
        </p:nvSpPr>
        <p:spPr>
          <a:xfrm>
            <a:off x="4206240" y="2286000"/>
            <a:ext cx="228600" cy="914"/>
          </a:xfrm>
          <a:prstGeom prst="line">
            <a:avLst/>
          </a:prstGeom>
          <a:noFill/>
          <a:ln w="19050">
            <a:solidFill>
              <a:srgbClr val="5B6472"/>
            </a:solidFill>
            <a:prstDash val="solid"/>
            <a:tailEnd type="triangle"/>
          </a:ln>
        </p:spPr>
      </p:sp>
      <p:sp>
        <p:nvSpPr>
          <p:cNvPr id="25" name="Text 23"/>
          <p:cNvSpPr/>
          <p:nvPr/>
        </p:nvSpPr>
        <p:spPr>
          <a:xfrm>
            <a:off x="3977640" y="1965960"/>
            <a:ext cx="731520" cy="274320"/>
          </a:xfrm>
          <a:prstGeom prst="rect">
            <a:avLst/>
          </a:prstGeom>
          <a:noFill/>
          <a:ln/>
        </p:spPr>
        <p:txBody>
          <a:bodyPr wrap="square" lIns="0" tIns="0" rIns="0" bIns="0"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1 : N</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4800600"/>
          <a:ext cx="11109960" cy="914400"/>
        </p:xfrm>
        <a:graphic>
          <a:graphicData uri="http://schemas.openxmlformats.org/drawingml/2006/table">
            <a:tbl>
              <a:tblPr/>
              <a:tblGrid>
                <a:gridCol w="1965960"/>
                <a:gridCol w="1828800"/>
                <a:gridCol w="2560320"/>
                <a:gridCol w="2468880"/>
                <a:gridCol w="228600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Case status</a:t>
                      </a:r>
                      <a:endParaRPr lang="en-US" sz="125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requested</a:t>
                      </a:r>
                      <a:endParaRPr lang="en-US" sz="125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pending</a:t>
                      </a:r>
                      <a:endParaRPr lang="en-US" sz="125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pending_approve</a:t>
                      </a:r>
                      <a:endParaRPr lang="en-US" sz="125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finalized</a:t>
                      </a:r>
                      <a:endParaRPr lang="en-US" sz="125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003366"/>
                    </a:solidFill>
                  </a:tcPr>
                </a:tc>
              </a:tr>
              <a:tr h="36576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Shown as</a:t>
                      </a:r>
                      <a:endParaRPr lang="en-US" sz="125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Requested</a:t>
                      </a:r>
                      <a:endParaRPr lang="en-US" sz="125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Outstanding / Generating</a:t>
                      </a:r>
                      <a:endParaRPr lang="en-US" sz="125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Pending approve (draft)</a:t>
                      </a:r>
                      <a:endParaRPr lang="en-US" sz="125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Endorsed (locked)</a:t>
                      </a:r>
                      <a:endParaRPr lang="en-US" sz="1250" dirty="0">
                        <a:latin typeface="Calibri" charset="0"/>
                        <a:ea typeface="Calibri" charset="0"/>
                        <a:cs typeface="Calibri" charset="0"/>
                      </a:endParaRPr>
                    </a:p>
                  </a:txBody>
                  <a:tcPr marL="76200" marR="76200" marT="25400" marB="25400" anchor="ctr">
                    <a:lnL w="9525" cap="flat" cmpd="sng" algn="ctr">
                      <a:solidFill>
                        <a:srgbClr val="D6D3C4"/>
                      </a:solidFill>
                      <a:prstDash val="solid"/>
                      <a:round/>
                      <a:headEnd type="none" w="med" len="med"/>
                      <a:tailEnd type="none" w="med" len="med"/>
                    </a:lnL>
                    <a:lnR w="9525" cap="flat" cmpd="sng" algn="ctr">
                      <a:solidFill>
                        <a:srgbClr val="D6D3C4"/>
                      </a:solidFill>
                      <a:prstDash val="solid"/>
                      <a:round/>
                      <a:headEnd type="none" w="med" len="med"/>
                      <a:tailEnd type="none" w="med" len="med"/>
                    </a:lnR>
                    <a:lnT w="9525" cap="flat" cmpd="sng" algn="ctr">
                      <a:solidFill>
                        <a:srgbClr val="D6D3C4"/>
                      </a:solidFill>
                      <a:prstDash val="solid"/>
                      <a:round/>
                      <a:headEnd type="none" w="med" len="med"/>
                      <a:tailEnd type="none" w="med" len="med"/>
                    </a:lnT>
                    <a:lnB w="9525" cap="flat" cmpd="sng" algn="ctr">
                      <a:solidFill>
                        <a:srgbClr val="D6D3C4"/>
                      </a:solidFill>
                      <a:prstDash val="solid"/>
                      <a:round/>
                      <a:headEnd type="none" w="med" len="med"/>
                      <a:tailEnd type="none" w="med" len="med"/>
                    </a:lnB>
                    <a:solidFill>
                      <a:srgbClr val="FFFFFF"/>
                    </a:solidFill>
                  </a:tcPr>
                </a:tc>
              </a:tr>
            </a:tbl>
          </a:graphicData>
        </a:graphic>
      </p:graphicFrame>
      <p:sp>
        <p:nvSpPr>
          <p:cNvPr id="27" name="Text 24"/>
          <p:cNvSpPr/>
          <p:nvPr/>
        </p:nvSpPr>
        <p:spPr>
          <a:xfrm>
            <a:off x="548640" y="5669280"/>
            <a:ext cx="11064240" cy="45720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Images are streamed from the GridFS bucket “images” and require a valid JWT (except a share link’s single film).</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DATA</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Security and privacy</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22</a:t>
            </a:r>
            <a:endParaRPr lang="en-US" sz="900" dirty="0"/>
          </a:p>
        </p:txBody>
      </p:sp>
      <p:sp>
        <p:nvSpPr>
          <p:cNvPr id="8" name="Shape 6"/>
          <p:cNvSpPr/>
          <p:nvPr/>
        </p:nvSpPr>
        <p:spPr>
          <a:xfrm>
            <a:off x="548640" y="1188720"/>
            <a:ext cx="5486400" cy="4937760"/>
          </a:xfrm>
          <a:prstGeom prst="rect">
            <a:avLst/>
          </a:prstGeom>
          <a:solidFill>
            <a:srgbClr val="E8F5EE"/>
          </a:solidFill>
          <a:ln w="9525">
            <a:solidFill>
              <a:srgbClr val="D6D3C4"/>
            </a:solidFill>
            <a:prstDash val="solid"/>
          </a:ln>
        </p:spPr>
      </p:sp>
      <p:sp>
        <p:nvSpPr>
          <p:cNvPr id="9" name="Shape 7"/>
          <p:cNvSpPr/>
          <p:nvPr/>
        </p:nvSpPr>
        <p:spPr>
          <a:xfrm>
            <a:off x="548640" y="1188720"/>
            <a:ext cx="64008" cy="4937760"/>
          </a:xfrm>
          <a:prstGeom prst="rect">
            <a:avLst/>
          </a:prstGeom>
          <a:solidFill>
            <a:srgbClr val="067647"/>
          </a:solidFill>
          <a:ln w="12700">
            <a:solidFill>
              <a:srgbClr val="067647"/>
            </a:solidFill>
            <a:prstDash val="solid"/>
          </a:ln>
        </p:spPr>
      </p:sp>
      <p:sp>
        <p:nvSpPr>
          <p:cNvPr id="10" name="Text 8"/>
          <p:cNvSpPr/>
          <p:nvPr/>
        </p:nvSpPr>
        <p:spPr>
          <a:xfrm>
            <a:off x="731520" y="1280160"/>
            <a:ext cx="5212080" cy="329184"/>
          </a:xfrm>
          <a:prstGeom prst="rect">
            <a:avLst/>
          </a:prstGeom>
          <a:noFill/>
          <a:ln/>
        </p:spPr>
        <p:txBody>
          <a:bodyPr wrap="square" lIns="0" tIns="0" rIns="0" bIns="0" rtlCol="0" anchor="t"/>
          <a:lstStyle/>
          <a:p>
            <a:pPr indent="0" marL="0">
              <a:buNone/>
            </a:pPr>
            <a:r>
              <a:rPr lang="en-US" sz="1500" b="1" dirty="0">
                <a:solidFill>
                  <a:srgbClr val="067647"/>
                </a:solidFill>
                <a:latin typeface="Calibri" pitchFamily="34" charset="0"/>
                <a:ea typeface="Calibri" pitchFamily="34" charset="-122"/>
                <a:cs typeface="Calibri" pitchFamily="34" charset="-120"/>
              </a:rPr>
              <a:t>In place</a:t>
            </a:r>
            <a:endParaRPr lang="en-US" sz="1500" dirty="0"/>
          </a:p>
        </p:txBody>
      </p:sp>
      <p:sp>
        <p:nvSpPr>
          <p:cNvPr id="11" name="Text 9"/>
          <p:cNvSpPr/>
          <p:nvPr/>
        </p:nvSpPr>
        <p:spPr>
          <a:xfrm>
            <a:off x="777240" y="1691640"/>
            <a:ext cx="5120640" cy="4389120"/>
          </a:xfrm>
          <a:prstGeom prst="rect">
            <a:avLst/>
          </a:prstGeom>
          <a:noFill/>
          <a:ln/>
        </p:spPr>
        <p:txBody>
          <a:bodyPr wrap="square" lIns="25400" tIns="25400" rIns="25400" bIns="25400" rtlCol="0" anchor="t"/>
          <a:lstStyle/>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JWT authentication; every route checks the role on the server.</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Response stripping per role (technicians never receive film, report or findings; doctors never receive draft logs or source tags).</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bcrypt password hashing; temporary passwords shown once.</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Helmet security headers; GridFS images require a JWT.</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Share links are random 24-byte tokens for one endorsed case, revocable.</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Chart windows accept updates only from the same origin.</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Secrets in backend/.env (never committed); no HKID or address collected.</a:t>
            </a:r>
            <a:endParaRPr lang="en-US" sz="1300" dirty="0"/>
          </a:p>
        </p:txBody>
      </p:sp>
      <p:sp>
        <p:nvSpPr>
          <p:cNvPr id="12" name="Shape 10"/>
          <p:cNvSpPr/>
          <p:nvPr/>
        </p:nvSpPr>
        <p:spPr>
          <a:xfrm>
            <a:off x="6263640" y="1188720"/>
            <a:ext cx="5394960" cy="4937760"/>
          </a:xfrm>
          <a:prstGeom prst="rect">
            <a:avLst/>
          </a:prstGeom>
          <a:solidFill>
            <a:srgbClr val="FDECEA"/>
          </a:solidFill>
          <a:ln w="9525">
            <a:solidFill>
              <a:srgbClr val="D6D3C4"/>
            </a:solidFill>
            <a:prstDash val="solid"/>
          </a:ln>
        </p:spPr>
      </p:sp>
      <p:sp>
        <p:nvSpPr>
          <p:cNvPr id="13" name="Shape 11"/>
          <p:cNvSpPr/>
          <p:nvPr/>
        </p:nvSpPr>
        <p:spPr>
          <a:xfrm>
            <a:off x="6263640" y="1188720"/>
            <a:ext cx="64008" cy="4937760"/>
          </a:xfrm>
          <a:prstGeom prst="rect">
            <a:avLst/>
          </a:prstGeom>
          <a:solidFill>
            <a:srgbClr val="B42318"/>
          </a:solidFill>
          <a:ln w="12700">
            <a:solidFill>
              <a:srgbClr val="B42318"/>
            </a:solidFill>
            <a:prstDash val="solid"/>
          </a:ln>
        </p:spPr>
      </p:sp>
      <p:sp>
        <p:nvSpPr>
          <p:cNvPr id="14" name="Text 12"/>
          <p:cNvSpPr/>
          <p:nvPr/>
        </p:nvSpPr>
        <p:spPr>
          <a:xfrm>
            <a:off x="6446520" y="1280160"/>
            <a:ext cx="5120640" cy="329184"/>
          </a:xfrm>
          <a:prstGeom prst="rect">
            <a:avLst/>
          </a:prstGeom>
          <a:noFill/>
          <a:ln/>
        </p:spPr>
        <p:txBody>
          <a:bodyPr wrap="square" lIns="0" tIns="0" rIns="0" bIns="0" rtlCol="0" anchor="t"/>
          <a:lstStyle/>
          <a:p>
            <a:pPr indent="0" marL="0">
              <a:buNone/>
            </a:pPr>
            <a:r>
              <a:rPr lang="en-US" sz="1500" b="1" dirty="0">
                <a:solidFill>
                  <a:srgbClr val="B42318"/>
                </a:solidFill>
                <a:latin typeface="Calibri" pitchFamily="34" charset="0"/>
                <a:ea typeface="Calibri" pitchFamily="34" charset="-122"/>
                <a:cs typeface="Calibri" pitchFamily="34" charset="-120"/>
              </a:rPr>
              <a:t>Known gaps (demo scope)</a:t>
            </a:r>
            <a:endParaRPr lang="en-US" sz="1500" dirty="0"/>
          </a:p>
        </p:txBody>
      </p:sp>
      <p:sp>
        <p:nvSpPr>
          <p:cNvPr id="15" name="Text 13"/>
          <p:cNvSpPr/>
          <p:nvPr/>
        </p:nvSpPr>
        <p:spPr>
          <a:xfrm>
            <a:off x="6492240" y="1691640"/>
            <a:ext cx="5029200" cy="4389120"/>
          </a:xfrm>
          <a:prstGeom prst="rect">
            <a:avLst/>
          </a:prstGeom>
          <a:noFill/>
          <a:ln/>
        </p:spPr>
        <p:txBody>
          <a:bodyPr wrap="square" lIns="25400" tIns="25400" rIns="25400" bIns="25400" rtlCol="0" anchor="t"/>
          <a:lstStyle/>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CORS is intentionally loose for local Vite ports.</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Public demo sign-up (POST /api/auth/register) should be disabled for real use.</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JWT is stored in localStorage; httpOnly cookies would resist XSS better.</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Seed passwords are public in the repository and must be rotated on shared databases.</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Patient ID allocation (max + 1) can collide under concurrent creates.</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Synthetic chart data only — MIMIC-IV vitals and labs are not loaded.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EVALUATION</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Testing and verification</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23</a:t>
            </a:r>
            <a:endParaRPr lang="en-US" sz="900" dirty="0"/>
          </a:p>
        </p:txBody>
      </p:sp>
      <p:sp>
        <p:nvSpPr>
          <p:cNvPr id="8" name="Shape 6"/>
          <p:cNvSpPr/>
          <p:nvPr/>
        </p:nvSpPr>
        <p:spPr>
          <a:xfrm>
            <a:off x="548640" y="1188720"/>
            <a:ext cx="2651760" cy="1325880"/>
          </a:xfrm>
          <a:prstGeom prst="rect">
            <a:avLst/>
          </a:prstGeom>
          <a:solidFill>
            <a:srgbClr val="003366"/>
          </a:solidFill>
          <a:ln w="12700">
            <a:solidFill>
              <a:srgbClr val="003366"/>
            </a:solidFill>
            <a:prstDash val="solid"/>
          </a:ln>
        </p:spPr>
      </p:sp>
      <p:sp>
        <p:nvSpPr>
          <p:cNvPr id="9" name="Text 7"/>
          <p:cNvSpPr/>
          <p:nvPr/>
        </p:nvSpPr>
        <p:spPr>
          <a:xfrm>
            <a:off x="548640" y="1234440"/>
            <a:ext cx="265176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193</a:t>
            </a:r>
            <a:endParaRPr lang="en-US" sz="3600" dirty="0"/>
          </a:p>
        </p:txBody>
      </p:sp>
      <p:sp>
        <p:nvSpPr>
          <p:cNvPr id="10" name="Text 8"/>
          <p:cNvSpPr/>
          <p:nvPr/>
        </p:nvSpPr>
        <p:spPr>
          <a:xfrm>
            <a:off x="548640" y="1965960"/>
            <a:ext cx="2651760" cy="411480"/>
          </a:xfrm>
          <a:prstGeom prst="rect">
            <a:avLst/>
          </a:prstGeom>
          <a:noFill/>
          <a:ln/>
        </p:spPr>
        <p:txBody>
          <a:bodyPr wrap="square" lIns="0" tIns="0" rIns="0" bIns="0" rtlCol="0" anchor="ctr"/>
          <a:lstStyle/>
          <a:p>
            <a:pPr algn="ctr" indent="0" marL="0">
              <a:buNone/>
            </a:pPr>
            <a:r>
              <a:rPr lang="en-US" sz="1300" dirty="0">
                <a:solidFill>
                  <a:srgbClr val="B8C7D9"/>
                </a:solidFill>
                <a:latin typeface="Calibri" pitchFamily="34" charset="0"/>
                <a:ea typeface="Calibri" pitchFamily="34" charset="-122"/>
                <a:cs typeface="Calibri" pitchFamily="34" charset="-120"/>
              </a:rPr>
              <a:t>automated UI tests</a:t>
            </a:r>
            <a:endParaRPr lang="en-US" sz="1300" dirty="0"/>
          </a:p>
        </p:txBody>
      </p:sp>
      <p:sp>
        <p:nvSpPr>
          <p:cNvPr id="11" name="Shape 9"/>
          <p:cNvSpPr/>
          <p:nvPr/>
        </p:nvSpPr>
        <p:spPr>
          <a:xfrm>
            <a:off x="3383280" y="1188720"/>
            <a:ext cx="2651760" cy="1325880"/>
          </a:xfrm>
          <a:prstGeom prst="rect">
            <a:avLst/>
          </a:prstGeom>
          <a:solidFill>
            <a:srgbClr val="003366"/>
          </a:solidFill>
          <a:ln w="12700">
            <a:solidFill>
              <a:srgbClr val="003366"/>
            </a:solidFill>
            <a:prstDash val="solid"/>
          </a:ln>
        </p:spPr>
      </p:sp>
      <p:sp>
        <p:nvSpPr>
          <p:cNvPr id="12" name="Text 10"/>
          <p:cNvSpPr/>
          <p:nvPr/>
        </p:nvSpPr>
        <p:spPr>
          <a:xfrm>
            <a:off x="3383280" y="1234440"/>
            <a:ext cx="265176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19</a:t>
            </a:r>
            <a:endParaRPr lang="en-US" sz="3600" dirty="0"/>
          </a:p>
        </p:txBody>
      </p:sp>
      <p:sp>
        <p:nvSpPr>
          <p:cNvPr id="13" name="Text 11"/>
          <p:cNvSpPr/>
          <p:nvPr/>
        </p:nvSpPr>
        <p:spPr>
          <a:xfrm>
            <a:off x="3383280" y="1965960"/>
            <a:ext cx="2651760" cy="411480"/>
          </a:xfrm>
          <a:prstGeom prst="rect">
            <a:avLst/>
          </a:prstGeom>
          <a:noFill/>
          <a:ln/>
        </p:spPr>
        <p:txBody>
          <a:bodyPr wrap="square" lIns="0" tIns="0" rIns="0" bIns="0" rtlCol="0" anchor="ctr"/>
          <a:lstStyle/>
          <a:p>
            <a:pPr algn="ctr" indent="0" marL="0">
              <a:buNone/>
            </a:pPr>
            <a:r>
              <a:rPr lang="en-US" sz="1300" dirty="0">
                <a:solidFill>
                  <a:srgbClr val="B8C7D9"/>
                </a:solidFill>
                <a:latin typeface="Calibri" pitchFamily="34" charset="0"/>
                <a:ea typeface="Calibri" pitchFamily="34" charset="-122"/>
                <a:cs typeface="Calibri" pitchFamily="34" charset="-120"/>
              </a:rPr>
              <a:t>test suites, all passing</a:t>
            </a:r>
            <a:endParaRPr lang="en-US" sz="1300" dirty="0"/>
          </a:p>
        </p:txBody>
      </p:sp>
      <p:sp>
        <p:nvSpPr>
          <p:cNvPr id="14" name="Shape 12"/>
          <p:cNvSpPr/>
          <p:nvPr/>
        </p:nvSpPr>
        <p:spPr>
          <a:xfrm>
            <a:off x="6217920" y="1188720"/>
            <a:ext cx="2651760" cy="1325880"/>
          </a:xfrm>
          <a:prstGeom prst="rect">
            <a:avLst/>
          </a:prstGeom>
          <a:solidFill>
            <a:srgbClr val="003366"/>
          </a:solidFill>
          <a:ln w="12700">
            <a:solidFill>
              <a:srgbClr val="003366"/>
            </a:solidFill>
            <a:prstDash val="solid"/>
          </a:ln>
        </p:spPr>
      </p:sp>
      <p:sp>
        <p:nvSpPr>
          <p:cNvPr id="15" name="Text 13"/>
          <p:cNvSpPr/>
          <p:nvPr/>
        </p:nvSpPr>
        <p:spPr>
          <a:xfrm>
            <a:off x="6217920" y="1234440"/>
            <a:ext cx="265176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35</a:t>
            </a:r>
            <a:endParaRPr lang="en-US" sz="3600" dirty="0"/>
          </a:p>
        </p:txBody>
      </p:sp>
      <p:sp>
        <p:nvSpPr>
          <p:cNvPr id="16" name="Text 14"/>
          <p:cNvSpPr/>
          <p:nvPr/>
        </p:nvSpPr>
        <p:spPr>
          <a:xfrm>
            <a:off x="6217920" y="1965960"/>
            <a:ext cx="2651760" cy="411480"/>
          </a:xfrm>
          <a:prstGeom prst="rect">
            <a:avLst/>
          </a:prstGeom>
          <a:noFill/>
          <a:ln/>
        </p:spPr>
        <p:txBody>
          <a:bodyPr wrap="square" lIns="0" tIns="0" rIns="0" bIns="0" rtlCol="0" anchor="ctr"/>
          <a:lstStyle/>
          <a:p>
            <a:pPr algn="ctr" indent="0" marL="0">
              <a:buNone/>
            </a:pPr>
            <a:r>
              <a:rPr lang="en-US" sz="1300" dirty="0">
                <a:solidFill>
                  <a:srgbClr val="B8C7D9"/>
                </a:solidFill>
                <a:latin typeface="Calibri" pitchFamily="34" charset="0"/>
                <a:ea typeface="Calibri" pitchFamily="34" charset="-122"/>
                <a:cs typeface="Calibri" pitchFamily="34" charset="-120"/>
              </a:rPr>
              <a:t>REST route handlers</a:t>
            </a:r>
            <a:endParaRPr lang="en-US" sz="1300" dirty="0"/>
          </a:p>
        </p:txBody>
      </p:sp>
      <p:sp>
        <p:nvSpPr>
          <p:cNvPr id="17" name="Shape 15"/>
          <p:cNvSpPr/>
          <p:nvPr/>
        </p:nvSpPr>
        <p:spPr>
          <a:xfrm>
            <a:off x="9052560" y="1188720"/>
            <a:ext cx="2651760" cy="1325880"/>
          </a:xfrm>
          <a:prstGeom prst="rect">
            <a:avLst/>
          </a:prstGeom>
          <a:solidFill>
            <a:srgbClr val="003366"/>
          </a:solidFill>
          <a:ln w="12700">
            <a:solidFill>
              <a:srgbClr val="003366"/>
            </a:solidFill>
            <a:prstDash val="solid"/>
          </a:ln>
        </p:spPr>
      </p:sp>
      <p:sp>
        <p:nvSpPr>
          <p:cNvPr id="18" name="Text 16"/>
          <p:cNvSpPr/>
          <p:nvPr/>
        </p:nvSpPr>
        <p:spPr>
          <a:xfrm>
            <a:off x="9052560" y="1234440"/>
            <a:ext cx="265176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~14.7k</a:t>
            </a:r>
            <a:endParaRPr lang="en-US" sz="3600" dirty="0"/>
          </a:p>
        </p:txBody>
      </p:sp>
      <p:sp>
        <p:nvSpPr>
          <p:cNvPr id="19" name="Text 17"/>
          <p:cNvSpPr/>
          <p:nvPr/>
        </p:nvSpPr>
        <p:spPr>
          <a:xfrm>
            <a:off x="9052560" y="1965960"/>
            <a:ext cx="2651760" cy="411480"/>
          </a:xfrm>
          <a:prstGeom prst="rect">
            <a:avLst/>
          </a:prstGeom>
          <a:noFill/>
          <a:ln/>
        </p:spPr>
        <p:txBody>
          <a:bodyPr wrap="square" lIns="0" tIns="0" rIns="0" bIns="0" rtlCol="0" anchor="ctr"/>
          <a:lstStyle/>
          <a:p>
            <a:pPr algn="ctr" indent="0" marL="0">
              <a:buNone/>
            </a:pPr>
            <a:r>
              <a:rPr lang="en-US" sz="1300" dirty="0">
                <a:solidFill>
                  <a:srgbClr val="B8C7D9"/>
                </a:solidFill>
                <a:latin typeface="Calibri" pitchFamily="34" charset="0"/>
                <a:ea typeface="Calibri" pitchFamily="34" charset="-122"/>
                <a:cs typeface="Calibri" pitchFamily="34" charset="-120"/>
              </a:rPr>
              <a:t>lines of JavaScript</a:t>
            </a:r>
            <a:endParaRPr lang="en-US" sz="1300" dirty="0"/>
          </a:p>
        </p:txBody>
      </p:sp>
      <p:sp>
        <p:nvSpPr>
          <p:cNvPr id="20" name="Text 18"/>
          <p:cNvSpPr/>
          <p:nvPr/>
        </p:nvSpPr>
        <p:spPr>
          <a:xfrm>
            <a:off x="548640" y="2788920"/>
            <a:ext cx="11064240" cy="3566160"/>
          </a:xfrm>
          <a:prstGeom prst="rect">
            <a:avLst/>
          </a:prstGeom>
          <a:noFill/>
          <a:ln/>
        </p:spPr>
        <p:txBody>
          <a:bodyPr wrap="square" lIns="25400" tIns="25400" rIns="25400" bIns="25400" rtlCol="0" anchor="t"/>
          <a:lstStyle/>
          <a:p>
            <a:pPr marL="203200" indent="-203200">
              <a:spcAft>
                <a:spcPts val="700"/>
              </a:spcAft>
              <a:buSzPct val="100000"/>
              <a:buChar char="■"/>
            </a:pPr>
            <a:r>
              <a:rPr lang="en-US" sz="1350" b="1" dirty="0">
                <a:solidFill>
                  <a:srgbClr val="003366"/>
                </a:solidFill>
                <a:latin typeface="Calibri" pitchFamily="34" charset="0"/>
                <a:ea typeface="Calibri" pitchFamily="34" charset="-122"/>
                <a:cs typeface="Calibri" pitchFamily="34" charset="-120"/>
              </a:rPr>
              <a:t>UI behaviour tests</a:t>
            </a:r>
            <a:r>
              <a:rPr lang="en-US" sz="1350" dirty="0">
                <a:solidFill>
                  <a:srgbClr val="1F2937"/>
                </a:solidFill>
                <a:latin typeface="Calibri" pitchFamily="34" charset="0"/>
                <a:ea typeface="Calibri" pitchFamily="34" charset="-122"/>
                <a:cs typeface="Calibri" pitchFamily="34" charset="-120"/>
              </a:rPr>
              <a:t> — linkedom DOM + mocked API: every review-page control (edit, boxes, measurements, endorse, share, Word / PDF), role restrictions, worklist, pagination, DICOM, audit, users, share page.</a:t>
            </a:r>
            <a:endParaRPr lang="en-US" sz="1350" dirty="0"/>
          </a:p>
          <a:p>
            <a:pPr marL="203200" indent="-203200">
              <a:spcAft>
                <a:spcPts val="700"/>
              </a:spcAft>
              <a:buSzPct val="100000"/>
              <a:buChar char="■"/>
            </a:pPr>
            <a:r>
              <a:rPr lang="en-US" sz="1350" b="1" dirty="0">
                <a:solidFill>
                  <a:srgbClr val="003366"/>
                </a:solidFill>
                <a:latin typeface="Calibri" pitchFamily="34" charset="0"/>
                <a:ea typeface="Calibri" pitchFamily="34" charset="-122"/>
                <a:cs typeface="Calibri" pitchFamily="34" charset="-120"/>
              </a:rPr>
              <a:t>Patient chart tests</a:t>
            </a:r>
            <a:r>
              <a:rPr lang="en-US" sz="1350" dirty="0">
                <a:solidFill>
                  <a:srgbClr val="1F2937"/>
                </a:solidFill>
                <a:latin typeface="Calibri" pitchFamily="34" charset="0"/>
                <a:ea typeface="Calibri" pitchFamily="34" charset="-122"/>
                <a:cs typeface="Calibri" pitchFamily="34" charset="-120"/>
              </a:rPr>
              <a:t> — Azure findings only for endorsed reports, running / failed / Retry states, hidden from technicians, Care notes, separate windows, sync back to the chart, blocked pop-up fallback.</a:t>
            </a:r>
            <a:endParaRPr lang="en-US" sz="1350" dirty="0"/>
          </a:p>
          <a:p>
            <a:pPr marL="203200" indent="-203200">
              <a:spcAft>
                <a:spcPts val="700"/>
              </a:spcAft>
              <a:buSzPct val="100000"/>
              <a:buChar char="■"/>
            </a:pPr>
            <a:r>
              <a:rPr lang="en-US" sz="1350" b="1" dirty="0">
                <a:solidFill>
                  <a:srgbClr val="003366"/>
                </a:solidFill>
                <a:latin typeface="Calibri" pitchFamily="34" charset="0"/>
                <a:ea typeface="Calibri" pitchFamily="34" charset="-122"/>
                <a:cs typeface="Calibri" pitchFamily="34" charset="-120"/>
              </a:rPr>
              <a:t>Backend logic checks</a:t>
            </a:r>
            <a:r>
              <a:rPr lang="en-US" sz="1350" dirty="0">
                <a:solidFill>
                  <a:srgbClr val="1F2937"/>
                </a:solidFill>
                <a:latin typeface="Calibri" pitchFamily="34" charset="0"/>
                <a:ea typeface="Calibri" pitchFamily="34" charset="-122"/>
                <a:cs typeface="Calibri" pitchFamily="34" charset="-120"/>
              </a:rPr>
              <a:t> — atomic claim of chart findings against a throw-away MongoDB: two simultaneous loads → one Azure call; lost runs restart; Retry forces a re-run.</a:t>
            </a:r>
            <a:endParaRPr lang="en-US" sz="1350" dirty="0"/>
          </a:p>
          <a:p>
            <a:pPr marL="203200" indent="-203200">
              <a:spcAft>
                <a:spcPts val="700"/>
              </a:spcAft>
              <a:buSzPct val="100000"/>
              <a:buChar char="■"/>
            </a:pPr>
            <a:r>
              <a:rPr lang="en-US" sz="1350" b="1" dirty="0">
                <a:solidFill>
                  <a:srgbClr val="003366"/>
                </a:solidFill>
                <a:latin typeface="Calibri" pitchFamily="34" charset="0"/>
                <a:ea typeface="Calibri" pitchFamily="34" charset="-122"/>
                <a:cs typeface="Calibri" pitchFamily="34" charset="-120"/>
              </a:rPr>
              <a:t>End-to-end</a:t>
            </a:r>
            <a:r>
              <a:rPr lang="en-US" sz="1350" dirty="0">
                <a:solidFill>
                  <a:srgbClr val="1F2937"/>
                </a:solidFill>
                <a:latin typeface="Calibri" pitchFamily="34" charset="0"/>
                <a:ea typeface="Calibri" pitchFamily="34" charset="-122"/>
                <a:cs typeface="Calibri" pitchFamily="34" charset="-120"/>
              </a:rPr>
              <a:t> — test-e2e-case.mjs logs in against the running API and checks every case, its report text, findings and image.</a:t>
            </a:r>
            <a:endParaRPr lang="en-US" sz="1350" dirty="0"/>
          </a:p>
          <a:p>
            <a:pPr marL="203200" indent="-203200">
              <a:spcAft>
                <a:spcPts val="700"/>
              </a:spcAft>
              <a:buSzPct val="100000"/>
              <a:buChar char="■"/>
            </a:pPr>
            <a:r>
              <a:rPr lang="en-US" sz="1350" b="1" dirty="0">
                <a:solidFill>
                  <a:srgbClr val="003366"/>
                </a:solidFill>
                <a:latin typeface="Calibri" pitchFamily="34" charset="0"/>
                <a:ea typeface="Calibri" pitchFamily="34" charset="-122"/>
                <a:cs typeface="Calibri" pitchFamily="34" charset="-120"/>
              </a:rPr>
              <a:t>Live checks</a:t>
            </a:r>
            <a:r>
              <a:rPr lang="en-US" sz="1350" dirty="0">
                <a:solidFill>
                  <a:srgbClr val="1F2937"/>
                </a:solidFill>
                <a:latin typeface="Calibri" pitchFamily="34" charset="0"/>
                <a:ea typeface="Calibri" pitchFamily="34" charset="-122"/>
                <a:cs typeface="Calibri" pitchFamily="34" charset="-120"/>
              </a:rPr>
              <a:t> — Azure prompts verified on sample reports (Thinking removed, grouped findings); screens verified in headless Chrome per role.</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EVALUATION</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Limitations</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24</a:t>
            </a:r>
            <a:endParaRPr lang="en-US" sz="900" dirty="0"/>
          </a:p>
        </p:txBody>
      </p:sp>
      <p:sp>
        <p:nvSpPr>
          <p:cNvPr id="8" name="Shape 6"/>
          <p:cNvSpPr/>
          <p:nvPr/>
        </p:nvSpPr>
        <p:spPr>
          <a:xfrm>
            <a:off x="548640" y="1234440"/>
            <a:ext cx="5440680" cy="1463040"/>
          </a:xfrm>
          <a:prstGeom prst="rect">
            <a:avLst/>
          </a:prstGeom>
          <a:solidFill>
            <a:srgbClr val="F6F5EF"/>
          </a:solidFill>
          <a:ln w="9525">
            <a:solidFill>
              <a:srgbClr val="D6D3C4"/>
            </a:solidFill>
            <a:prstDash val="solid"/>
          </a:ln>
        </p:spPr>
      </p:sp>
      <p:sp>
        <p:nvSpPr>
          <p:cNvPr id="9" name="Shape 7"/>
          <p:cNvSpPr/>
          <p:nvPr/>
        </p:nvSpPr>
        <p:spPr>
          <a:xfrm>
            <a:off x="548640" y="1234440"/>
            <a:ext cx="64008" cy="1463040"/>
          </a:xfrm>
          <a:prstGeom prst="rect">
            <a:avLst/>
          </a:prstGeom>
          <a:solidFill>
            <a:srgbClr val="B42318"/>
          </a:solidFill>
          <a:ln w="12700">
            <a:solidFill>
              <a:srgbClr val="B42318"/>
            </a:solidFill>
            <a:prstDash val="solid"/>
          </a:ln>
        </p:spPr>
      </p:sp>
      <p:sp>
        <p:nvSpPr>
          <p:cNvPr id="10" name="Text 8"/>
          <p:cNvSpPr/>
          <p:nvPr/>
        </p:nvSpPr>
        <p:spPr>
          <a:xfrm>
            <a:off x="731520" y="1325880"/>
            <a:ext cx="5166360" cy="329184"/>
          </a:xfrm>
          <a:prstGeom prst="rect">
            <a:avLst/>
          </a:prstGeom>
          <a:noFill/>
          <a:ln/>
        </p:spPr>
        <p:txBody>
          <a:bodyPr wrap="square" lIns="0" tIns="0" rIns="0" bIns="0" rtlCol="0" anchor="t"/>
          <a:lstStyle/>
          <a:p>
            <a:pPr indent="0" marL="0">
              <a:buNone/>
            </a:pPr>
            <a:r>
              <a:rPr lang="en-US" sz="1600" b="1" dirty="0">
                <a:solidFill>
                  <a:srgbClr val="B42318"/>
                </a:solidFill>
                <a:latin typeface="Calibri" pitchFamily="34" charset="0"/>
                <a:ea typeface="Calibri" pitchFamily="34" charset="-122"/>
                <a:cs typeface="Calibri" pitchFamily="34" charset="-120"/>
              </a:rPr>
              <a:t>Not a clinical device</a:t>
            </a:r>
            <a:endParaRPr lang="en-US" sz="1600" dirty="0"/>
          </a:p>
        </p:txBody>
      </p:sp>
      <p:sp>
        <p:nvSpPr>
          <p:cNvPr id="11" name="Text 9"/>
          <p:cNvSpPr/>
          <p:nvPr/>
        </p:nvSpPr>
        <p:spPr>
          <a:xfrm>
            <a:off x="731520" y="1691640"/>
            <a:ext cx="5166360" cy="932688"/>
          </a:xfrm>
          <a:prstGeom prst="rect">
            <a:avLst/>
          </a:prstGeom>
          <a:noFill/>
          <a:ln/>
        </p:spPr>
        <p:txBody>
          <a:bodyPr wrap="square" lIns="0" tIns="0" rIns="0" bIns="0" rtlCol="0" anchor="t"/>
          <a:lstStyle/>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Decision support only — not a PACS, not CE / FDA cleared, not a substitute for a radiologist.</a:t>
            </a:r>
            <a:endParaRPr lang="en-US" sz="1400" dirty="0"/>
          </a:p>
        </p:txBody>
      </p:sp>
      <p:sp>
        <p:nvSpPr>
          <p:cNvPr id="12" name="Shape 10"/>
          <p:cNvSpPr/>
          <p:nvPr/>
        </p:nvSpPr>
        <p:spPr>
          <a:xfrm>
            <a:off x="6172200" y="1234440"/>
            <a:ext cx="5440680" cy="1463040"/>
          </a:xfrm>
          <a:prstGeom prst="rect">
            <a:avLst/>
          </a:prstGeom>
          <a:solidFill>
            <a:srgbClr val="F6F5EF"/>
          </a:solidFill>
          <a:ln w="9525">
            <a:solidFill>
              <a:srgbClr val="D6D3C4"/>
            </a:solidFill>
            <a:prstDash val="solid"/>
          </a:ln>
        </p:spPr>
      </p:sp>
      <p:sp>
        <p:nvSpPr>
          <p:cNvPr id="13" name="Shape 11"/>
          <p:cNvSpPr/>
          <p:nvPr/>
        </p:nvSpPr>
        <p:spPr>
          <a:xfrm>
            <a:off x="6172200" y="1234440"/>
            <a:ext cx="64008" cy="1463040"/>
          </a:xfrm>
          <a:prstGeom prst="rect">
            <a:avLst/>
          </a:prstGeom>
          <a:solidFill>
            <a:srgbClr val="B42318"/>
          </a:solidFill>
          <a:ln w="12700">
            <a:solidFill>
              <a:srgbClr val="B42318"/>
            </a:solidFill>
            <a:prstDash val="solid"/>
          </a:ln>
        </p:spPr>
      </p:sp>
      <p:sp>
        <p:nvSpPr>
          <p:cNvPr id="14" name="Text 12"/>
          <p:cNvSpPr/>
          <p:nvPr/>
        </p:nvSpPr>
        <p:spPr>
          <a:xfrm>
            <a:off x="6355080" y="1325880"/>
            <a:ext cx="5166360" cy="329184"/>
          </a:xfrm>
          <a:prstGeom prst="rect">
            <a:avLst/>
          </a:prstGeom>
          <a:noFill/>
          <a:ln/>
        </p:spPr>
        <p:txBody>
          <a:bodyPr wrap="square" lIns="0" tIns="0" rIns="0" bIns="0" rtlCol="0" anchor="t"/>
          <a:lstStyle/>
          <a:p>
            <a:pPr indent="0" marL="0">
              <a:buNone/>
            </a:pPr>
            <a:r>
              <a:rPr lang="en-US" sz="1600" b="1" dirty="0">
                <a:solidFill>
                  <a:srgbClr val="B42318"/>
                </a:solidFill>
                <a:latin typeface="Calibri" pitchFamily="34" charset="0"/>
                <a:ea typeface="Calibri" pitchFamily="34" charset="-122"/>
                <a:cs typeface="Calibri" pitchFamily="34" charset="-120"/>
              </a:rPr>
              <a:t>Model input resolution</a:t>
            </a:r>
            <a:endParaRPr lang="en-US" sz="1600" dirty="0"/>
          </a:p>
        </p:txBody>
      </p:sp>
      <p:sp>
        <p:nvSpPr>
          <p:cNvPr id="15" name="Text 13"/>
          <p:cNvSpPr/>
          <p:nvPr/>
        </p:nvSpPr>
        <p:spPr>
          <a:xfrm>
            <a:off x="6355080" y="1691640"/>
            <a:ext cx="5166360" cy="932688"/>
          </a:xfrm>
          <a:prstGeom prst="rect">
            <a:avLst/>
          </a:prstGeom>
          <a:noFill/>
          <a:ln/>
        </p:spPr>
        <p:txBody>
          <a:bodyPr wrap="square" lIns="0" tIns="0" rIns="0" bIns="0" rtlCol="0" anchor="t"/>
          <a:lstStyle/>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CURV sees a ~224 px film; fine detail is lost. The original is kept for human review.</a:t>
            </a:r>
            <a:endParaRPr lang="en-US" sz="1400" dirty="0"/>
          </a:p>
        </p:txBody>
      </p:sp>
      <p:sp>
        <p:nvSpPr>
          <p:cNvPr id="16" name="Shape 14"/>
          <p:cNvSpPr/>
          <p:nvPr/>
        </p:nvSpPr>
        <p:spPr>
          <a:xfrm>
            <a:off x="548640" y="2880360"/>
            <a:ext cx="5440680" cy="1463040"/>
          </a:xfrm>
          <a:prstGeom prst="rect">
            <a:avLst/>
          </a:prstGeom>
          <a:solidFill>
            <a:srgbClr val="F6F5EF"/>
          </a:solidFill>
          <a:ln w="9525">
            <a:solidFill>
              <a:srgbClr val="D6D3C4"/>
            </a:solidFill>
            <a:prstDash val="solid"/>
          </a:ln>
        </p:spPr>
      </p:sp>
      <p:sp>
        <p:nvSpPr>
          <p:cNvPr id="17" name="Shape 15"/>
          <p:cNvSpPr/>
          <p:nvPr/>
        </p:nvSpPr>
        <p:spPr>
          <a:xfrm>
            <a:off x="548640" y="2880360"/>
            <a:ext cx="64008" cy="1463040"/>
          </a:xfrm>
          <a:prstGeom prst="rect">
            <a:avLst/>
          </a:prstGeom>
          <a:solidFill>
            <a:srgbClr val="B42318"/>
          </a:solidFill>
          <a:ln w="12700">
            <a:solidFill>
              <a:srgbClr val="B42318"/>
            </a:solidFill>
            <a:prstDash val="solid"/>
          </a:ln>
        </p:spPr>
      </p:sp>
      <p:sp>
        <p:nvSpPr>
          <p:cNvPr id="18" name="Text 16"/>
          <p:cNvSpPr/>
          <p:nvPr/>
        </p:nvSpPr>
        <p:spPr>
          <a:xfrm>
            <a:off x="731520" y="2971800"/>
            <a:ext cx="5166360" cy="329184"/>
          </a:xfrm>
          <a:prstGeom prst="rect">
            <a:avLst/>
          </a:prstGeom>
          <a:noFill/>
          <a:ln/>
        </p:spPr>
        <p:txBody>
          <a:bodyPr wrap="square" lIns="0" tIns="0" rIns="0" bIns="0" rtlCol="0" anchor="t"/>
          <a:lstStyle/>
          <a:p>
            <a:pPr indent="0" marL="0">
              <a:buNone/>
            </a:pPr>
            <a:r>
              <a:rPr lang="en-US" sz="1600" b="1" dirty="0">
                <a:solidFill>
                  <a:srgbClr val="B42318"/>
                </a:solidFill>
                <a:latin typeface="Calibri" pitchFamily="34" charset="0"/>
                <a:ea typeface="Calibri" pitchFamily="34" charset="-122"/>
                <a:cs typeface="Calibri" pitchFamily="34" charset="-120"/>
              </a:rPr>
              <a:t>Approximate boxes</a:t>
            </a:r>
            <a:endParaRPr lang="en-US" sz="1600" dirty="0"/>
          </a:p>
        </p:txBody>
      </p:sp>
      <p:sp>
        <p:nvSpPr>
          <p:cNvPr id="19" name="Text 17"/>
          <p:cNvSpPr/>
          <p:nvPr/>
        </p:nvSpPr>
        <p:spPr>
          <a:xfrm>
            <a:off x="731520" y="3337560"/>
            <a:ext cx="5166360" cy="932688"/>
          </a:xfrm>
          <a:prstGeom prst="rect">
            <a:avLst/>
          </a:prstGeom>
          <a:noFill/>
          <a:ln/>
        </p:spPr>
        <p:txBody>
          <a:bodyPr wrap="square" lIns="0" tIns="0" rIns="0" bIns="0" rtlCol="0" anchor="t"/>
          <a:lstStyle/>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Azure boxes come from the report wording and the film, not from CURV’s attention; they can be imprecise.</a:t>
            </a:r>
            <a:endParaRPr lang="en-US" sz="1400" dirty="0"/>
          </a:p>
        </p:txBody>
      </p:sp>
      <p:sp>
        <p:nvSpPr>
          <p:cNvPr id="20" name="Shape 18"/>
          <p:cNvSpPr/>
          <p:nvPr/>
        </p:nvSpPr>
        <p:spPr>
          <a:xfrm>
            <a:off x="6172200" y="2880360"/>
            <a:ext cx="5440680" cy="1463040"/>
          </a:xfrm>
          <a:prstGeom prst="rect">
            <a:avLst/>
          </a:prstGeom>
          <a:solidFill>
            <a:srgbClr val="F6F5EF"/>
          </a:solidFill>
          <a:ln w="9525">
            <a:solidFill>
              <a:srgbClr val="D6D3C4"/>
            </a:solidFill>
            <a:prstDash val="solid"/>
          </a:ln>
        </p:spPr>
      </p:sp>
      <p:sp>
        <p:nvSpPr>
          <p:cNvPr id="21" name="Shape 19"/>
          <p:cNvSpPr/>
          <p:nvPr/>
        </p:nvSpPr>
        <p:spPr>
          <a:xfrm>
            <a:off x="6172200" y="2880360"/>
            <a:ext cx="64008" cy="1463040"/>
          </a:xfrm>
          <a:prstGeom prst="rect">
            <a:avLst/>
          </a:prstGeom>
          <a:solidFill>
            <a:srgbClr val="B42318"/>
          </a:solidFill>
          <a:ln w="12700">
            <a:solidFill>
              <a:srgbClr val="B42318"/>
            </a:solidFill>
            <a:prstDash val="solid"/>
          </a:ln>
        </p:spPr>
      </p:sp>
      <p:sp>
        <p:nvSpPr>
          <p:cNvPr id="22" name="Text 20"/>
          <p:cNvSpPr/>
          <p:nvPr/>
        </p:nvSpPr>
        <p:spPr>
          <a:xfrm>
            <a:off x="6355080" y="2971800"/>
            <a:ext cx="5166360" cy="329184"/>
          </a:xfrm>
          <a:prstGeom prst="rect">
            <a:avLst/>
          </a:prstGeom>
          <a:noFill/>
          <a:ln/>
        </p:spPr>
        <p:txBody>
          <a:bodyPr wrap="square" lIns="0" tIns="0" rIns="0" bIns="0" rtlCol="0" anchor="t"/>
          <a:lstStyle/>
          <a:p>
            <a:pPr indent="0" marL="0">
              <a:buNone/>
            </a:pPr>
            <a:r>
              <a:rPr lang="en-US" sz="1600" b="1" dirty="0">
                <a:solidFill>
                  <a:srgbClr val="B42318"/>
                </a:solidFill>
                <a:latin typeface="Calibri" pitchFamily="34" charset="0"/>
                <a:ea typeface="Calibri" pitchFamily="34" charset="-122"/>
                <a:cs typeface="Calibri" pitchFamily="34" charset="-120"/>
              </a:rPr>
              <a:t>Measurement accuracy</a:t>
            </a:r>
            <a:endParaRPr lang="en-US" sz="1600" dirty="0"/>
          </a:p>
        </p:txBody>
      </p:sp>
      <p:sp>
        <p:nvSpPr>
          <p:cNvPr id="23" name="Text 21"/>
          <p:cNvSpPr/>
          <p:nvPr/>
        </p:nvSpPr>
        <p:spPr>
          <a:xfrm>
            <a:off x="6355080" y="3337560"/>
            <a:ext cx="5166360" cy="932688"/>
          </a:xfrm>
          <a:prstGeom prst="rect">
            <a:avLst/>
          </a:prstGeom>
          <a:noFill/>
          <a:ln/>
        </p:spPr>
        <p:txBody>
          <a:bodyPr wrap="square" lIns="0" tIns="0" rIns="0" bIns="0" rtlCol="0" anchor="t"/>
          <a:lstStyle/>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Centimetres depend on DICOM pixel spacing; other films measure in pixels.</a:t>
            </a:r>
            <a:endParaRPr lang="en-US" sz="1400" dirty="0"/>
          </a:p>
        </p:txBody>
      </p:sp>
      <p:sp>
        <p:nvSpPr>
          <p:cNvPr id="24" name="Shape 22"/>
          <p:cNvSpPr/>
          <p:nvPr/>
        </p:nvSpPr>
        <p:spPr>
          <a:xfrm>
            <a:off x="548640" y="4526280"/>
            <a:ext cx="5440680" cy="1463040"/>
          </a:xfrm>
          <a:prstGeom prst="rect">
            <a:avLst/>
          </a:prstGeom>
          <a:solidFill>
            <a:srgbClr val="F6F5EF"/>
          </a:solidFill>
          <a:ln w="9525">
            <a:solidFill>
              <a:srgbClr val="D6D3C4"/>
            </a:solidFill>
            <a:prstDash val="solid"/>
          </a:ln>
        </p:spPr>
      </p:sp>
      <p:sp>
        <p:nvSpPr>
          <p:cNvPr id="25" name="Shape 23"/>
          <p:cNvSpPr/>
          <p:nvPr/>
        </p:nvSpPr>
        <p:spPr>
          <a:xfrm>
            <a:off x="548640" y="4526280"/>
            <a:ext cx="64008" cy="1463040"/>
          </a:xfrm>
          <a:prstGeom prst="rect">
            <a:avLst/>
          </a:prstGeom>
          <a:solidFill>
            <a:srgbClr val="B42318"/>
          </a:solidFill>
          <a:ln w="12700">
            <a:solidFill>
              <a:srgbClr val="B42318"/>
            </a:solidFill>
            <a:prstDash val="solid"/>
          </a:ln>
        </p:spPr>
      </p:sp>
      <p:sp>
        <p:nvSpPr>
          <p:cNvPr id="26" name="Text 24"/>
          <p:cNvSpPr/>
          <p:nvPr/>
        </p:nvSpPr>
        <p:spPr>
          <a:xfrm>
            <a:off x="731520" y="4617720"/>
            <a:ext cx="5166360" cy="329184"/>
          </a:xfrm>
          <a:prstGeom prst="rect">
            <a:avLst/>
          </a:prstGeom>
          <a:noFill/>
          <a:ln/>
        </p:spPr>
        <p:txBody>
          <a:bodyPr wrap="square" lIns="0" tIns="0" rIns="0" bIns="0" rtlCol="0" anchor="t"/>
          <a:lstStyle/>
          <a:p>
            <a:pPr indent="0" marL="0">
              <a:buNone/>
            </a:pPr>
            <a:r>
              <a:rPr lang="en-US" sz="1600" b="1" dirty="0">
                <a:solidFill>
                  <a:srgbClr val="B42318"/>
                </a:solidFill>
                <a:latin typeface="Calibri" pitchFamily="34" charset="0"/>
                <a:ea typeface="Calibri" pitchFamily="34" charset="-122"/>
                <a:cs typeface="Calibri" pitchFamily="34" charset="-120"/>
              </a:rPr>
              <a:t>Synthetic chart data</a:t>
            </a:r>
            <a:endParaRPr lang="en-US" sz="1600" dirty="0"/>
          </a:p>
        </p:txBody>
      </p:sp>
      <p:sp>
        <p:nvSpPr>
          <p:cNvPr id="27" name="Text 25"/>
          <p:cNvSpPr/>
          <p:nvPr/>
        </p:nvSpPr>
        <p:spPr>
          <a:xfrm>
            <a:off x="731520" y="4983480"/>
            <a:ext cx="5166360" cy="932688"/>
          </a:xfrm>
          <a:prstGeom prst="rect">
            <a:avLst/>
          </a:prstGeom>
          <a:noFill/>
          <a:ln/>
        </p:spPr>
        <p:txBody>
          <a:bodyPr wrap="square" lIns="0" tIns="0" rIns="0" bIns="0" rtlCol="0" anchor="t"/>
          <a:lstStyle/>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Vitals, labs, medicines and the sepsis score are teaching data, not MIMIC-IV.</a:t>
            </a:r>
            <a:endParaRPr lang="en-US" sz="1400" dirty="0"/>
          </a:p>
        </p:txBody>
      </p:sp>
      <p:sp>
        <p:nvSpPr>
          <p:cNvPr id="28" name="Shape 26"/>
          <p:cNvSpPr/>
          <p:nvPr/>
        </p:nvSpPr>
        <p:spPr>
          <a:xfrm>
            <a:off x="6172200" y="4526280"/>
            <a:ext cx="5440680" cy="1463040"/>
          </a:xfrm>
          <a:prstGeom prst="rect">
            <a:avLst/>
          </a:prstGeom>
          <a:solidFill>
            <a:srgbClr val="F6F5EF"/>
          </a:solidFill>
          <a:ln w="9525">
            <a:solidFill>
              <a:srgbClr val="D6D3C4"/>
            </a:solidFill>
            <a:prstDash val="solid"/>
          </a:ln>
        </p:spPr>
      </p:sp>
      <p:sp>
        <p:nvSpPr>
          <p:cNvPr id="29" name="Shape 27"/>
          <p:cNvSpPr/>
          <p:nvPr/>
        </p:nvSpPr>
        <p:spPr>
          <a:xfrm>
            <a:off x="6172200" y="4526280"/>
            <a:ext cx="64008" cy="1463040"/>
          </a:xfrm>
          <a:prstGeom prst="rect">
            <a:avLst/>
          </a:prstGeom>
          <a:solidFill>
            <a:srgbClr val="B42318"/>
          </a:solidFill>
          <a:ln w="12700">
            <a:solidFill>
              <a:srgbClr val="B42318"/>
            </a:solidFill>
            <a:prstDash val="solid"/>
          </a:ln>
        </p:spPr>
      </p:sp>
      <p:sp>
        <p:nvSpPr>
          <p:cNvPr id="30" name="Text 28"/>
          <p:cNvSpPr/>
          <p:nvPr/>
        </p:nvSpPr>
        <p:spPr>
          <a:xfrm>
            <a:off x="6355080" y="4617720"/>
            <a:ext cx="5166360" cy="329184"/>
          </a:xfrm>
          <a:prstGeom prst="rect">
            <a:avLst/>
          </a:prstGeom>
          <a:noFill/>
          <a:ln/>
        </p:spPr>
        <p:txBody>
          <a:bodyPr wrap="square" lIns="0" tIns="0" rIns="0" bIns="0" rtlCol="0" anchor="t"/>
          <a:lstStyle/>
          <a:p>
            <a:pPr indent="0" marL="0">
              <a:buNone/>
            </a:pPr>
            <a:r>
              <a:rPr lang="en-US" sz="1600" b="1" dirty="0">
                <a:solidFill>
                  <a:srgbClr val="B42318"/>
                </a:solidFill>
                <a:latin typeface="Calibri" pitchFamily="34" charset="0"/>
                <a:ea typeface="Calibri" pitchFamily="34" charset="-122"/>
                <a:cs typeface="Calibri" pitchFamily="34" charset="-120"/>
              </a:rPr>
              <a:t>Single-machine AI</a:t>
            </a:r>
            <a:endParaRPr lang="en-US" sz="1600" dirty="0"/>
          </a:p>
        </p:txBody>
      </p:sp>
      <p:sp>
        <p:nvSpPr>
          <p:cNvPr id="31" name="Text 29"/>
          <p:cNvSpPr/>
          <p:nvPr/>
        </p:nvSpPr>
        <p:spPr>
          <a:xfrm>
            <a:off x="6355080" y="4983480"/>
            <a:ext cx="5166360" cy="932688"/>
          </a:xfrm>
          <a:prstGeom prst="rect">
            <a:avLst/>
          </a:prstGeom>
          <a:noFill/>
          <a:ln/>
        </p:spPr>
        <p:txBody>
          <a:bodyPr wrap="square" lIns="0" tIns="0" rIns="0" bIns="0" rtlCol="0" anchor="t"/>
          <a:lstStyle/>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CURV runs on one Apple Silicon Mac — the critical dependency for any live demo.</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EVALUATION</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Future work (Semester 2 and beyond)</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25</a:t>
            </a:r>
            <a:endParaRPr lang="en-US" sz="900" dirty="0"/>
          </a:p>
        </p:txBody>
      </p:sp>
      <p:sp>
        <p:nvSpPr>
          <p:cNvPr id="8" name="Text 6"/>
          <p:cNvSpPr/>
          <p:nvPr/>
        </p:nvSpPr>
        <p:spPr>
          <a:xfrm>
            <a:off x="548640" y="1280160"/>
            <a:ext cx="11064240" cy="5120640"/>
          </a:xfrm>
          <a:prstGeom prst="rect">
            <a:avLst/>
          </a:prstGeom>
          <a:noFill/>
          <a:ln/>
        </p:spPr>
        <p:txBody>
          <a:bodyPr wrap="square" lIns="25400" tIns="25400" rIns="25400" bIns="25400" rtlCol="0" anchor="t"/>
          <a:lstStyle/>
          <a:p>
            <a:pPr marL="203200" indent="-203200">
              <a:spcAft>
                <a:spcPts val="1400"/>
              </a:spcAft>
              <a:buSzPct val="100000"/>
              <a:buChar char="■"/>
            </a:pPr>
            <a:r>
              <a:rPr lang="en-US" sz="1900" b="1" dirty="0">
                <a:solidFill>
                  <a:srgbClr val="003366"/>
                </a:solidFill>
                <a:latin typeface="Calibri" pitchFamily="34" charset="0"/>
                <a:ea typeface="Calibri" pitchFamily="34" charset="-122"/>
                <a:cs typeface="Calibri" pitchFamily="34" charset="-120"/>
              </a:rPr>
              <a:t>Hardening</a:t>
            </a:r>
            <a:r>
              <a:rPr lang="en-US" sz="1900" dirty="0">
                <a:solidFill>
                  <a:srgbClr val="1F2937"/>
                </a:solidFill>
                <a:latin typeface="Calibri" pitchFamily="34" charset="0"/>
                <a:ea typeface="Calibri" pitchFamily="34" charset="-122"/>
                <a:cs typeface="Calibri" pitchFamily="34" charset="-120"/>
              </a:rPr>
              <a:t> — tighten CORS, remove public sign-up, httpOnly cookie sessions, rotate secrets, structured logs with request IDs.</a:t>
            </a:r>
            <a:endParaRPr lang="en-US" sz="1900" dirty="0"/>
          </a:p>
          <a:p>
            <a:pPr marL="203200" indent="-203200">
              <a:spcAft>
                <a:spcPts val="1400"/>
              </a:spcAft>
              <a:buSzPct val="100000"/>
              <a:buChar char="■"/>
            </a:pPr>
            <a:r>
              <a:rPr lang="en-US" sz="1900" b="1" dirty="0">
                <a:solidFill>
                  <a:srgbClr val="003366"/>
                </a:solidFill>
                <a:latin typeface="Calibri" pitchFamily="34" charset="0"/>
                <a:ea typeface="Calibri" pitchFamily="34" charset="-122"/>
                <a:cs typeface="Calibri" pitchFamily="34" charset="-120"/>
              </a:rPr>
              <a:t>Backend test suite</a:t>
            </a:r>
            <a:r>
              <a:rPr lang="en-US" sz="1900" dirty="0">
                <a:solidFill>
                  <a:srgbClr val="1F2937"/>
                </a:solidFill>
                <a:latin typeface="Calibri" pitchFamily="34" charset="0"/>
                <a:ea typeface="Calibri" pitchFamily="34" charset="-122"/>
                <a:cs typeface="Calibri" pitchFamily="34" charset="-120"/>
              </a:rPr>
              <a:t> — API black-box tests for Express + MongoDB, plus upload-to-draft latency measurements.</a:t>
            </a:r>
            <a:endParaRPr lang="en-US" sz="1900" dirty="0"/>
          </a:p>
          <a:p>
            <a:pPr marL="203200" indent="-203200">
              <a:spcAft>
                <a:spcPts val="1400"/>
              </a:spcAft>
              <a:buSzPct val="100000"/>
              <a:buChar char="■"/>
            </a:pPr>
            <a:r>
              <a:rPr lang="en-US" sz="1900" b="1" dirty="0">
                <a:solidFill>
                  <a:srgbClr val="003366"/>
                </a:solidFill>
                <a:latin typeface="Calibri" pitchFamily="34" charset="0"/>
                <a:ea typeface="Calibri" pitchFamily="34" charset="-122"/>
                <a:cs typeface="Calibri" pitchFamily="34" charset="-120"/>
              </a:rPr>
              <a:t>Deployment</a:t>
            </a:r>
            <a:r>
              <a:rPr lang="en-US" sz="1900" dirty="0">
                <a:solidFill>
                  <a:srgbClr val="1F2937"/>
                </a:solidFill>
                <a:latin typeface="Calibri" pitchFamily="34" charset="0"/>
                <a:ea typeface="Calibri" pitchFamily="34" charset="-122"/>
                <a:cs typeface="Calibri" pitchFamily="34" charset="-120"/>
              </a:rPr>
              <a:t> — static frontend + Node API in a container, Cosmos secrets in a key vault, CURV on a dedicated Apple Silicon / GPU host, Azure via private endpoint.</a:t>
            </a:r>
            <a:endParaRPr lang="en-US" sz="1900" dirty="0"/>
          </a:p>
          <a:p>
            <a:pPr marL="203200" indent="-203200">
              <a:spcAft>
                <a:spcPts val="1400"/>
              </a:spcAft>
              <a:buSzPct val="100000"/>
              <a:buChar char="■"/>
            </a:pPr>
            <a:r>
              <a:rPr lang="en-US" sz="1900" b="1" dirty="0">
                <a:solidFill>
                  <a:srgbClr val="003366"/>
                </a:solidFill>
                <a:latin typeface="Calibri" pitchFamily="34" charset="0"/>
                <a:ea typeface="Calibri" pitchFamily="34" charset="-122"/>
                <a:cs typeface="Calibri" pitchFamily="34" charset="-120"/>
              </a:rPr>
              <a:t>Richer imaging</a:t>
            </a:r>
            <a:r>
              <a:rPr lang="en-US" sz="1900" dirty="0">
                <a:solidFill>
                  <a:srgbClr val="1F2937"/>
                </a:solidFill>
                <a:latin typeface="Calibri" pitchFamily="34" charset="0"/>
                <a:ea typeface="Calibri" pitchFamily="34" charset="-122"/>
                <a:cs typeface="Calibri" pitchFamily="34" charset="-120"/>
              </a:rPr>
              <a:t> — full DICOM / PACS viewer with compressed transfer syntaxes and windowing.</a:t>
            </a:r>
            <a:endParaRPr lang="en-US" sz="1900" dirty="0"/>
          </a:p>
          <a:p>
            <a:pPr marL="203200" indent="-203200">
              <a:spcAft>
                <a:spcPts val="1400"/>
              </a:spcAft>
              <a:buSzPct val="100000"/>
              <a:buChar char="■"/>
            </a:pPr>
            <a:r>
              <a:rPr lang="en-US" sz="1900" b="1" dirty="0">
                <a:solidFill>
                  <a:srgbClr val="003366"/>
                </a:solidFill>
                <a:latin typeface="Calibri" pitchFamily="34" charset="0"/>
                <a:ea typeface="Calibri" pitchFamily="34" charset="-122"/>
                <a:cs typeface="Calibri" pitchFamily="34" charset="-120"/>
              </a:rPr>
              <a:t>Bidirectional binding</a:t>
            </a:r>
            <a:r>
              <a:rPr lang="en-US" sz="1900" dirty="0">
                <a:solidFill>
                  <a:srgbClr val="1F2937"/>
                </a:solidFill>
                <a:latin typeface="Calibri" pitchFamily="34" charset="0"/>
                <a:ea typeface="Calibri" pitchFamily="34" charset="-122"/>
                <a:cs typeface="Calibri" pitchFamily="34" charset="-120"/>
              </a:rPr>
              <a:t> — hover a sentence to highlight its box and vice versa; global confidence threshold slider.</a:t>
            </a:r>
            <a:endParaRPr lang="en-US" sz="1900" dirty="0"/>
          </a:p>
          <a:p>
            <a:pPr marL="203200" indent="-203200">
              <a:spcAft>
                <a:spcPts val="1400"/>
              </a:spcAft>
              <a:buSzPct val="100000"/>
              <a:buChar char="■"/>
            </a:pPr>
            <a:r>
              <a:rPr lang="en-US" sz="1900" b="1" dirty="0">
                <a:solidFill>
                  <a:srgbClr val="003366"/>
                </a:solidFill>
                <a:latin typeface="Calibri" pitchFamily="34" charset="0"/>
                <a:ea typeface="Calibri" pitchFamily="34" charset="-122"/>
                <a:cs typeface="Calibri" pitchFamily="34" charset="-120"/>
              </a:rPr>
              <a:t>Evaluation with clinicians</a:t>
            </a:r>
            <a:r>
              <a:rPr lang="en-US" sz="1900" dirty="0">
                <a:solidFill>
                  <a:srgbClr val="1F2937"/>
                </a:solidFill>
                <a:latin typeface="Calibri" pitchFamily="34" charset="0"/>
                <a:ea typeface="Calibri" pitchFamily="34" charset="-122"/>
                <a:cs typeface="Calibri" pitchFamily="34" charset="-120"/>
              </a:rPr>
              <a:t> — time-to-report and edit-distance study comparing AI-drafted vs blank-page reports; usability feedback from radiologists.</a:t>
            </a:r>
            <a:endParaRPr lang="en-US" sz="1900" dirty="0"/>
          </a:p>
          <a:p>
            <a:pPr marL="203200" indent="-203200">
              <a:spcAft>
                <a:spcPts val="1400"/>
              </a:spcAft>
              <a:buSzPct val="100000"/>
              <a:buChar char="■"/>
            </a:pPr>
            <a:r>
              <a:rPr lang="en-US" sz="1900" b="1" dirty="0">
                <a:solidFill>
                  <a:srgbClr val="003366"/>
                </a:solidFill>
                <a:latin typeface="Calibri" pitchFamily="34" charset="0"/>
                <a:ea typeface="Calibri" pitchFamily="34" charset="-122"/>
                <a:cs typeface="Calibri" pitchFamily="34" charset="-120"/>
              </a:rPr>
              <a:t>Real clinical data</a:t>
            </a:r>
            <a:r>
              <a:rPr lang="en-US" sz="1900" dirty="0">
                <a:solidFill>
                  <a:srgbClr val="1F2937"/>
                </a:solidFill>
                <a:latin typeface="Calibri" pitchFamily="34" charset="0"/>
                <a:ea typeface="Calibri" pitchFamily="34" charset="-122"/>
                <a:cs typeface="Calibri" pitchFamily="34" charset="-120"/>
              </a:rPr>
              <a:t> — link MIMIC-IV vitals and labs under an ethics plan to replace synthetic chart data.</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ECE9DA"/>
          </a:solidFill>
          <a:ln w="12700">
            <a:solidFill>
              <a:srgbClr val="ECE9DA"/>
            </a:solidFill>
            <a:prstDash val="solid"/>
          </a:ln>
        </p:spPr>
      </p:sp>
      <p:sp>
        <p:nvSpPr>
          <p:cNvPr id="3" name="Shape 1"/>
          <p:cNvSpPr/>
          <p:nvPr/>
        </p:nvSpPr>
        <p:spPr>
          <a:xfrm>
            <a:off x="0" y="868680"/>
            <a:ext cx="12191695" cy="36576"/>
          </a:xfrm>
          <a:prstGeom prst="rect">
            <a:avLst/>
          </a:prstGeom>
          <a:solidFill>
            <a:srgbClr val="008080"/>
          </a:solidFill>
          <a:ln w="12700">
            <a:solidFill>
              <a:srgbClr val="008080"/>
            </a:solidFill>
            <a:prstDash val="solid"/>
          </a:ln>
        </p:spPr>
      </p:sp>
      <p:sp>
        <p:nvSpPr>
          <p:cNvPr id="4" name="Text 2"/>
          <p:cNvSpPr/>
          <p:nvPr/>
        </p:nvSpPr>
        <p:spPr>
          <a:xfrm>
            <a:off x="457200" y="109728"/>
            <a:ext cx="8229600" cy="256032"/>
          </a:xfrm>
          <a:prstGeom prst="rect">
            <a:avLst/>
          </a:prstGeom>
          <a:noFill/>
          <a:ln/>
        </p:spPr>
        <p:txBody>
          <a:bodyPr wrap="square" lIns="0" tIns="0" rIns="0" bIns="0" rtlCol="0" anchor="ctr"/>
          <a:lstStyle/>
          <a:p>
            <a:pPr indent="0" marL="0">
              <a:buNone/>
            </a:pPr>
            <a:r>
              <a:rPr lang="en-US" sz="1100" b="1" spc="200" kern="0" dirty="0">
                <a:solidFill>
                  <a:srgbClr val="008080"/>
                </a:solidFill>
                <a:latin typeface="Calibri" pitchFamily="34" charset="0"/>
                <a:ea typeface="Calibri" pitchFamily="34" charset="-122"/>
                <a:cs typeface="Calibri" pitchFamily="34" charset="-120"/>
              </a:rPr>
              <a:t>DEMO</a:t>
            </a:r>
            <a:endParaRPr lang="en-US" sz="1100" dirty="0"/>
          </a:p>
        </p:txBody>
      </p:sp>
      <p:sp>
        <p:nvSpPr>
          <p:cNvPr id="5" name="Text 3"/>
          <p:cNvSpPr/>
          <p:nvPr/>
        </p:nvSpPr>
        <p:spPr>
          <a:xfrm>
            <a:off x="457200" y="347472"/>
            <a:ext cx="11247120" cy="457200"/>
          </a:xfrm>
          <a:prstGeom prst="rect">
            <a:avLst/>
          </a:prstGeom>
          <a:noFill/>
          <a:ln/>
        </p:spPr>
        <p:txBody>
          <a:bodyPr wrap="square" lIns="0" tIns="0" rIns="0" bIns="0" rtlCol="0" anchor="ctr"/>
          <a:lstStyle/>
          <a:p>
            <a:pPr indent="0" marL="0">
              <a:buNone/>
            </a:pPr>
            <a:r>
              <a:rPr lang="en-US" sz="2600" b="1" dirty="0">
                <a:solidFill>
                  <a:srgbClr val="003366"/>
                </a:solidFill>
                <a:latin typeface="Calibri" pitchFamily="34" charset="0"/>
                <a:ea typeface="Calibri" pitchFamily="34" charset="-122"/>
                <a:cs typeface="Calibri" pitchFamily="34" charset="-120"/>
              </a:rPr>
              <a:t>Live demo plan (≈ 10 minutes)</a:t>
            </a:r>
            <a:endParaRPr lang="en-US" sz="2600" dirty="0"/>
          </a:p>
        </p:txBody>
      </p:sp>
      <p:sp>
        <p:nvSpPr>
          <p:cNvPr id="6" name="Text 4"/>
          <p:cNvSpPr/>
          <p:nvPr/>
        </p:nvSpPr>
        <p:spPr>
          <a:xfrm>
            <a:off x="457200" y="6510528"/>
            <a:ext cx="8229600" cy="22860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RadAssist AI · An AI-assisted Online System for X-Ray Report Generation</a:t>
            </a:r>
            <a:endParaRPr lang="en-US" sz="900" dirty="0"/>
          </a:p>
        </p:txBody>
      </p:sp>
      <p:sp>
        <p:nvSpPr>
          <p:cNvPr id="7" name="Text 5"/>
          <p:cNvSpPr/>
          <p:nvPr/>
        </p:nvSpPr>
        <p:spPr>
          <a:xfrm>
            <a:off x="11277295" y="6510528"/>
            <a:ext cx="457200" cy="22860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26</a:t>
            </a:r>
            <a:endParaRPr lang="en-US" sz="900" dirty="0"/>
          </a:p>
        </p:txBody>
      </p:sp>
      <p:sp>
        <p:nvSpPr>
          <p:cNvPr id="8" name="Shape 6"/>
          <p:cNvSpPr/>
          <p:nvPr/>
        </p:nvSpPr>
        <p:spPr>
          <a:xfrm>
            <a:off x="548640" y="1234440"/>
            <a:ext cx="502920" cy="502920"/>
          </a:xfrm>
          <a:prstGeom prst="ellipse">
            <a:avLst/>
          </a:prstGeom>
          <a:solidFill>
            <a:srgbClr val="008080"/>
          </a:solidFill>
          <a:ln w="12700">
            <a:solidFill>
              <a:srgbClr val="008080"/>
            </a:solidFill>
            <a:prstDash val="solid"/>
          </a:ln>
        </p:spPr>
      </p:sp>
      <p:sp>
        <p:nvSpPr>
          <p:cNvPr id="9" name="Text 7"/>
          <p:cNvSpPr/>
          <p:nvPr/>
        </p:nvSpPr>
        <p:spPr>
          <a:xfrm>
            <a:off x="548640" y="12344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188720" y="1188720"/>
            <a:ext cx="4846320" cy="594360"/>
          </a:xfrm>
          <a:prstGeom prst="rect">
            <a:avLst/>
          </a:prstGeom>
          <a:noFill/>
          <a:ln/>
        </p:spPr>
        <p:txBody>
          <a:bodyPr wrap="square" lIns="0" tIns="0" rIns="0" bIns="0" rtlCol="0" anchor="ctr"/>
          <a:lstStyle/>
          <a:p>
            <a:pPr indent="0" marL="0">
              <a:buNone/>
            </a:pPr>
            <a:r>
              <a:rPr lang="en-US" sz="1500" b="1" dirty="0">
                <a:solidFill>
                  <a:srgbClr val="003366"/>
                </a:solidFill>
                <a:latin typeface="Calibri" pitchFamily="34" charset="0"/>
                <a:ea typeface="Calibri" pitchFamily="34" charset="-122"/>
                <a:cs typeface="Calibri" pitchFamily="34" charset="-120"/>
              </a:rPr>
              <a:t>Doctor  </a:t>
            </a:r>
            <a:r>
              <a:rPr lang="en-US" sz="1500" dirty="0">
                <a:solidFill>
                  <a:srgbClr val="1F2937"/>
                </a:solidFill>
                <a:latin typeface="Calibri" pitchFamily="34" charset="0"/>
                <a:ea typeface="Calibri" pitchFamily="34" charset="-122"/>
                <a:cs typeface="Calibri" pitchFamily="34" charset="-120"/>
              </a:rPr>
              <a:t>Book a chest X-ray on the calendar</a:t>
            </a:r>
            <a:endParaRPr lang="en-US" sz="1500" dirty="0"/>
          </a:p>
        </p:txBody>
      </p:sp>
      <p:sp>
        <p:nvSpPr>
          <p:cNvPr id="11" name="Shape 9"/>
          <p:cNvSpPr/>
          <p:nvPr/>
        </p:nvSpPr>
        <p:spPr>
          <a:xfrm>
            <a:off x="548640" y="2194560"/>
            <a:ext cx="502920" cy="502920"/>
          </a:xfrm>
          <a:prstGeom prst="ellipse">
            <a:avLst/>
          </a:prstGeom>
          <a:solidFill>
            <a:srgbClr val="008080"/>
          </a:solidFill>
          <a:ln w="12700">
            <a:solidFill>
              <a:srgbClr val="008080"/>
            </a:solidFill>
            <a:prstDash val="solid"/>
          </a:ln>
        </p:spPr>
      </p:sp>
      <p:sp>
        <p:nvSpPr>
          <p:cNvPr id="12" name="Text 10"/>
          <p:cNvSpPr/>
          <p:nvPr/>
        </p:nvSpPr>
        <p:spPr>
          <a:xfrm>
            <a:off x="548640" y="21945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188720" y="2148840"/>
            <a:ext cx="4846320" cy="594360"/>
          </a:xfrm>
          <a:prstGeom prst="rect">
            <a:avLst/>
          </a:prstGeom>
          <a:noFill/>
          <a:ln/>
        </p:spPr>
        <p:txBody>
          <a:bodyPr wrap="square" lIns="0" tIns="0" rIns="0" bIns="0" rtlCol="0" anchor="ctr"/>
          <a:lstStyle/>
          <a:p>
            <a:pPr indent="0" marL="0">
              <a:buNone/>
            </a:pPr>
            <a:r>
              <a:rPr lang="en-US" sz="1500" b="1" dirty="0">
                <a:solidFill>
                  <a:srgbClr val="003366"/>
                </a:solidFill>
                <a:latin typeface="Calibri" pitchFamily="34" charset="0"/>
                <a:ea typeface="Calibri" pitchFamily="34" charset="-122"/>
                <a:cs typeface="Calibri" pitchFamily="34" charset="-120"/>
              </a:rPr>
              <a:t>Technician  </a:t>
            </a:r>
            <a:r>
              <a:rPr lang="en-US" sz="1500" dirty="0">
                <a:solidFill>
                  <a:srgbClr val="1F2937"/>
                </a:solidFill>
                <a:latin typeface="Calibri" pitchFamily="34" charset="0"/>
                <a:ea typeface="Calibri" pitchFamily="34" charset="-122"/>
                <a:cs typeface="Calibri" pitchFamily="34" charset="-120"/>
              </a:rPr>
              <a:t>Requested case → register the film</a:t>
            </a:r>
            <a:endParaRPr lang="en-US" sz="1500" dirty="0"/>
          </a:p>
        </p:txBody>
      </p:sp>
      <p:sp>
        <p:nvSpPr>
          <p:cNvPr id="14" name="Shape 12"/>
          <p:cNvSpPr/>
          <p:nvPr/>
        </p:nvSpPr>
        <p:spPr>
          <a:xfrm>
            <a:off x="548640" y="3154680"/>
            <a:ext cx="502920" cy="502920"/>
          </a:xfrm>
          <a:prstGeom prst="ellipse">
            <a:avLst/>
          </a:prstGeom>
          <a:solidFill>
            <a:srgbClr val="008080"/>
          </a:solidFill>
          <a:ln w="12700">
            <a:solidFill>
              <a:srgbClr val="008080"/>
            </a:solidFill>
            <a:prstDash val="solid"/>
          </a:ln>
        </p:spPr>
      </p:sp>
      <p:sp>
        <p:nvSpPr>
          <p:cNvPr id="15" name="Text 13"/>
          <p:cNvSpPr/>
          <p:nvPr/>
        </p:nvSpPr>
        <p:spPr>
          <a:xfrm>
            <a:off x="548640" y="31546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188720" y="3108960"/>
            <a:ext cx="4846320" cy="594360"/>
          </a:xfrm>
          <a:prstGeom prst="rect">
            <a:avLst/>
          </a:prstGeom>
          <a:noFill/>
          <a:ln/>
        </p:spPr>
        <p:txBody>
          <a:bodyPr wrap="square" lIns="0" tIns="0" rIns="0" bIns="0" rtlCol="0" anchor="ctr"/>
          <a:lstStyle/>
          <a:p>
            <a:pPr indent="0" marL="0">
              <a:buNone/>
            </a:pPr>
            <a:r>
              <a:rPr lang="en-US" sz="1500" b="1" dirty="0">
                <a:solidFill>
                  <a:srgbClr val="003366"/>
                </a:solidFill>
                <a:latin typeface="Calibri" pitchFamily="34" charset="0"/>
                <a:ea typeface="Calibri" pitchFamily="34" charset="-122"/>
                <a:cs typeface="Calibri" pitchFamily="34" charset="-120"/>
              </a:rPr>
              <a:t>Radiologist  </a:t>
            </a:r>
            <a:r>
              <a:rPr lang="en-US" sz="1500" dirty="0">
                <a:solidFill>
                  <a:srgbClr val="1F2937"/>
                </a:solidFill>
                <a:latin typeface="Calibri" pitchFamily="34" charset="0"/>
                <a:ea typeface="Calibri" pitchFamily="34" charset="-122"/>
                <a:cs typeface="Calibri" pitchFamily="34" charset="-120"/>
              </a:rPr>
              <a:t>Worklist: Generating → Pending approve</a:t>
            </a:r>
            <a:endParaRPr lang="en-US" sz="1500" dirty="0"/>
          </a:p>
        </p:txBody>
      </p:sp>
      <p:sp>
        <p:nvSpPr>
          <p:cNvPr id="17" name="Shape 15"/>
          <p:cNvSpPr/>
          <p:nvPr/>
        </p:nvSpPr>
        <p:spPr>
          <a:xfrm>
            <a:off x="548640" y="4114800"/>
            <a:ext cx="502920" cy="502920"/>
          </a:xfrm>
          <a:prstGeom prst="ellipse">
            <a:avLst/>
          </a:prstGeom>
          <a:solidFill>
            <a:srgbClr val="008080"/>
          </a:solidFill>
          <a:ln w="12700">
            <a:solidFill>
              <a:srgbClr val="008080"/>
            </a:solidFill>
            <a:prstDash val="solid"/>
          </a:ln>
        </p:spPr>
      </p:sp>
      <p:sp>
        <p:nvSpPr>
          <p:cNvPr id="18" name="Text 16"/>
          <p:cNvSpPr/>
          <p:nvPr/>
        </p:nvSpPr>
        <p:spPr>
          <a:xfrm>
            <a:off x="548640" y="4114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188720" y="4069080"/>
            <a:ext cx="4846320" cy="594360"/>
          </a:xfrm>
          <a:prstGeom prst="rect">
            <a:avLst/>
          </a:prstGeom>
          <a:noFill/>
          <a:ln/>
        </p:spPr>
        <p:txBody>
          <a:bodyPr wrap="square" lIns="0" tIns="0" rIns="0" bIns="0" rtlCol="0" anchor="ctr"/>
          <a:lstStyle/>
          <a:p>
            <a:pPr indent="0" marL="0">
              <a:buNone/>
            </a:pPr>
            <a:r>
              <a:rPr lang="en-US" sz="1500" b="1" dirty="0">
                <a:solidFill>
                  <a:srgbClr val="003366"/>
                </a:solidFill>
                <a:latin typeface="Calibri" pitchFamily="34" charset="0"/>
                <a:ea typeface="Calibri" pitchFamily="34" charset="-122"/>
                <a:cs typeface="Calibri" pitchFamily="34" charset="-120"/>
              </a:rPr>
              <a:t>Radiologist  </a:t>
            </a:r>
            <a:r>
              <a:rPr lang="en-US" sz="1500" dirty="0">
                <a:solidFill>
                  <a:srgbClr val="1F2937"/>
                </a:solidFill>
                <a:latin typeface="Calibri" pitchFamily="34" charset="0"/>
                <a:ea typeface="Calibri" pitchFamily="34" charset="-122"/>
                <a:cs typeface="Calibri" pitchFamily="34" charset="-120"/>
              </a:rPr>
              <a:t>Review: Azure boxes, edit text, resize/draw a box, measure</a:t>
            </a:r>
            <a:endParaRPr lang="en-US" sz="1500" dirty="0"/>
          </a:p>
        </p:txBody>
      </p:sp>
      <p:sp>
        <p:nvSpPr>
          <p:cNvPr id="20" name="Shape 18"/>
          <p:cNvSpPr/>
          <p:nvPr/>
        </p:nvSpPr>
        <p:spPr>
          <a:xfrm>
            <a:off x="548640" y="5074920"/>
            <a:ext cx="502920" cy="502920"/>
          </a:xfrm>
          <a:prstGeom prst="ellipse">
            <a:avLst/>
          </a:prstGeom>
          <a:solidFill>
            <a:srgbClr val="008080"/>
          </a:solidFill>
          <a:ln w="12700">
            <a:solidFill>
              <a:srgbClr val="008080"/>
            </a:solidFill>
            <a:prstDash val="solid"/>
          </a:ln>
        </p:spPr>
      </p:sp>
      <p:sp>
        <p:nvSpPr>
          <p:cNvPr id="21" name="Text 19"/>
          <p:cNvSpPr/>
          <p:nvPr/>
        </p:nvSpPr>
        <p:spPr>
          <a:xfrm>
            <a:off x="548640" y="5074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188720" y="5029200"/>
            <a:ext cx="4846320" cy="594360"/>
          </a:xfrm>
          <a:prstGeom prst="rect">
            <a:avLst/>
          </a:prstGeom>
          <a:noFill/>
          <a:ln/>
        </p:spPr>
        <p:txBody>
          <a:bodyPr wrap="square" lIns="0" tIns="0" rIns="0" bIns="0" rtlCol="0" anchor="ctr"/>
          <a:lstStyle/>
          <a:p>
            <a:pPr indent="0" marL="0">
              <a:buNone/>
            </a:pPr>
            <a:r>
              <a:rPr lang="en-US" sz="1500" b="1" dirty="0">
                <a:solidFill>
                  <a:srgbClr val="003366"/>
                </a:solidFill>
                <a:latin typeface="Calibri" pitchFamily="34" charset="0"/>
                <a:ea typeface="Calibri" pitchFamily="34" charset="-122"/>
                <a:cs typeface="Calibri" pitchFamily="34" charset="-120"/>
              </a:rPr>
              <a:t>Radiologist  </a:t>
            </a:r>
            <a:r>
              <a:rPr lang="en-US" sz="1500" dirty="0">
                <a:solidFill>
                  <a:srgbClr val="1F2937"/>
                </a:solidFill>
                <a:latin typeface="Calibri" pitchFamily="34" charset="0"/>
                <a:ea typeface="Calibri" pitchFamily="34" charset="-122"/>
                <a:cs typeface="Calibri" pitchFamily="34" charset="-120"/>
              </a:rPr>
              <a:t>Save draft → show draft log → download PDF</a:t>
            </a:r>
            <a:endParaRPr lang="en-US" sz="1500" dirty="0"/>
          </a:p>
        </p:txBody>
      </p:sp>
      <p:sp>
        <p:nvSpPr>
          <p:cNvPr id="23" name="Shape 21"/>
          <p:cNvSpPr/>
          <p:nvPr/>
        </p:nvSpPr>
        <p:spPr>
          <a:xfrm>
            <a:off x="6217920" y="1234440"/>
            <a:ext cx="502920" cy="502920"/>
          </a:xfrm>
          <a:prstGeom prst="ellipse">
            <a:avLst/>
          </a:prstGeom>
          <a:solidFill>
            <a:srgbClr val="008080"/>
          </a:solidFill>
          <a:ln w="12700">
            <a:solidFill>
              <a:srgbClr val="008080"/>
            </a:solidFill>
            <a:prstDash val="solid"/>
          </a:ln>
        </p:spPr>
      </p:sp>
      <p:sp>
        <p:nvSpPr>
          <p:cNvPr id="24" name="Text 22"/>
          <p:cNvSpPr/>
          <p:nvPr/>
        </p:nvSpPr>
        <p:spPr>
          <a:xfrm>
            <a:off x="6217920" y="12344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5" name="Text 23"/>
          <p:cNvSpPr/>
          <p:nvPr/>
        </p:nvSpPr>
        <p:spPr>
          <a:xfrm>
            <a:off x="6858000" y="1188720"/>
            <a:ext cx="4846320" cy="594360"/>
          </a:xfrm>
          <a:prstGeom prst="rect">
            <a:avLst/>
          </a:prstGeom>
          <a:noFill/>
          <a:ln/>
        </p:spPr>
        <p:txBody>
          <a:bodyPr wrap="square" lIns="0" tIns="0" rIns="0" bIns="0" rtlCol="0" anchor="ctr"/>
          <a:lstStyle/>
          <a:p>
            <a:pPr indent="0" marL="0">
              <a:buNone/>
            </a:pPr>
            <a:r>
              <a:rPr lang="en-US" sz="1500" b="1" dirty="0">
                <a:solidFill>
                  <a:srgbClr val="003366"/>
                </a:solidFill>
                <a:latin typeface="Calibri" pitchFamily="34" charset="0"/>
                <a:ea typeface="Calibri" pitchFamily="34" charset="-122"/>
                <a:cs typeface="Calibri" pitchFamily="34" charset="-120"/>
              </a:rPr>
              <a:t>Radiologist  </a:t>
            </a:r>
            <a:r>
              <a:rPr lang="en-US" sz="1500" dirty="0">
                <a:solidFill>
                  <a:srgbClr val="1F2937"/>
                </a:solidFill>
                <a:latin typeface="Calibri" pitchFamily="34" charset="0"/>
                <a:ea typeface="Calibri" pitchFamily="34" charset="-122"/>
                <a:cs typeface="Calibri" pitchFamily="34" charset="-120"/>
              </a:rPr>
              <a:t>Endorse → open chart → Azure writes Findings</a:t>
            </a:r>
            <a:endParaRPr lang="en-US" sz="1500" dirty="0"/>
          </a:p>
        </p:txBody>
      </p:sp>
      <p:sp>
        <p:nvSpPr>
          <p:cNvPr id="26" name="Shape 24"/>
          <p:cNvSpPr/>
          <p:nvPr/>
        </p:nvSpPr>
        <p:spPr>
          <a:xfrm>
            <a:off x="6217920" y="2194560"/>
            <a:ext cx="502920" cy="502920"/>
          </a:xfrm>
          <a:prstGeom prst="ellipse">
            <a:avLst/>
          </a:prstGeom>
          <a:solidFill>
            <a:srgbClr val="008080"/>
          </a:solidFill>
          <a:ln w="12700">
            <a:solidFill>
              <a:srgbClr val="008080"/>
            </a:solidFill>
            <a:prstDash val="solid"/>
          </a:ln>
        </p:spPr>
      </p:sp>
      <p:sp>
        <p:nvSpPr>
          <p:cNvPr id="27" name="Text 25"/>
          <p:cNvSpPr/>
          <p:nvPr/>
        </p:nvSpPr>
        <p:spPr>
          <a:xfrm>
            <a:off x="6217920" y="21945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8" name="Text 26"/>
          <p:cNvSpPr/>
          <p:nvPr/>
        </p:nvSpPr>
        <p:spPr>
          <a:xfrm>
            <a:off x="6858000" y="2148840"/>
            <a:ext cx="4846320" cy="594360"/>
          </a:xfrm>
          <a:prstGeom prst="rect">
            <a:avLst/>
          </a:prstGeom>
          <a:noFill/>
          <a:ln/>
        </p:spPr>
        <p:txBody>
          <a:bodyPr wrap="square" lIns="0" tIns="0" rIns="0" bIns="0" rtlCol="0" anchor="ctr"/>
          <a:lstStyle/>
          <a:p>
            <a:pPr indent="0" marL="0">
              <a:buNone/>
            </a:pPr>
            <a:r>
              <a:rPr lang="en-US" sz="1500" b="1" dirty="0">
                <a:solidFill>
                  <a:srgbClr val="003366"/>
                </a:solidFill>
                <a:latin typeface="Calibri" pitchFamily="34" charset="0"/>
                <a:ea typeface="Calibri" pitchFamily="34" charset="-122"/>
                <a:cs typeface="Calibri" pitchFamily="34" charset="-120"/>
              </a:rPr>
              <a:t>Any role  </a:t>
            </a:r>
            <a:r>
              <a:rPr lang="en-US" sz="1500" dirty="0">
                <a:solidFill>
                  <a:srgbClr val="1F2937"/>
                </a:solidFill>
                <a:latin typeface="Calibri" pitchFamily="34" charset="0"/>
                <a:ea typeface="Calibri" pitchFamily="34" charset="-122"/>
                <a:cs typeface="Calibri" pitchFamily="34" charset="-120"/>
              </a:rPr>
              <a:t>Open Sepsis monitor + Care notes windows; record a vital and a note</a:t>
            </a:r>
            <a:endParaRPr lang="en-US" sz="1500" dirty="0"/>
          </a:p>
        </p:txBody>
      </p:sp>
      <p:sp>
        <p:nvSpPr>
          <p:cNvPr id="29" name="Shape 27"/>
          <p:cNvSpPr/>
          <p:nvPr/>
        </p:nvSpPr>
        <p:spPr>
          <a:xfrm>
            <a:off x="6217920" y="3154680"/>
            <a:ext cx="502920" cy="502920"/>
          </a:xfrm>
          <a:prstGeom prst="ellipse">
            <a:avLst/>
          </a:prstGeom>
          <a:solidFill>
            <a:srgbClr val="008080"/>
          </a:solidFill>
          <a:ln w="12700">
            <a:solidFill>
              <a:srgbClr val="008080"/>
            </a:solidFill>
            <a:prstDash val="solid"/>
          </a:ln>
        </p:spPr>
      </p:sp>
      <p:sp>
        <p:nvSpPr>
          <p:cNvPr id="30" name="Text 28"/>
          <p:cNvSpPr/>
          <p:nvPr/>
        </p:nvSpPr>
        <p:spPr>
          <a:xfrm>
            <a:off x="6217920" y="31546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1" name="Text 29"/>
          <p:cNvSpPr/>
          <p:nvPr/>
        </p:nvSpPr>
        <p:spPr>
          <a:xfrm>
            <a:off x="6858000" y="3108960"/>
            <a:ext cx="4846320" cy="594360"/>
          </a:xfrm>
          <a:prstGeom prst="rect">
            <a:avLst/>
          </a:prstGeom>
          <a:noFill/>
          <a:ln/>
        </p:spPr>
        <p:txBody>
          <a:bodyPr wrap="square" lIns="0" tIns="0" rIns="0" bIns="0" rtlCol="0" anchor="ctr"/>
          <a:lstStyle/>
          <a:p>
            <a:pPr indent="0" marL="0">
              <a:buNone/>
            </a:pPr>
            <a:r>
              <a:rPr lang="en-US" sz="1500" b="1" dirty="0">
                <a:solidFill>
                  <a:srgbClr val="003366"/>
                </a:solidFill>
                <a:latin typeface="Calibri" pitchFamily="34" charset="0"/>
                <a:ea typeface="Calibri" pitchFamily="34" charset="-122"/>
                <a:cs typeface="Calibri" pitchFamily="34" charset="-120"/>
              </a:rPr>
              <a:t>Doctor  </a:t>
            </a:r>
            <a:r>
              <a:rPr lang="en-US" sz="1500" dirty="0">
                <a:solidFill>
                  <a:srgbClr val="1F2937"/>
                </a:solidFill>
                <a:latin typeface="Calibri" pitchFamily="34" charset="0"/>
                <a:ea typeface="Calibri" pitchFamily="34" charset="-122"/>
                <a:cs typeface="Calibri" pitchFamily="34" charset="-120"/>
              </a:rPr>
              <a:t>Read the clean endorsed report; export Word / PDF</a:t>
            </a:r>
            <a:endParaRPr lang="en-US" sz="1500" dirty="0"/>
          </a:p>
        </p:txBody>
      </p:sp>
      <p:sp>
        <p:nvSpPr>
          <p:cNvPr id="32" name="Shape 30"/>
          <p:cNvSpPr/>
          <p:nvPr/>
        </p:nvSpPr>
        <p:spPr>
          <a:xfrm>
            <a:off x="6217920" y="4114800"/>
            <a:ext cx="502920" cy="502920"/>
          </a:xfrm>
          <a:prstGeom prst="ellipse">
            <a:avLst/>
          </a:prstGeom>
          <a:solidFill>
            <a:srgbClr val="008080"/>
          </a:solidFill>
          <a:ln w="12700">
            <a:solidFill>
              <a:srgbClr val="008080"/>
            </a:solidFill>
            <a:prstDash val="solid"/>
          </a:ln>
        </p:spPr>
      </p:sp>
      <p:sp>
        <p:nvSpPr>
          <p:cNvPr id="33" name="Text 31"/>
          <p:cNvSpPr/>
          <p:nvPr/>
        </p:nvSpPr>
        <p:spPr>
          <a:xfrm>
            <a:off x="6217920" y="4114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34" name="Text 32"/>
          <p:cNvSpPr/>
          <p:nvPr/>
        </p:nvSpPr>
        <p:spPr>
          <a:xfrm>
            <a:off x="6858000" y="4069080"/>
            <a:ext cx="4846320" cy="594360"/>
          </a:xfrm>
          <a:prstGeom prst="rect">
            <a:avLst/>
          </a:prstGeom>
          <a:noFill/>
          <a:ln/>
        </p:spPr>
        <p:txBody>
          <a:bodyPr wrap="square" lIns="0" tIns="0" rIns="0" bIns="0" rtlCol="0" anchor="ctr"/>
          <a:lstStyle/>
          <a:p>
            <a:pPr indent="0" marL="0">
              <a:buNone/>
            </a:pPr>
            <a:r>
              <a:rPr lang="en-US" sz="1500" b="1" dirty="0">
                <a:solidFill>
                  <a:srgbClr val="003366"/>
                </a:solidFill>
                <a:latin typeface="Calibri" pitchFamily="34" charset="0"/>
                <a:ea typeface="Calibri" pitchFamily="34" charset="-122"/>
                <a:cs typeface="Calibri" pitchFamily="34" charset="-120"/>
              </a:rPr>
              <a:t>Admin  </a:t>
            </a:r>
            <a:r>
              <a:rPr lang="en-US" sz="1500" dirty="0">
                <a:solidFill>
                  <a:srgbClr val="1F2937"/>
                </a:solidFill>
                <a:latin typeface="Calibri" pitchFamily="34" charset="0"/>
                <a:ea typeface="Calibri" pitchFamily="34" charset="-122"/>
                <a:cs typeface="Calibri" pitchFamily="34" charset="-120"/>
              </a:rPr>
              <a:t>Users, audit trail, share link</a:t>
            </a:r>
            <a:endParaRPr lang="en-US" sz="1500" dirty="0"/>
          </a:p>
        </p:txBody>
      </p:sp>
      <p:sp>
        <p:nvSpPr>
          <p:cNvPr id="35" name="Shape 33"/>
          <p:cNvSpPr/>
          <p:nvPr/>
        </p:nvSpPr>
        <p:spPr>
          <a:xfrm>
            <a:off x="6217920" y="5120640"/>
            <a:ext cx="5440680" cy="1051560"/>
          </a:xfrm>
          <a:prstGeom prst="rect">
            <a:avLst/>
          </a:prstGeom>
          <a:solidFill>
            <a:srgbClr val="FEF4E6"/>
          </a:solidFill>
          <a:ln w="12700">
            <a:solidFill>
              <a:srgbClr val="FEF4E6"/>
            </a:solidFill>
            <a:prstDash val="solid"/>
          </a:ln>
        </p:spPr>
      </p:sp>
      <p:sp>
        <p:nvSpPr>
          <p:cNvPr id="36" name="Text 34"/>
          <p:cNvSpPr/>
          <p:nvPr/>
        </p:nvSpPr>
        <p:spPr>
          <a:xfrm>
            <a:off x="6355080" y="5120640"/>
            <a:ext cx="5212080" cy="1051560"/>
          </a:xfrm>
          <a:prstGeom prst="rect">
            <a:avLst/>
          </a:prstGeom>
          <a:noFill/>
          <a:ln/>
        </p:spPr>
        <p:txBody>
          <a:bodyPr wrap="square" lIns="0" tIns="0" rIns="0" bIns="0" rtlCol="0" anchor="ctr"/>
          <a:lstStyle/>
          <a:p>
            <a:pPr indent="0" marL="0">
              <a:buNone/>
            </a:pPr>
            <a:r>
              <a:rPr lang="en-US" sz="1250" dirty="0">
                <a:solidFill>
                  <a:srgbClr val="B54708"/>
                </a:solidFill>
                <a:latin typeface="Calibri" pitchFamily="34" charset="0"/>
                <a:ea typeface="Calibri" pitchFamily="34" charset="-122"/>
                <a:cs typeface="Calibri" pitchFamily="34" charset="-120"/>
              </a:rPr>
              <a:t>Before the session: start backend, Vite and start_server.sh; check /api/health (mongo up) and :8001/health; wait for the model to load.</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66"/>
          </a:solidFill>
          <a:ln w="12700">
            <a:solidFill>
              <a:srgbClr val="003366"/>
            </a:solidFill>
            <a:prstDash val="solid"/>
          </a:ln>
        </p:spPr>
      </p:sp>
      <p:sp>
        <p:nvSpPr>
          <p:cNvPr id="3" name="Text 1"/>
          <p:cNvSpPr/>
          <p:nvPr/>
        </p:nvSpPr>
        <p:spPr>
          <a:xfrm>
            <a:off x="731520" y="1828800"/>
            <a:ext cx="10698480"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4" name="Text 2"/>
          <p:cNvSpPr/>
          <p:nvPr/>
        </p:nvSpPr>
        <p:spPr>
          <a:xfrm>
            <a:off x="731520" y="2880360"/>
            <a:ext cx="10698480" cy="548640"/>
          </a:xfrm>
          <a:prstGeom prst="rect">
            <a:avLst/>
          </a:prstGeom>
          <a:noFill/>
          <a:ln/>
        </p:spPr>
        <p:txBody>
          <a:bodyPr wrap="square" lIns="0" tIns="0" rIns="0" bIns="0" rtlCol="0" anchor="ctr"/>
          <a:lstStyle/>
          <a:p>
            <a:pPr indent="0" marL="0">
              <a:buNone/>
            </a:pPr>
            <a:r>
              <a:rPr lang="en-US" sz="2600" dirty="0">
                <a:solidFill>
                  <a:srgbClr val="DCE6F0"/>
                </a:solidFill>
                <a:latin typeface="Calibri" pitchFamily="34" charset="0"/>
                <a:ea typeface="Calibri" pitchFamily="34" charset="-122"/>
                <a:cs typeface="Calibri" pitchFamily="34" charset="-120"/>
              </a:rPr>
              <a:t>Questions &amp; discussion</a:t>
            </a:r>
            <a:endParaRPr lang="en-US" sz="2600" dirty="0"/>
          </a:p>
        </p:txBody>
      </p:sp>
      <p:sp>
        <p:nvSpPr>
          <p:cNvPr id="5" name="Shape 3"/>
          <p:cNvSpPr/>
          <p:nvPr/>
        </p:nvSpPr>
        <p:spPr>
          <a:xfrm>
            <a:off x="731520" y="3749040"/>
            <a:ext cx="1097280" cy="54864"/>
          </a:xfrm>
          <a:prstGeom prst="rect">
            <a:avLst/>
          </a:prstGeom>
          <a:solidFill>
            <a:srgbClr val="008080"/>
          </a:solidFill>
          <a:ln w="12700">
            <a:solidFill>
              <a:srgbClr val="008080"/>
            </a:solidFill>
            <a:prstDash val="solid"/>
          </a:ln>
        </p:spPr>
      </p:sp>
      <p:sp>
        <p:nvSpPr>
          <p:cNvPr id="6" name="Text 4"/>
          <p:cNvSpPr/>
          <p:nvPr/>
        </p:nvSpPr>
        <p:spPr>
          <a:xfrm>
            <a:off x="731520" y="4023360"/>
            <a:ext cx="10515600" cy="822960"/>
          </a:xfrm>
          <a:prstGeom prst="rect">
            <a:avLst/>
          </a:prstGeom>
          <a:noFill/>
          <a:ln/>
        </p:spPr>
        <p:txBody>
          <a:bodyPr wrap="square" lIns="0" tIns="0" rIns="0" bIns="0" rtlCol="0" anchor="ctr"/>
          <a:lstStyle/>
          <a:p>
            <a:pPr indent="0" marL="0">
              <a:buNone/>
            </a:pPr>
            <a:r>
              <a:rPr lang="en-US" sz="1700" b="1" dirty="0">
                <a:solidFill>
                  <a:srgbClr val="B8C7D9"/>
                </a:solidFill>
                <a:latin typeface="Calibri" pitchFamily="34" charset="0"/>
                <a:ea typeface="Calibri" pitchFamily="34" charset="-122"/>
                <a:cs typeface="Calibri" pitchFamily="34" charset="-120"/>
              </a:rPr>
              <a:t>RadAssist AI</a:t>
            </a:r>
            <a:endParaRPr lang="en-US" sz="1700" dirty="0"/>
          </a:p>
          <a:p>
            <a:pPr indent="0" marL="0">
              <a:buNone/>
            </a:pPr>
            <a:r>
              <a:rPr lang="en-US" sz="1700" dirty="0">
                <a:solidFill>
                  <a:srgbClr val="B8C7D9"/>
                </a:solidFill>
                <a:latin typeface="Calibri" pitchFamily="34" charset="0"/>
                <a:ea typeface="Calibri" pitchFamily="34" charset="-122"/>
                <a:cs typeface="Calibri" pitchFamily="34" charset="-120"/>
              </a:rPr>
              <a:t>AI drafts. The radiologist decides. The ward sees only what was signed.</a:t>
            </a:r>
            <a:endParaRPr lang="en-US" sz="1700" dirty="0"/>
          </a:p>
        </p:txBody>
      </p:sp>
      <p:sp>
        <p:nvSpPr>
          <p:cNvPr id="7" name="Text 5"/>
          <p:cNvSpPr/>
          <p:nvPr/>
        </p:nvSpPr>
        <p:spPr>
          <a:xfrm>
            <a:off x="731520" y="6035040"/>
            <a:ext cx="10515600" cy="365760"/>
          </a:xfrm>
          <a:prstGeom prst="rect">
            <a:avLst/>
          </a:prstGeom>
          <a:noFill/>
          <a:ln/>
        </p:spPr>
        <p:txBody>
          <a:bodyPr wrap="square" lIns="0" tIns="0" rIns="0" bIns="0" rtlCol="0" anchor="ctr"/>
          <a:lstStyle/>
          <a:p>
            <a:pPr indent="0" marL="0">
              <a:buNone/>
            </a:pPr>
            <a:r>
              <a:rPr lang="en-US" sz="1300" dirty="0">
                <a:solidFill>
                  <a:srgbClr val="9CC9C9"/>
                </a:solidFill>
                <a:latin typeface="Calibri" pitchFamily="34" charset="0"/>
                <a:ea typeface="Calibri" pitchFamily="34" charset="-122"/>
                <a:cs typeface="Calibri" pitchFamily="34" charset="-120"/>
              </a:rPr>
              <a:t>PANG Ho Yiu · 23226609 · HKBU Computer Science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HKBU Computer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RadAssist AI — System Presentation</dc:title>
  <dc:subject>PptxGenJS Presentation</dc:subject>
  <dc:creator>PANG Ho Yiu</dc:creator>
  <cp:lastModifiedBy>PANG Ho Yiu</cp:lastModifiedBy>
  <cp:revision>1</cp:revision>
  <dcterms:created xsi:type="dcterms:W3CDTF">2026-10-22T04:27:54Z</dcterms:created>
  <dcterms:modified xsi:type="dcterms:W3CDTF">2026-10-22T04:27:54Z</dcterms:modified>
</cp:coreProperties>
</file>